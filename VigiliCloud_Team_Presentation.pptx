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15" autoAdjust="0"/>
  </p:normalViewPr>
  <p:slideViewPr>
    <p:cSldViewPr snapToGrid="0" snapToObjects="1">
      <p:cViewPr>
        <p:scale>
          <a:sx n="75" d="100"/>
          <a:sy n="75" d="100"/>
        </p:scale>
        <p:origin x="1914" y="678"/>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318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OPENING (2 min)</a:t>
            </a:r>
          </a:p>
          <a:p>
            <a:endParaRPr/>
          </a:p>
          <a:p>
            <a:r>
              <a:t>Good [morning/afternoon] everyone. Today I'm walking you through VigiliCloud — a product I've built from scratch that makes AWS security compliance accessible for startups, consultants, and MSPs.</a:t>
            </a:r>
          </a:p>
          <a:p>
            <a:endParaRPr/>
          </a:p>
          <a:p>
            <a:r>
              <a:t>Open with the pain point:</a:t>
            </a:r>
          </a:p>
          <a:p>
            <a:r>
              <a:t>"How long does a proper AWS security audit normally take? Typically 2–3 days of a senior engineer's time, followed by a report that's outdated the moment you send it."</a:t>
            </a:r>
          </a:p>
          <a:p>
            <a:endParaRPr/>
          </a:p>
          <a:p>
            <a:r>
              <a:t>VigiliCloud flips that: you connect your AWS account, hit 'Run Scan', and within 2 minutes you have a full findings report with exact CLI commands and Terraform code to fix every issue. On top of that, Claude AI gives you an executive summary you can hand to a CTO or compliance officer.</a:t>
            </a:r>
          </a:p>
          <a:p>
            <a:endParaRPr/>
          </a:p>
          <a:p>
            <a:r>
              <a:t>Let me walk you through the whole product — architecture, features, business model, and where this is headed.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THE PROBLEM (2 min)</a:t>
            </a:r>
          </a:p>
          <a:p>
            <a:endParaRPr/>
          </a:p>
          <a:p>
            <a:r>
              <a:t>Let's talk about who needs compliance scanning and why it's painful today.</a:t>
            </a:r>
          </a:p>
          <a:p>
            <a:endParaRPr/>
          </a:p>
          <a:p>
            <a:r>
              <a:t>The typical startup or consulting firm doing an AWS security review faces five brutal realities:</a:t>
            </a:r>
          </a:p>
          <a:p>
            <a:endParaRPr/>
          </a:p>
          <a:p>
            <a:r>
              <a:t>1. TIME: A thorough manual audit — checking IAM, S3, EC2, RDS, CloudTrail, KMS, VPCs — takes a senior engineer 2 to 3 full days. That's expensive time pulled away from product work.</a:t>
            </a:r>
          </a:p>
          <a:p>
            <a:endParaRPr/>
          </a:p>
          <a:p>
            <a:r>
              <a:t>2. COST: If you outsource it, expect $5,000 to $20,000 per audit. And you need it quarterly for SOC2 compliance.</a:t>
            </a:r>
          </a:p>
          <a:p>
            <a:endParaRPr/>
          </a:p>
          <a:p>
            <a:r>
              <a:t>3. STALENESS: The PDF you get is already outdated. A dev merges code that opens an S3 bucket two hours after the report is sent, and you have no idea.</a:t>
            </a:r>
          </a:p>
          <a:p>
            <a:endParaRPr/>
          </a:p>
          <a:p>
            <a:r>
              <a:t>4. NO FIX GUIDANCE: Tools like AWS Config tell you there's a problem. They don't tell you which AWS Console page to go to, which CLI command to run, or what the Terraform block should look like.</a:t>
            </a:r>
          </a:p>
          <a:p>
            <a:endParaRPr/>
          </a:p>
          <a:p>
            <a:r>
              <a:t>5. ENTERPRISE-ONLY PRICING: The good tools (Lacework, Orca, Wiz) are priced at $50,000+/year, built for 500+ person security teams. A 10-person startup is completely underserved.</a:t>
            </a:r>
          </a:p>
          <a:p>
            <a:endParaRPr/>
          </a:p>
          <a:p>
            <a:r>
              <a:t>This is the gap VigiliCloud fills.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WHAT IS VIGICLOUD (2 min)</a:t>
            </a:r>
          </a:p>
          <a:p>
            <a:endParaRPr/>
          </a:p>
          <a:p>
            <a:r>
              <a:t>VigiliCloud is a B2B SaaS that does one thing extremely well: it scans your AWS environment for security misconfigurations and tells you exactly how to fix them.</a:t>
            </a:r>
          </a:p>
          <a:p>
            <a:endParaRPr/>
          </a:p>
          <a:p>
            <a:r>
              <a:t>The flow is simple:</a:t>
            </a:r>
          </a:p>
          <a:p>
            <a:r>
              <a:t>1. You create a read-only IAM role in your AWS account (we provide a CloudFormation template — one click).</a:t>
            </a:r>
          </a:p>
          <a:p>
            <a:r>
              <a:t>2. You paste the Role ARN into VigiliCloud.</a:t>
            </a:r>
          </a:p>
          <a:p>
            <a:r>
              <a:t>3. You hit "Run Scan."</a:t>
            </a:r>
          </a:p>
          <a:p>
            <a:r>
              <a:t>4. In about 2 minutes, you see a full findings report broken down by service, severity, and affected resource.</a:t>
            </a:r>
          </a:p>
          <a:p>
            <a:r>
              <a:t>5. Each finding has a plain-English description, the AWS Console path to fix it, a CLI command, and Terraform code.</a:t>
            </a:r>
          </a:p>
          <a:p>
            <a:r>
              <a:t>6. If you want an executive summary to send to your board or auditor, one click generates an AI analysis using Claude.</a:t>
            </a:r>
          </a:p>
          <a:p>
            <a:endParaRPr/>
          </a:p>
          <a:p>
            <a:r>
              <a:t>We serve four audiences:</a:t>
            </a:r>
          </a:p>
          <a:p>
            <a:r>
              <a:t>- AWS consultants who need to audit client accounts faster</a:t>
            </a:r>
          </a:p>
          <a:p>
            <a:r>
              <a:t>- Startup CTOs preparing for SOC2</a:t>
            </a:r>
          </a:p>
          <a:p>
            <a:r>
              <a:t>- DevOps teams who want continuous posture monitoring</a:t>
            </a:r>
          </a:p>
          <a:p>
            <a:r>
              <a:t>- MSPs who want to sell compliance scanning as a service</a:t>
            </a:r>
          </a:p>
          <a:p>
            <a:endParaRPr/>
          </a:p>
          <a:p>
            <a:r>
              <a:t>No agents to install, no full-access keys ever stored, no weeks of onboarding.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HOW IT WORKS (3 min)</a:t>
            </a:r>
          </a:p>
          <a:p>
            <a:endParaRPr/>
          </a:p>
          <a:p>
            <a:r>
              <a:t>Let me walk through the technical flow:</a:t>
            </a:r>
          </a:p>
          <a:p>
            <a:endParaRPr/>
          </a:p>
          <a:p>
            <a:r>
              <a:t>STEP 1 — Connect AWS:</a:t>
            </a:r>
          </a:p>
          <a:p>
            <a:r>
              <a:t>The customer creates an IAM role in their AWS account using our one-click CloudFormation template. The role has read-only permissions only (no write access ever). They paste the Role ARN into VigiliCloud. We never store AWS keys — every scan uses STS AssumeRole with a fresh set of temporary credentials that expire in 1 hour.</a:t>
            </a:r>
          </a:p>
          <a:p>
            <a:endParaRPr/>
          </a:p>
          <a:p>
            <a:r>
              <a:t>STEP 2 — Trigger Scan:</a:t>
            </a:r>
          </a:p>
          <a:p>
            <a:r>
              <a:t>The user clicks "Run Scan" in the dashboard. Alternatively, Pro and MSP customers can trigger scans via our REST API from a CI/CD pipeline, or have scans run automatically on a daily schedule.</a:t>
            </a:r>
          </a:p>
          <a:p>
            <a:endParaRPr/>
          </a:p>
          <a:p>
            <a:r>
              <a:t>STEP 3 — 10 Checks Run in Parallel:</a:t>
            </a:r>
          </a:p>
          <a:p>
            <a:r>
              <a:t>Our worker module (Python + boto3) runs all 10 compliance checks. Each check queries AWS APIs — S3 for bucket ACLs, IAM for user policies and MFA status, EC2 for security group rules and EBS encryption, RDS for database encryption, CloudTrail for logging status, VPC for flow logs, KMS for key rotation. The whole scan completes in about 2 minutes.</a:t>
            </a:r>
          </a:p>
          <a:p>
            <a:endParaRPr/>
          </a:p>
          <a:p>
            <a:r>
              <a:t>STEP 4 — Findings with Fix Guidance:</a:t>
            </a:r>
          </a:p>
          <a:p>
            <a:r>
              <a:t>Every finding comes with the exact resource ID, severity (CRITICAL/HIGH/MEDIUM/LOW), evidence (the raw AWS API response), and three fix methods: the AWS Console path step by step, a copy-paste CLI command, and Terraform/CDK code.</a:t>
            </a:r>
          </a:p>
          <a:p>
            <a:endParaRPr/>
          </a:p>
          <a:p>
            <a:r>
              <a:t>STEP 5 — AI Summary:</a:t>
            </a:r>
          </a:p>
          <a:p>
            <a:r>
              <a:t>One click generates an executive summary via Claude Haiku. This is written in plain English — no AWS jargon — suitable for a CTO, board member, or SOC2 auditor.</a:t>
            </a:r>
          </a:p>
          <a:p>
            <a:endParaRPr/>
          </a:p>
          <a:p>
            <a:r>
              <a:t>Key trust points: no agents, no stored credentials, temporary session tokens only.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THE 10 CHECKS (2 min)</a:t>
            </a:r>
          </a:p>
          <a:p>
            <a:endParaRPr/>
          </a:p>
          <a:p>
            <a:r>
              <a:t>We implement 10 checks mapped to the CIS AWS Foundations Benchmark v1.4. This is the industry-standard framework accepted by SOC2 Type II auditors, ISO 27001 certification bodies, and PCI DSS QSAs.</a:t>
            </a:r>
          </a:p>
          <a:p>
            <a:endParaRPr/>
          </a:p>
          <a:p>
            <a:r>
              <a:t>The four CRITICAL checks are the ones that cause breaches:</a:t>
            </a:r>
          </a:p>
          <a:p>
            <a:r>
              <a:t>- S3 public access: The #1 cause of data breaches in the cloud. A misconfigured bucket makes your data visible to anyone on the internet.</a:t>
            </a:r>
          </a:p>
          <a:p>
            <a:r>
              <a:t>- IAM root access keys: AWS explicitly says never to create these. If your root account has programmatic access keys, an attacker with those keys has God-mode access to your entire AWS account.</a:t>
            </a:r>
          </a:p>
          <a:p>
            <a:r>
              <a:t>- IAM admin permissions: Over-permissioned roles are the second most common breach vector.</a:t>
            </a:r>
          </a:p>
          <a:p>
            <a:r>
              <a:t>- MFA enforcement: Without MFA, a stolen password = full account takeover.</a:t>
            </a:r>
          </a:p>
          <a:p>
            <a:endParaRPr/>
          </a:p>
          <a:p>
            <a:r>
              <a:t>HIGH checks cover network and database exposure. MEDIUM checks cover logging, forensics, and key management — these don't cause immediate breaches but are critical for compliance evidence and incident response.</a:t>
            </a:r>
          </a:p>
          <a:p>
            <a:endParaRPr/>
          </a:p>
          <a:p>
            <a:r>
              <a:t>Each check uses the official AWS boto3 SDK — no undocumented APIs, no screen scraping. The results are defensible in a SOC2 audit.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6 — TECH STACK (2 min)</a:t>
            </a:r>
          </a:p>
          <a:p>
            <a:endParaRPr dirty="0"/>
          </a:p>
          <a:p>
            <a:r>
              <a:rPr dirty="0"/>
              <a:t>Let me walk through the five layers:</a:t>
            </a:r>
          </a:p>
          <a:p>
            <a:endParaRPr dirty="0"/>
          </a:p>
          <a:p>
            <a:r>
              <a:rPr dirty="0"/>
              <a:t>FRONTEND: Next.js 16 with React 19 and TypeScript. Dark theme with emerald accents — Apple-inspired design language with SF Pro fonts. Tailwind CSS 4 for styling. Deployed on Render with auto-deploy from the main branch.</a:t>
            </a:r>
          </a:p>
          <a:p>
            <a:endParaRPr dirty="0"/>
          </a:p>
          <a:p>
            <a:r>
              <a:rPr dirty="0"/>
              <a:t>BACKEND: </a:t>
            </a:r>
            <a:r>
              <a:rPr dirty="0" err="1"/>
              <a:t>FastAPI</a:t>
            </a:r>
            <a:r>
              <a:rPr dirty="0"/>
              <a:t> in Python 3.12. Structured as a monolith with 8 dedicated routers — auth, scans, accounts, billing, fix guidance, integrations, approvals, developer API, and MSP. Session-cookie authentication with 12-hour TTL. Per-IP rate limiting on all sensitive endpoints.</a:t>
            </a:r>
          </a:p>
          <a:p>
            <a:endParaRPr dirty="0"/>
          </a:p>
          <a:p>
            <a:r>
              <a:rPr dirty="0"/>
              <a:t>WORKER ENGINE: The compliance scanning logic lives in a separate worker module. The backend spawns a Python subprocess that runs all 10 check modules using boto3. Results are returned as JSON and saved to the database. The worker uses temporary STS credentials injected as environment variables — these expire in 1 hour.</a:t>
            </a:r>
          </a:p>
          <a:p>
            <a:endParaRPr dirty="0"/>
          </a:p>
          <a:p>
            <a:r>
              <a:rPr dirty="0"/>
              <a:t>DATABASE: PostgreSQL on Render in production, SQLite as a local dev fallback. Schema is auto-created on startup via </a:t>
            </a:r>
            <a:r>
              <a:rPr dirty="0" err="1"/>
              <a:t>init_db</a:t>
            </a:r>
            <a:r>
              <a:rPr dirty="0"/>
              <a:t>(). The database stores users, sessions, connected accounts, scans, findings, actions, approvals, API keys, and billing events.</a:t>
            </a:r>
          </a:p>
          <a:p>
            <a:endParaRPr dirty="0"/>
          </a:p>
          <a:p>
            <a:r>
              <a:rPr dirty="0"/>
              <a:t>AI LAYER: Anthropic Claude Haiku via the official Python SDK. One endpoint — POST /scans/{id}/ai-analysis — sends the findings to Claude and returns an executive summary and remediation priority list.</a:t>
            </a:r>
          </a:p>
          <a:p>
            <a:endParaRPr dirty="0"/>
          </a:p>
          <a:p>
            <a:r>
              <a:rPr dirty="0"/>
              <a:t>Everything is hosted on Render's free tier currently. The database expires in June 2026 and needs an upgrade — that's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KEY FEATURES (3 min)</a:t>
            </a:r>
          </a:p>
          <a:p>
            <a:endParaRPr/>
          </a:p>
          <a:p>
            <a:r>
              <a:t>Let me highlight eight features that differentiate VigiliCloud from generic security scanners:</a:t>
            </a:r>
          </a:p>
          <a:p>
            <a:endParaRPr/>
          </a:p>
          <a:p>
            <a:r>
              <a:t>FIX GUIDANCE: This is our biggest differentiator. Every single finding comes with four fix methods — you click on a finding and see: the exact AWS Console page to navigate to, a CLI command you can copy-paste into your terminal, a Terraform resource block, and a CDK snippet. No Googling required.</a:t>
            </a:r>
          </a:p>
          <a:p>
            <a:endParaRPr/>
          </a:p>
          <a:p>
            <a:r>
              <a:t>DRIFT MONITORING: After your second scan, VigiliCloud automatically compares to the previous one. You see which issues are new (something got misconfigured since last scan), which are remediated (you fixed it — great!), and which are unchanged (still an open risk). This is critical for ongoing compliance, not just point-in-time audits.</a:t>
            </a:r>
          </a:p>
          <a:p>
            <a:endParaRPr/>
          </a:p>
          <a:p>
            <a:r>
              <a:t>AI ANALYSIS: One button. Claude Haiku reads your findings and writes a 3-4 paragraph executive summary explaining the risk in business terms — what data could be exposed, what regulatory frameworks this affects, and which three things to fix first. Perfect for a board update or an auditor call.</a:t>
            </a:r>
          </a:p>
          <a:p>
            <a:endParaRPr/>
          </a:p>
          <a:p>
            <a:r>
              <a:t>EVIDENCE EXPORTS: SOC2 auditors need documented evidence. We export CSV, JSON, and PDF with all findings, timestamps, and account metadata. Accepted by auditors as compliance evidence.</a:t>
            </a:r>
          </a:p>
          <a:p>
            <a:endParaRPr/>
          </a:p>
          <a:p>
            <a:r>
              <a:t>INTEGRATIONS: If your team uses Jira, we can auto-create tickets for every critical finding. If you use GitHub, we can draft a PR with the remediation code. Slack alerts fire when a new critical issue appears. Your CI/CD pipeline can trigger scans via our REST API.</a:t>
            </a:r>
          </a:p>
          <a:p>
            <a:endParaRPr/>
          </a:p>
          <a:p>
            <a:r>
              <a:t>APPROVAL WORKFLOWS: For teams where one engineer shouldn't unilaterally make infrastructure changes, we have an approval gate. Someone requests a change, the designated approver reviews and approves (or rejects), and everything is logged in an immutable audit trail.</a:t>
            </a:r>
          </a:p>
          <a:p>
            <a:endParaRPr/>
          </a:p>
          <a:p>
            <a:r>
              <a:t>MSP MODE: For agencies and consultancies managing multiple clients, you can group accounts by client, see aggregate risk scores, and bulk-scan all clients at once.</a:t>
            </a:r>
          </a:p>
          <a:p>
            <a:endParaRPr/>
          </a:p>
          <a:p>
            <a:r>
              <a:t>SCHEDULED SCANS: Set and forget. Daily scans run automatically; you get an email the moment a new critical finding appears.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AI ANALYSIS (2 min)</a:t>
            </a:r>
          </a:p>
          <a:p>
            <a:endParaRPr/>
          </a:p>
          <a:p>
            <a:r>
              <a:t>The AI analysis feature is a Pro and MSP plan feature that turns raw technical findings into something a non-technical stakeholder can read and act on.</a:t>
            </a:r>
          </a:p>
          <a:p>
            <a:endParaRPr/>
          </a:p>
          <a:p>
            <a:r>
              <a:t>Here's the technical flow:</a:t>
            </a:r>
          </a:p>
          <a:p>
            <a:r>
              <a:t>1. After a scan completes and findings are saved to the database, the user sees an "AI Analysis" button in the scan detail view.</a:t>
            </a:r>
          </a:p>
          <a:p>
            <a:r>
              <a:t>2. Clicking it triggers POST /scans/{scan_id}/ai-analysis on the backend.</a:t>
            </a:r>
          </a:p>
          <a:p>
            <a:r>
              <a:t>3. The backend queries all findings for that scan, builds a structured prompt that includes the check names, severities, affected resource IDs, and evidence snippets.</a:t>
            </a:r>
          </a:p>
          <a:p>
            <a:r>
              <a:t>4. This prompt is sent to Claude Haiku via the Anthropic Python SDK.</a:t>
            </a:r>
          </a:p>
          <a:p>
            <a:r>
              <a:t>5. The response — a 3-4 paragraph executive summary — is returned to the UI and displayed.</a:t>
            </a:r>
          </a:p>
          <a:p>
            <a:endParaRPr/>
          </a:p>
          <a:p>
            <a:r>
              <a:t>The summary contains four things:</a:t>
            </a:r>
          </a:p>
          <a:p>
            <a:r>
              <a:t>- An executive overview: "Your AWS environment has 3 critical misconfigurations that could expose customer data to the public internet."</a:t>
            </a:r>
          </a:p>
          <a:p>
            <a:r>
              <a:t>- Top 3 priorities: The specific findings to fix first, ranked by blast radius and ease of exploitation.</a:t>
            </a:r>
          </a:p>
          <a:p>
            <a:r>
              <a:t>- Compliance impact: "Findings #1 and #3 directly violate SOC2 CC6.1 and ISO 27001 A.9.4.2."</a:t>
            </a:r>
          </a:p>
          <a:p>
            <a:r>
              <a:t>- A suggested timeline: which fixes are 10-minute quick wins, which require a change window.</a:t>
            </a:r>
          </a:p>
          <a:p>
            <a:endParaRPr/>
          </a:p>
          <a:p>
            <a:r>
              <a:t>This replaces the 2–3 hour task of manually writing a security report. Consultants love this feature — they scan a client account and email the AI-generated summary to the client the same day.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PRICING (2 min)</a:t>
            </a:r>
          </a:p>
          <a:p>
            <a:endParaRPr/>
          </a:p>
          <a:p>
            <a:r>
              <a:t>Pricing is flat-rate per month — not per-finding, not per-resource, not per-check. This is intentional: compliance teams shouldn't be penalized for having larger AWS environments.</a:t>
            </a:r>
          </a:p>
          <a:p>
            <a:endParaRPr/>
          </a:p>
          <a:p>
            <a:r>
              <a:t>FREE TIER:</a:t>
            </a:r>
          </a:p>
          <a:p>
            <a:r>
              <a:t>1 AWS account, all 10 checks, fix guidance. Drift monitoring. Enough for a solo developer to assess their own account. No credit card required, 2-week trial.</a:t>
            </a:r>
          </a:p>
          <a:p>
            <a:endParaRPr/>
          </a:p>
          <a:p>
            <a:r>
              <a:t>STARTER — ₹8,299/month (about $99):</a:t>
            </a:r>
          </a:p>
          <a:p>
            <a:r>
              <a:t>Up to 3 AWS accounts. Adds CSV/JSON/PDF exports for SOC2 evidence. Good for a small startup with a dev, staging, and prod account.</a:t>
            </a:r>
          </a:p>
          <a:p>
            <a:endParaRPr/>
          </a:p>
          <a:p>
            <a:r>
              <a:t>PRO — ₹24,999/month (about $299):</a:t>
            </a:r>
          </a:p>
          <a:p>
            <a:r>
              <a:t>Up to 10 accounts. Unlocks AI analysis, scheduled daily scans, approval workflows, Jira/GitHub sync, and Slack alerts. This is the most popular tier — it's for growing engineering teams who need continuous compliance, not just quarterly audits.</a:t>
            </a:r>
          </a:p>
          <a:p>
            <a:endParaRPr/>
          </a:p>
          <a:p>
            <a:r>
              <a:t>MSP — ₹83,499+/month (about $999+):</a:t>
            </a:r>
          </a:p>
          <a:p>
            <a:r>
              <a:t>Unlimited accounts, multi-tenant grouping, priority support. Built for agencies and MSPs who are managing 20–200 client AWS accounts and need to generate per-client reports.</a:t>
            </a:r>
          </a:p>
          <a:p>
            <a:endParaRPr/>
          </a:p>
          <a:p>
            <a:r>
              <a:t>All plans include a 2-week free trial with no credit card required. Payments go through Razorpay (we're India-first, priced in INR).</a:t>
            </a:r>
          </a:p>
          <a:p>
            <a:endParaRPr/>
          </a:p>
          <a:p>
            <a:r>
              <a:t>The key competitive angle: Lacework and Orca start at $50,000/year for enterprise contracts. We're at $1,200/year for a full-featured Starter plan.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COMPETITIVE POSITIONING (2 min)</a:t>
            </a:r>
          </a:p>
          <a:p>
            <a:endParaRPr/>
          </a:p>
          <a:p>
            <a:r>
              <a:t>Let me put VigiliCloud in context against the alternatives:</a:t>
            </a:r>
          </a:p>
          <a:p>
            <a:endParaRPr/>
          </a:p>
          <a:p>
            <a:r>
              <a:t>AWS SECURITY HUB: The native AWS tool. Setting it up correctly takes weeks (you need to enable it in every region, set up aggregation, configure findings standards). It gives you a findings list but no fix guidance. Pricing is per-finding per region — expensive and unpredictable. No AI analysis.</a:t>
            </a:r>
          </a:p>
          <a:p>
            <a:endParaRPr/>
          </a:p>
          <a:p>
            <a:r>
              <a:t>PROWLER: The open-source CLI tool. Great if you're a security engineer comfortable with the command line. But there's no UI, no scheduled scans, no reporting, no billing integration. You have to run it manually and parse JSON output yourself. Not suitable for non-technical users or selling to clients.</a:t>
            </a:r>
          </a:p>
          <a:p>
            <a:endParaRPr/>
          </a:p>
          <a:p>
            <a:r>
              <a:t>LACEWORK / ORCA / WIZ: The enterprise tools. Excellent products. But they start at $50,000/year, require a 2-4 week POC process, and are built for 500+ person security teams. A 15-person startup can't buy them, and even if they could, the onboarding alone would take longer than their SOC2 audit.</a:t>
            </a:r>
          </a:p>
          <a:p>
            <a:endParaRPr/>
          </a:p>
          <a:p>
            <a:r>
              <a:t>MANUAL AUDIT: The status quo. 2-3 days of a senior engineer's time, or $5,000–$20,000 for a consultant. The resulting PDF is immediately outdated. No automated re-scanning.</a:t>
            </a:r>
          </a:p>
          <a:p>
            <a:endParaRPr/>
          </a:p>
          <a:p>
            <a:r>
              <a:t>VigiliCloud's three advantages that no competitor at our price point can match:</a:t>
            </a:r>
          </a:p>
          <a:p>
            <a:r>
              <a:t>1. Fix Guidance: We don't just say "this is broken" — we say "here's the exact CLI command to fix it."</a:t>
            </a:r>
          </a:p>
          <a:p>
            <a:r>
              <a:t>2. AI Summaries: Claude generates board-ready reports instantly. No other SMB compliance tool has AI-generated analysis.</a:t>
            </a:r>
          </a:p>
          <a:p>
            <a:r>
              <a:t>3. 5-Minute Onboarding: One CloudFormation template, paste the Role ARN, you're scanning. No agents, no enterprise procurement.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DEPLOYMENT (1.5 min)</a:t>
            </a:r>
          </a:p>
          <a:p>
            <a:endParaRPr/>
          </a:p>
          <a:p>
            <a:r>
              <a:t>Production setup is simple and cost-effective:</a:t>
            </a:r>
          </a:p>
          <a:p>
            <a:endParaRPr/>
          </a:p>
          <a:p>
            <a:r>
              <a:t>All three components — frontend, backend, and database — run on Render.com. Auto-deploy is wired up so every push to the main branch triggers a new build. No manual deployment steps.</a:t>
            </a:r>
          </a:p>
          <a:p>
            <a:endParaRPr/>
          </a:p>
          <a:p>
            <a:r>
              <a:t>Important note: the Postgres database on Render is on the free tier and expires in June 2026. That's a known action item — we'll upgrade to a paid Render database or migrate to RDS/Supabase before the expiry.</a:t>
            </a:r>
          </a:p>
          <a:p>
            <a:endParaRPr/>
          </a:p>
          <a:p>
            <a:r>
              <a:t>For local development, a single docker-compose command spins up the full stack. The default admin account is seeded automatically on first startup.</a:t>
            </a:r>
          </a:p>
          <a:p>
            <a:endParaRPr/>
          </a:p>
          <a:p>
            <a:r>
              <a:t>The customer-side infrastructure is a single CloudFormation template in our infra/ directory. Customers run this in their AWS account to create the read-only IAM role. It's a one-click deploy from the AWS Console — takes about 3 minutes. The role only has read permissions — it cannot create, modify, or delete any AWS resources. STS session tokens expire in 1 hour.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ROADMAP (2 min)</a:t>
            </a:r>
          </a:p>
          <a:p>
            <a:endParaRPr/>
          </a:p>
          <a:p>
            <a:r>
              <a:t>PHASE 1 is everything that's live today. The core compliance platform is fully operational — scanning, findings, fix guidance, AI analysis, billing, scheduling, MSP mode, integrations. This is a complete product that customers can and do pay for.</a:t>
            </a:r>
          </a:p>
          <a:p>
            <a:endParaRPr/>
          </a:p>
          <a:p>
            <a:r>
              <a:t>PHASE 2 (second half of 2026) is multi-cloud and framework expansion. The biggest ask from consultants is Azure support — a large percentage of their clients use Azure alongside AWS. We'll add Azure CIS checks using the same architecture (different SDK, same check structure). GCP follows. We'll also add HIPAA and PCI-specific framework mappings, and SIEM integrations for customers forwarding findings to Splunk or DataDog.</a:t>
            </a:r>
          </a:p>
          <a:p>
            <a:endParaRPr/>
          </a:p>
          <a:p>
            <a:r>
              <a:t>On the infrastructure side, Phase 2 includes upgrading the database off Render's free tier (critical — expires June 2026) and splitting the backend monolith into proper FastAPI routers as it approaches 2000 lines.</a:t>
            </a:r>
          </a:p>
          <a:p>
            <a:endParaRPr/>
          </a:p>
          <a:p>
            <a:r>
              <a:t>PHASE 3 (2027 and beyond) is where it gets really interesting. The vision is an MCP Execution Engine — where Claude doesn't just analyze findings, it actually proposes and executes remediation. The flow would be: VigiliCloud detects an issue → Claude proposes a specific fix → a human approver reviews and approves it → Claude executes the fix via the AWS SDK → VigiliCloud re-scans to verify the fix worked. This is AI-powered remediation with explicit human approval gates — never auto-executing without consent.</a:t>
            </a:r>
          </a:p>
          <a:p>
            <a:endParaRPr/>
          </a:p>
          <a:p>
            <a:r>
              <a:t>The second big Phase 3 bet is a unified multi-cloud dashboard: one UI showing AWS, Azure, and GCP compliance posture side by side.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DEMO PREPARATION (prep notes, don't read aloud)</a:t>
            </a:r>
          </a:p>
          <a:p>
            <a:endParaRPr/>
          </a:p>
          <a:p>
            <a:r>
              <a:t>Before the meeting:</a:t>
            </a:r>
          </a:p>
          <a:p>
            <a:r>
              <a:t>- Have a browser tab open at app.vigilicloud.com, already signed in</a:t>
            </a:r>
          </a:p>
          <a:p>
            <a:r>
              <a:t>- Have at least one connected AWS account (or a demo account) ready</a:t>
            </a:r>
          </a:p>
          <a:p>
            <a:r>
              <a:t>- Have a previous scan already in the system (so you can show drift)</a:t>
            </a:r>
          </a:p>
          <a:p>
            <a:r>
              <a:t>- If you want to run a live scan, do a test run beforehand to know how long it takes</a:t>
            </a:r>
          </a:p>
          <a:p>
            <a:endParaRPr/>
          </a:p>
          <a:p>
            <a:r>
              <a:t>DEMO SCRIPT:</a:t>
            </a:r>
          </a:p>
          <a:p>
            <a:endParaRPr/>
          </a:p>
          <a:p>
            <a:r>
              <a:t>Step 1 — Sign In: "Let me show you the live product. This is the VigiliCloud dashboard." (Already signed in if possible)</a:t>
            </a:r>
          </a:p>
          <a:p>
            <a:endParaRPr/>
          </a:p>
          <a:p>
            <a:r>
              <a:t>Step 2 — Connected Accounts: "Here are the connected AWS accounts. Each one has a status — Active means we've successfully assumed the role and can scan it. Adding an account takes about 3 minutes using our CloudFormation template."</a:t>
            </a:r>
          </a:p>
          <a:p>
            <a:endParaRPr/>
          </a:p>
          <a:p>
            <a:r>
              <a:t>Step 3 — Run Scan: "I'll kick off a scan now. Watch the timer — it'll be done in about 2 minutes. While that runs, let me show you something else..." (switch to a completed scan)</a:t>
            </a:r>
          </a:p>
          <a:p>
            <a:endParaRPr/>
          </a:p>
          <a:p>
            <a:r>
              <a:t>Step 4 — Findings: "Here's a completed scan with findings. I'll filter to just CRITICAL. Let me click on this S3 public access finding. See this right panel? Three ways to fix it — click 'Console' for step-by-step navigation, 'CLI' for a copy-paste command, 'Terraform' for infrastructure-as-code. No more Googling."</a:t>
            </a:r>
          </a:p>
          <a:p>
            <a:endParaRPr/>
          </a:p>
          <a:p>
            <a:r>
              <a:t>Step 5 — Drift: "If I switch to the drift view, I can see what changed since the previous scan. Green means we fixed something. Red means a new issue appeared."</a:t>
            </a:r>
          </a:p>
          <a:p>
            <a:endParaRPr/>
          </a:p>
          <a:p>
            <a:r>
              <a:t>Step 6 — AI Analysis: "Here's the power of the AI integration. I click 'AI Analysis' and Claude generates this executive summary. This is written for a CTO, not an engineer. I can hand this to a client today."</a:t>
            </a:r>
          </a:p>
          <a:p>
            <a:endParaRPr/>
          </a:p>
          <a:p>
            <a:r>
              <a:t>Step 7 — Export: "One click exports a PDF. This is SOC2-accepted as evidence of your security posture at this point in time."</a:t>
            </a:r>
          </a:p>
          <a:p>
            <a:endParaRPr/>
          </a:p>
          <a:p>
            <a:r>
              <a:t>Step 8 — Settings: "For Pro users, I can show scheduled daily scans, Jira ticket creation config, and API keys for CI/CD integration."</a:t>
            </a:r>
          </a:p>
          <a:p>
            <a:endParaRPr/>
          </a:p>
          <a:p>
            <a:r>
              <a:t>"Any questions before I move to the roadmap?"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CLOSING (2 min)</a:t>
            </a:r>
          </a:p>
          <a:p>
            <a:endParaRPr/>
          </a:p>
          <a:p>
            <a:r>
              <a:t>Let me summarize:</a:t>
            </a:r>
          </a:p>
          <a:p>
            <a:endParaRPr/>
          </a:p>
          <a:p>
            <a:r>
              <a:t>VigiliCloud is a live, production SaaS product that solves a real, expensive problem for AWS teams. It replaces 2-day manual audits with 2-minute automated scans. It tells you not just WHAT is broken but exactly HOW to fix it. And it uses Claude to generate executive-quality reports in seconds.</a:t>
            </a:r>
          </a:p>
          <a:p>
            <a:endParaRPr/>
          </a:p>
          <a:p>
            <a:r>
              <a:t>Three things I want you to remember:</a:t>
            </a:r>
          </a:p>
          <a:p>
            <a:r>
              <a:t>1. This is not a proof of concept. It's deployed, it processes real AWS accounts, and it handles real payments.</a:t>
            </a:r>
          </a:p>
          <a:p>
            <a:r>
              <a:t>2. The AI integration is more than a gimmick — the executive summary feature is what consultants use to justify their engagement fees. It saves them 2–3 hours of report writing per client.</a:t>
            </a:r>
          </a:p>
          <a:p>
            <a:r>
              <a:t>3. The roadmap is ambitious but grounded. Phase 2 is multi-cloud (Azure, GCP) — the single most requested feature. Phase 3 is AI-powered remediation with human approval gates — the logical evolution of scanning + telling you how to fix → actually fixing it with your approval.</a:t>
            </a:r>
          </a:p>
          <a:p>
            <a:endParaRPr/>
          </a:p>
          <a:p>
            <a:r>
              <a:t>Immediate actions after this meeting:</a:t>
            </a:r>
          </a:p>
          <a:p>
            <a:r>
              <a:t>- Upgrade the Render database before June 3rd (critical path item)</a:t>
            </a:r>
          </a:p>
          <a:p>
            <a:r>
              <a:t>- Start the Azure SDK research for Phase 2</a:t>
            </a:r>
          </a:p>
          <a:p>
            <a:r>
              <a:t>- Prepare a seeded demo environment for investor/client demos</a:t>
            </a:r>
          </a:p>
          <a:p>
            <a:endParaRPr/>
          </a:p>
          <a:p>
            <a:r>
              <a:t>Questions?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PREP — Anticipate these questions:</a:t>
            </a:r>
          </a:p>
          <a:p>
            <a:endParaRPr/>
          </a:p>
          <a:p>
            <a:r>
              <a:t>Q: How does VigiliCloud compare to AWS Config?</a:t>
            </a:r>
          </a:p>
          <a:p>
            <a:r>
              <a:t>A: AWS Config tracks configuration changes continuously but requires complex rule setup. VigiliCloud is opinionated — we've pre-built the 10 most important checks, added fix guidance, and wrapped it in an easy UI. Think of us as 'AWS Config with a UX and a remediation guide.'</a:t>
            </a:r>
          </a:p>
          <a:p>
            <a:endParaRPr/>
          </a:p>
          <a:p>
            <a:r>
              <a:t>Q: What happens to our AWS credentials?</a:t>
            </a:r>
          </a:p>
          <a:p>
            <a:r>
              <a:t>A: We never store them. We use STS AssumeRole — your account grants our scanning role temporary access for the duration of the scan (1 hour max). After that, the credentials expire automatically. Your permanent IAM keys never leave your AWS account.</a:t>
            </a:r>
          </a:p>
          <a:p>
            <a:endParaRPr/>
          </a:p>
          <a:p>
            <a:r>
              <a:t>Q: Can we self-host VigiliCloud?</a:t>
            </a:r>
          </a:p>
          <a:p>
            <a:r>
              <a:t>A: Currently no, but the codebase is structured to support it. The docker-compose setup works for local use. We could add a self-hosted enterprise tier in Phase 2.</a:t>
            </a:r>
          </a:p>
          <a:p>
            <a:endParaRPr/>
          </a:p>
          <a:p>
            <a:r>
              <a:t>Q: How do you handle false positives?</a:t>
            </a:r>
          </a:p>
          <a:p>
            <a:r>
              <a:t>A: Users can mark a finding as "Ignored" with a note explaining why. This is logged in the audit trail and excluded from future reports unless the underlying configuration changes.</a:t>
            </a:r>
          </a:p>
          <a:p>
            <a:endParaRPr/>
          </a:p>
          <a:p>
            <a:r>
              <a:t>Q: What's the latency on the AI analysis?</a:t>
            </a:r>
          </a:p>
          <a:p>
            <a:r>
              <a:t>A: Claude Haiku is fast — typically 3-8 seconds for a scan with 50 findings. We send a structured prompt with all findings and get back a formatted summary.</a:t>
            </a:r>
          </a:p>
          <a:p>
            <a:endParaRPr/>
          </a:p>
          <a:p>
            <a:r>
              <a:t>Q: Will you add more checks?</a:t>
            </a:r>
          </a:p>
          <a:p>
            <a:r>
              <a:t>A: Yes. The architecture makes adding a new check straightforward — create a new Python module in worker/src/, register it in the runner. Phase 2 will add 20+ more checks (Azure + custom frameworks).</a:t>
            </a:r>
          </a:p>
          <a:p>
            <a:endParaRPr/>
          </a:p>
          <a:p>
            <a:r>
              <a:t>Q: What's your go-to-market?</a:t>
            </a:r>
          </a:p>
          <a:p>
            <a:r>
              <a:t>A: Initial focus on AWS consultants (word-of-mouth in consultant communities), then startup CTOs preparing for SOC2, then MSPs via the white-label route in Phase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731520"/>
            <a:ext cx="2377440" cy="502920"/>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749808"/>
            <a:ext cx="2194560" cy="438912"/>
          </a:xfrm>
          <a:prstGeom prst="rect">
            <a:avLst/>
          </a:prstGeom>
          <a:noFill/>
        </p:spPr>
        <p:txBody>
          <a:bodyPr wrap="square">
            <a:spAutoFit/>
          </a:bodyPr>
          <a:lstStyle/>
          <a:p>
            <a:pPr algn="ctr"/>
            <a:r>
              <a:rPr sz="2000" b="1" i="0">
                <a:solidFill>
                  <a:srgbClr val="FFFFFF"/>
                </a:solidFill>
              </a:rPr>
              <a:t>⚡ VigiliCloud</a:t>
            </a:r>
          </a:p>
        </p:txBody>
      </p:sp>
      <p:sp>
        <p:nvSpPr>
          <p:cNvPr id="7" name="TextBox 6"/>
          <p:cNvSpPr txBox="1"/>
          <p:nvPr/>
        </p:nvSpPr>
        <p:spPr>
          <a:xfrm>
            <a:off x="457200" y="1463040"/>
            <a:ext cx="7772400" cy="2011680"/>
          </a:xfrm>
          <a:prstGeom prst="rect">
            <a:avLst/>
          </a:prstGeom>
          <a:noFill/>
        </p:spPr>
        <p:txBody>
          <a:bodyPr wrap="square">
            <a:spAutoFit/>
          </a:bodyPr>
          <a:lstStyle/>
          <a:p>
            <a:pPr algn="l"/>
            <a:r>
              <a:rPr sz="5400" b="1" i="0">
                <a:solidFill>
                  <a:srgbClr val="FFFFFF"/>
                </a:solidFill>
              </a:rPr>
              <a:t>AWS Compliance,
Made Simple.</a:t>
            </a:r>
          </a:p>
        </p:txBody>
      </p:sp>
      <p:sp>
        <p:nvSpPr>
          <p:cNvPr id="8" name="TextBox 7"/>
          <p:cNvSpPr txBox="1"/>
          <p:nvPr/>
        </p:nvSpPr>
        <p:spPr>
          <a:xfrm>
            <a:off x="457200" y="3520440"/>
            <a:ext cx="7315200" cy="822960"/>
          </a:xfrm>
          <a:prstGeom prst="rect">
            <a:avLst/>
          </a:prstGeom>
          <a:noFill/>
        </p:spPr>
        <p:txBody>
          <a:bodyPr wrap="square">
            <a:spAutoFit/>
          </a:bodyPr>
          <a:lstStyle/>
          <a:p>
            <a:pPr algn="l"/>
            <a:r>
              <a:rPr sz="1800" b="0" i="0">
                <a:solidFill>
                  <a:srgbClr val="9999AA"/>
                </a:solidFill>
              </a:rPr>
              <a:t>Connect your AWS account → scan in 2 minutes → get AI-powered fix guidance.
No agents. No complexity. Just clarity.</a:t>
            </a:r>
          </a:p>
        </p:txBody>
      </p:sp>
      <p:sp>
        <p:nvSpPr>
          <p:cNvPr id="9" name="Rectangle 8"/>
          <p:cNvSpPr/>
          <p:nvPr/>
        </p:nvSpPr>
        <p:spPr>
          <a:xfrm>
            <a:off x="8503920" y="1188720"/>
            <a:ext cx="3200400" cy="502920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0" y="1371600"/>
            <a:ext cx="2834640" cy="594360"/>
          </a:xfrm>
          <a:prstGeom prst="rect">
            <a:avLst/>
          </a:prstGeom>
          <a:noFill/>
        </p:spPr>
        <p:txBody>
          <a:bodyPr wrap="square">
            <a:spAutoFit/>
          </a:bodyPr>
          <a:lstStyle/>
          <a:p>
            <a:pPr algn="ctr"/>
            <a:r>
              <a:rPr sz="4200" b="1" i="0">
                <a:solidFill>
                  <a:srgbClr val="10B981"/>
                </a:solidFill>
              </a:rPr>
              <a:t>10</a:t>
            </a:r>
          </a:p>
        </p:txBody>
      </p:sp>
      <p:sp>
        <p:nvSpPr>
          <p:cNvPr id="11" name="TextBox 10"/>
          <p:cNvSpPr txBox="1"/>
          <p:nvPr/>
        </p:nvSpPr>
        <p:spPr>
          <a:xfrm>
            <a:off x="8686800" y="1920240"/>
            <a:ext cx="2834640" cy="365760"/>
          </a:xfrm>
          <a:prstGeom prst="rect">
            <a:avLst/>
          </a:prstGeom>
          <a:noFill/>
        </p:spPr>
        <p:txBody>
          <a:bodyPr wrap="square">
            <a:spAutoFit/>
          </a:bodyPr>
          <a:lstStyle/>
          <a:p>
            <a:pPr algn="ctr"/>
            <a:r>
              <a:rPr sz="1200" b="0" i="0">
                <a:solidFill>
                  <a:srgbClr val="9999AA"/>
                </a:solidFill>
              </a:rPr>
              <a:t>Security Checks</a:t>
            </a:r>
          </a:p>
        </p:txBody>
      </p:sp>
      <p:sp>
        <p:nvSpPr>
          <p:cNvPr id="12" name="TextBox 11"/>
          <p:cNvSpPr txBox="1"/>
          <p:nvPr/>
        </p:nvSpPr>
        <p:spPr>
          <a:xfrm>
            <a:off x="8686800" y="2514600"/>
            <a:ext cx="2834640" cy="594360"/>
          </a:xfrm>
          <a:prstGeom prst="rect">
            <a:avLst/>
          </a:prstGeom>
          <a:noFill/>
        </p:spPr>
        <p:txBody>
          <a:bodyPr wrap="square">
            <a:spAutoFit/>
          </a:bodyPr>
          <a:lstStyle/>
          <a:p>
            <a:pPr algn="ctr"/>
            <a:r>
              <a:rPr sz="4200" b="1" i="0">
                <a:solidFill>
                  <a:srgbClr val="3B82F6"/>
                </a:solidFill>
              </a:rPr>
              <a:t>2 min</a:t>
            </a:r>
          </a:p>
        </p:txBody>
      </p:sp>
      <p:sp>
        <p:nvSpPr>
          <p:cNvPr id="13" name="TextBox 12"/>
          <p:cNvSpPr txBox="1"/>
          <p:nvPr/>
        </p:nvSpPr>
        <p:spPr>
          <a:xfrm>
            <a:off x="8686800" y="3063240"/>
            <a:ext cx="2834640" cy="365760"/>
          </a:xfrm>
          <a:prstGeom prst="rect">
            <a:avLst/>
          </a:prstGeom>
          <a:noFill/>
        </p:spPr>
        <p:txBody>
          <a:bodyPr wrap="square">
            <a:spAutoFit/>
          </a:bodyPr>
          <a:lstStyle/>
          <a:p>
            <a:pPr algn="ctr"/>
            <a:r>
              <a:rPr sz="1200" b="0" i="0">
                <a:solidFill>
                  <a:srgbClr val="9999AA"/>
                </a:solidFill>
              </a:rPr>
              <a:t>Average Scan Time</a:t>
            </a:r>
          </a:p>
        </p:txBody>
      </p:sp>
      <p:sp>
        <p:nvSpPr>
          <p:cNvPr id="14" name="TextBox 13"/>
          <p:cNvSpPr txBox="1"/>
          <p:nvPr/>
        </p:nvSpPr>
        <p:spPr>
          <a:xfrm>
            <a:off x="8686800" y="3657600"/>
            <a:ext cx="2834640" cy="594360"/>
          </a:xfrm>
          <a:prstGeom prst="rect">
            <a:avLst/>
          </a:prstGeom>
          <a:noFill/>
        </p:spPr>
        <p:txBody>
          <a:bodyPr wrap="square">
            <a:spAutoFit/>
          </a:bodyPr>
          <a:lstStyle/>
          <a:p>
            <a:pPr algn="ctr"/>
            <a:r>
              <a:rPr sz="4200" b="1" i="0">
                <a:solidFill>
                  <a:srgbClr val="F59E0B"/>
                </a:solidFill>
              </a:rPr>
              <a:t>3 plans</a:t>
            </a:r>
          </a:p>
        </p:txBody>
      </p:sp>
      <p:sp>
        <p:nvSpPr>
          <p:cNvPr id="15" name="TextBox 14"/>
          <p:cNvSpPr txBox="1"/>
          <p:nvPr/>
        </p:nvSpPr>
        <p:spPr>
          <a:xfrm>
            <a:off x="8686800" y="4206240"/>
            <a:ext cx="2834640" cy="365760"/>
          </a:xfrm>
          <a:prstGeom prst="rect">
            <a:avLst/>
          </a:prstGeom>
          <a:noFill/>
        </p:spPr>
        <p:txBody>
          <a:bodyPr wrap="square">
            <a:spAutoFit/>
          </a:bodyPr>
          <a:lstStyle/>
          <a:p>
            <a:pPr algn="ctr"/>
            <a:r>
              <a:rPr sz="1200" b="0" i="0">
                <a:solidFill>
                  <a:srgbClr val="9999AA"/>
                </a:solidFill>
              </a:rPr>
              <a:t>Starter → MSP</a:t>
            </a:r>
          </a:p>
        </p:txBody>
      </p:sp>
      <p:sp>
        <p:nvSpPr>
          <p:cNvPr id="16" name="TextBox 15"/>
          <p:cNvSpPr txBox="1"/>
          <p:nvPr/>
        </p:nvSpPr>
        <p:spPr>
          <a:xfrm>
            <a:off x="8686800" y="4800600"/>
            <a:ext cx="2834640" cy="594360"/>
          </a:xfrm>
          <a:prstGeom prst="rect">
            <a:avLst/>
          </a:prstGeom>
          <a:noFill/>
        </p:spPr>
        <p:txBody>
          <a:bodyPr wrap="square">
            <a:spAutoFit/>
          </a:bodyPr>
          <a:lstStyle/>
          <a:p>
            <a:pPr algn="ctr"/>
            <a:r>
              <a:rPr sz="4200" b="1" i="0">
                <a:solidFill>
                  <a:srgbClr val="10B981"/>
                </a:solidFill>
              </a:rPr>
              <a:t>100%</a:t>
            </a:r>
          </a:p>
        </p:txBody>
      </p:sp>
      <p:sp>
        <p:nvSpPr>
          <p:cNvPr id="17" name="TextBox 16"/>
          <p:cNvSpPr txBox="1"/>
          <p:nvPr/>
        </p:nvSpPr>
        <p:spPr>
          <a:xfrm>
            <a:off x="8686800" y="5349240"/>
            <a:ext cx="2834640" cy="365760"/>
          </a:xfrm>
          <a:prstGeom prst="rect">
            <a:avLst/>
          </a:prstGeom>
          <a:noFill/>
        </p:spPr>
        <p:txBody>
          <a:bodyPr wrap="square">
            <a:spAutoFit/>
          </a:bodyPr>
          <a:lstStyle/>
          <a:p>
            <a:pPr algn="ctr"/>
            <a:r>
              <a:rPr sz="1200" b="0" i="0">
                <a:solidFill>
                  <a:srgbClr val="9999AA"/>
                </a:solidFill>
              </a:rPr>
              <a:t>Read-Only Access</a:t>
            </a:r>
          </a:p>
        </p:txBody>
      </p:sp>
      <p:sp>
        <p:nvSpPr>
          <p:cNvPr id="18" name="TextBox 17"/>
          <p:cNvSpPr txBox="1"/>
          <p:nvPr/>
        </p:nvSpPr>
        <p:spPr>
          <a:xfrm>
            <a:off x="457200" y="6446520"/>
            <a:ext cx="9144000" cy="320040"/>
          </a:xfrm>
          <a:prstGeom prst="rect">
            <a:avLst/>
          </a:prstGeom>
          <a:noFill/>
        </p:spPr>
        <p:txBody>
          <a:bodyPr wrap="square">
            <a:spAutoFit/>
          </a:bodyPr>
          <a:lstStyle/>
          <a:p>
            <a:pPr algn="l"/>
            <a:r>
              <a:rPr sz="1100" b="0" i="0">
                <a:solidFill>
                  <a:srgbClr val="9999AA"/>
                </a:solidFill>
              </a:rPr>
              <a:t>Presented by Koppolu Leela Krishna   |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The Problem</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AWS security compliance is broken for SMBs</a:t>
            </a:r>
          </a:p>
        </p:txBody>
      </p:sp>
      <p:sp>
        <p:nvSpPr>
          <p:cNvPr id="6" name="Rectangle 5"/>
          <p:cNvSpPr/>
          <p:nvPr/>
        </p:nvSpPr>
        <p:spPr>
          <a:xfrm>
            <a:off x="320040" y="1280160"/>
            <a:ext cx="3749039" cy="2103120"/>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89888"/>
            <a:ext cx="548640" cy="502920"/>
          </a:xfrm>
          <a:prstGeom prst="rect">
            <a:avLst/>
          </a:prstGeom>
          <a:noFill/>
        </p:spPr>
        <p:txBody>
          <a:bodyPr wrap="square">
            <a:spAutoFit/>
          </a:bodyPr>
          <a:lstStyle/>
          <a:p>
            <a:pPr algn="l"/>
            <a:r>
              <a:rPr sz="2400" b="0" i="0">
                <a:solidFill>
                  <a:srgbClr val="FFFFFF"/>
                </a:solidFill>
              </a:rPr>
              <a:t>🕐</a:t>
            </a:r>
          </a:p>
        </p:txBody>
      </p:sp>
      <p:sp>
        <p:nvSpPr>
          <p:cNvPr id="8" name="TextBox 7"/>
          <p:cNvSpPr txBox="1"/>
          <p:nvPr/>
        </p:nvSpPr>
        <p:spPr>
          <a:xfrm>
            <a:off x="457200" y="1874519"/>
            <a:ext cx="3383280" cy="457200"/>
          </a:xfrm>
          <a:prstGeom prst="rect">
            <a:avLst/>
          </a:prstGeom>
          <a:noFill/>
        </p:spPr>
        <p:txBody>
          <a:bodyPr wrap="square">
            <a:spAutoFit/>
          </a:bodyPr>
          <a:lstStyle/>
          <a:p>
            <a:pPr algn="l"/>
            <a:r>
              <a:rPr sz="1600" b="1" i="0">
                <a:solidFill>
                  <a:srgbClr val="EF4444"/>
                </a:solidFill>
              </a:rPr>
              <a:t>2–3 Days</a:t>
            </a:r>
          </a:p>
        </p:txBody>
      </p:sp>
      <p:sp>
        <p:nvSpPr>
          <p:cNvPr id="9" name="TextBox 8"/>
          <p:cNvSpPr txBox="1"/>
          <p:nvPr/>
        </p:nvSpPr>
        <p:spPr>
          <a:xfrm>
            <a:off x="457200" y="2286000"/>
            <a:ext cx="3383280" cy="914400"/>
          </a:xfrm>
          <a:prstGeom prst="rect">
            <a:avLst/>
          </a:prstGeom>
          <a:noFill/>
        </p:spPr>
        <p:txBody>
          <a:bodyPr wrap="square">
            <a:spAutoFit/>
          </a:bodyPr>
          <a:lstStyle/>
          <a:p>
            <a:pPr algn="l"/>
            <a:r>
              <a:rPr sz="1200" b="0" i="0">
                <a:solidFill>
                  <a:srgbClr val="9999AA"/>
                </a:solidFill>
              </a:rPr>
              <a:t>A manual AWS security audit takes a senior engineer 2–3 full days.</a:t>
            </a:r>
          </a:p>
        </p:txBody>
      </p:sp>
      <p:sp>
        <p:nvSpPr>
          <p:cNvPr id="10" name="Rectangle 9"/>
          <p:cNvSpPr/>
          <p:nvPr/>
        </p:nvSpPr>
        <p:spPr>
          <a:xfrm>
            <a:off x="4297679" y="1280160"/>
            <a:ext cx="3749039" cy="2103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389888"/>
            <a:ext cx="548640" cy="502920"/>
          </a:xfrm>
          <a:prstGeom prst="rect">
            <a:avLst/>
          </a:prstGeom>
          <a:noFill/>
        </p:spPr>
        <p:txBody>
          <a:bodyPr wrap="square">
            <a:spAutoFit/>
          </a:bodyPr>
          <a:lstStyle/>
          <a:p>
            <a:pPr algn="l"/>
            <a:r>
              <a:rPr sz="2400" b="0" i="0">
                <a:solidFill>
                  <a:srgbClr val="FFFFFF"/>
                </a:solidFill>
              </a:rPr>
              <a:t>💸</a:t>
            </a:r>
          </a:p>
        </p:txBody>
      </p:sp>
      <p:sp>
        <p:nvSpPr>
          <p:cNvPr id="12" name="TextBox 11"/>
          <p:cNvSpPr txBox="1"/>
          <p:nvPr/>
        </p:nvSpPr>
        <p:spPr>
          <a:xfrm>
            <a:off x="4434840" y="1874519"/>
            <a:ext cx="3383280" cy="457200"/>
          </a:xfrm>
          <a:prstGeom prst="rect">
            <a:avLst/>
          </a:prstGeom>
          <a:noFill/>
        </p:spPr>
        <p:txBody>
          <a:bodyPr wrap="square">
            <a:spAutoFit/>
          </a:bodyPr>
          <a:lstStyle/>
          <a:p>
            <a:pPr algn="l"/>
            <a:r>
              <a:rPr sz="1600" b="1" i="0">
                <a:solidFill>
                  <a:srgbClr val="F59E0B"/>
                </a:solidFill>
              </a:rPr>
              <a:t>Expensive</a:t>
            </a:r>
          </a:p>
        </p:txBody>
      </p:sp>
      <p:sp>
        <p:nvSpPr>
          <p:cNvPr id="13" name="TextBox 12"/>
          <p:cNvSpPr txBox="1"/>
          <p:nvPr/>
        </p:nvSpPr>
        <p:spPr>
          <a:xfrm>
            <a:off x="4434840" y="2286000"/>
            <a:ext cx="3383280" cy="914400"/>
          </a:xfrm>
          <a:prstGeom prst="rect">
            <a:avLst/>
          </a:prstGeom>
          <a:noFill/>
        </p:spPr>
        <p:txBody>
          <a:bodyPr wrap="square">
            <a:spAutoFit/>
          </a:bodyPr>
          <a:lstStyle/>
          <a:p>
            <a:pPr algn="l"/>
            <a:r>
              <a:rPr sz="1200" b="0" i="0">
                <a:solidFill>
                  <a:srgbClr val="9999AA"/>
                </a:solidFill>
              </a:rPr>
              <a:t>Hiring a consultant costs $5,000–$20,000 per audit — unaffordable for startups.</a:t>
            </a:r>
          </a:p>
        </p:txBody>
      </p:sp>
      <p:sp>
        <p:nvSpPr>
          <p:cNvPr id="14" name="Rectangle 13"/>
          <p:cNvSpPr/>
          <p:nvPr/>
        </p:nvSpPr>
        <p:spPr>
          <a:xfrm>
            <a:off x="8275319" y="1280160"/>
            <a:ext cx="3749039" cy="2103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1389888"/>
            <a:ext cx="548640" cy="502920"/>
          </a:xfrm>
          <a:prstGeom prst="rect">
            <a:avLst/>
          </a:prstGeom>
          <a:noFill/>
        </p:spPr>
        <p:txBody>
          <a:bodyPr wrap="square">
            <a:spAutoFit/>
          </a:bodyPr>
          <a:lstStyle/>
          <a:p>
            <a:pPr algn="l"/>
            <a:r>
              <a:rPr sz="2400" b="0" i="0">
                <a:solidFill>
                  <a:srgbClr val="FFFFFF"/>
                </a:solidFill>
              </a:rPr>
              <a:t>📄</a:t>
            </a:r>
          </a:p>
        </p:txBody>
      </p:sp>
      <p:sp>
        <p:nvSpPr>
          <p:cNvPr id="16" name="TextBox 15"/>
          <p:cNvSpPr txBox="1"/>
          <p:nvPr/>
        </p:nvSpPr>
        <p:spPr>
          <a:xfrm>
            <a:off x="8412480" y="1874519"/>
            <a:ext cx="3383280" cy="457200"/>
          </a:xfrm>
          <a:prstGeom prst="rect">
            <a:avLst/>
          </a:prstGeom>
          <a:noFill/>
        </p:spPr>
        <p:txBody>
          <a:bodyPr wrap="square">
            <a:spAutoFit/>
          </a:bodyPr>
          <a:lstStyle/>
          <a:p>
            <a:pPr algn="l"/>
            <a:r>
              <a:rPr sz="1600" b="1" i="0">
                <a:solidFill>
                  <a:srgbClr val="3B82F6"/>
                </a:solidFill>
              </a:rPr>
              <a:t>Stale</a:t>
            </a:r>
          </a:p>
        </p:txBody>
      </p:sp>
      <p:sp>
        <p:nvSpPr>
          <p:cNvPr id="17" name="TextBox 16"/>
          <p:cNvSpPr txBox="1"/>
          <p:nvPr/>
        </p:nvSpPr>
        <p:spPr>
          <a:xfrm>
            <a:off x="8412480" y="2286000"/>
            <a:ext cx="3383280" cy="914400"/>
          </a:xfrm>
          <a:prstGeom prst="rect">
            <a:avLst/>
          </a:prstGeom>
          <a:noFill/>
        </p:spPr>
        <p:txBody>
          <a:bodyPr wrap="square">
            <a:spAutoFit/>
          </a:bodyPr>
          <a:lstStyle/>
          <a:p>
            <a:pPr algn="l"/>
            <a:r>
              <a:rPr sz="1200" b="0" i="0">
                <a:solidFill>
                  <a:srgbClr val="9999AA"/>
                </a:solidFill>
              </a:rPr>
              <a:t>PDF reports are outdated the moment they're sent. No re-scan, no drift tracking.</a:t>
            </a:r>
          </a:p>
        </p:txBody>
      </p:sp>
      <p:sp>
        <p:nvSpPr>
          <p:cNvPr id="18" name="Rectangle 17"/>
          <p:cNvSpPr/>
          <p:nvPr/>
        </p:nvSpPr>
        <p:spPr>
          <a:xfrm>
            <a:off x="320040" y="3611879"/>
            <a:ext cx="3749039" cy="2103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721607"/>
            <a:ext cx="548640" cy="502920"/>
          </a:xfrm>
          <a:prstGeom prst="rect">
            <a:avLst/>
          </a:prstGeom>
          <a:noFill/>
        </p:spPr>
        <p:txBody>
          <a:bodyPr wrap="square">
            <a:spAutoFit/>
          </a:bodyPr>
          <a:lstStyle/>
          <a:p>
            <a:pPr algn="l"/>
            <a:r>
              <a:rPr sz="2400" b="0" i="0">
                <a:solidFill>
                  <a:srgbClr val="FFFFFF"/>
                </a:solidFill>
              </a:rPr>
              <a:t>🔧</a:t>
            </a:r>
          </a:p>
        </p:txBody>
      </p:sp>
      <p:sp>
        <p:nvSpPr>
          <p:cNvPr id="20" name="TextBox 19"/>
          <p:cNvSpPr txBox="1"/>
          <p:nvPr/>
        </p:nvSpPr>
        <p:spPr>
          <a:xfrm>
            <a:off x="457200" y="4206240"/>
            <a:ext cx="3383280" cy="457200"/>
          </a:xfrm>
          <a:prstGeom prst="rect">
            <a:avLst/>
          </a:prstGeom>
          <a:noFill/>
        </p:spPr>
        <p:txBody>
          <a:bodyPr wrap="square">
            <a:spAutoFit/>
          </a:bodyPr>
          <a:lstStyle/>
          <a:p>
            <a:pPr algn="l"/>
            <a:r>
              <a:rPr sz="1600" b="1" i="0">
                <a:solidFill>
                  <a:srgbClr val="8B5CF6"/>
                </a:solidFill>
              </a:rPr>
              <a:t>No Fix Help</a:t>
            </a:r>
          </a:p>
        </p:txBody>
      </p:sp>
      <p:sp>
        <p:nvSpPr>
          <p:cNvPr id="21" name="TextBox 20"/>
          <p:cNvSpPr txBox="1"/>
          <p:nvPr/>
        </p:nvSpPr>
        <p:spPr>
          <a:xfrm>
            <a:off x="457200" y="4617720"/>
            <a:ext cx="3383280" cy="914400"/>
          </a:xfrm>
          <a:prstGeom prst="rect">
            <a:avLst/>
          </a:prstGeom>
          <a:noFill/>
        </p:spPr>
        <p:txBody>
          <a:bodyPr wrap="square">
            <a:spAutoFit/>
          </a:bodyPr>
          <a:lstStyle/>
          <a:p>
            <a:pPr algn="l"/>
            <a:r>
              <a:rPr sz="1200" b="0" i="0">
                <a:solidFill>
                  <a:srgbClr val="9999AA"/>
                </a:solidFill>
              </a:rPr>
              <a:t>Most tools tell you WHAT is wrong but not HOW to fix it — leaving engineers to Google for answers.</a:t>
            </a:r>
          </a:p>
        </p:txBody>
      </p:sp>
      <p:sp>
        <p:nvSpPr>
          <p:cNvPr id="22" name="Rectangle 21"/>
          <p:cNvSpPr/>
          <p:nvPr/>
        </p:nvSpPr>
        <p:spPr>
          <a:xfrm>
            <a:off x="4297679" y="3611879"/>
            <a:ext cx="3749039" cy="2103120"/>
          </a:xfrm>
          <a:prstGeom prst="rect">
            <a:avLst/>
          </a:prstGeom>
          <a:solidFill>
            <a:srgbClr val="10101A"/>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34840" y="3721607"/>
            <a:ext cx="548640" cy="502920"/>
          </a:xfrm>
          <a:prstGeom prst="rect">
            <a:avLst/>
          </a:prstGeom>
          <a:noFill/>
        </p:spPr>
        <p:txBody>
          <a:bodyPr wrap="square">
            <a:spAutoFit/>
          </a:bodyPr>
          <a:lstStyle/>
          <a:p>
            <a:pPr algn="l"/>
            <a:r>
              <a:rPr sz="2400" b="0" i="0">
                <a:solidFill>
                  <a:srgbClr val="FFFFFF"/>
                </a:solidFill>
              </a:rPr>
              <a:t>🏢</a:t>
            </a:r>
          </a:p>
        </p:txBody>
      </p:sp>
      <p:sp>
        <p:nvSpPr>
          <p:cNvPr id="24" name="TextBox 23"/>
          <p:cNvSpPr txBox="1"/>
          <p:nvPr/>
        </p:nvSpPr>
        <p:spPr>
          <a:xfrm>
            <a:off x="4434840" y="4206240"/>
            <a:ext cx="3383280" cy="457200"/>
          </a:xfrm>
          <a:prstGeom prst="rect">
            <a:avLst/>
          </a:prstGeom>
          <a:noFill/>
        </p:spPr>
        <p:txBody>
          <a:bodyPr wrap="square">
            <a:spAutoFit/>
          </a:bodyPr>
          <a:lstStyle/>
          <a:p>
            <a:pPr algn="l"/>
            <a:r>
              <a:rPr sz="1600" b="1" i="0">
                <a:solidFill>
                  <a:srgbClr val="9999AA"/>
                </a:solidFill>
              </a:rPr>
              <a:t>Enterprise-Only</a:t>
            </a:r>
          </a:p>
        </p:txBody>
      </p:sp>
      <p:sp>
        <p:nvSpPr>
          <p:cNvPr id="25" name="TextBox 24"/>
          <p:cNvSpPr txBox="1"/>
          <p:nvPr/>
        </p:nvSpPr>
        <p:spPr>
          <a:xfrm>
            <a:off x="4434840" y="4617720"/>
            <a:ext cx="3383280" cy="914400"/>
          </a:xfrm>
          <a:prstGeom prst="rect">
            <a:avLst/>
          </a:prstGeom>
          <a:noFill/>
        </p:spPr>
        <p:txBody>
          <a:bodyPr wrap="square">
            <a:spAutoFit/>
          </a:bodyPr>
          <a:lstStyle/>
          <a:p>
            <a:pPr algn="l"/>
            <a:r>
              <a:rPr sz="1200" b="0" i="0">
                <a:solidFill>
                  <a:srgbClr val="9999AA"/>
                </a:solidFill>
              </a:rPr>
              <a:t>AWS Security Hub, Lacework, Orca are priced and built for enterprises. SMBs are ignored.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What is VigiliCloud?</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One-click AWS security compliance for teams that ship fast</a:t>
            </a:r>
          </a:p>
        </p:txBody>
      </p:sp>
      <p:sp>
        <p:nvSpPr>
          <p:cNvPr id="6" name="TextBox 5"/>
          <p:cNvSpPr txBox="1"/>
          <p:nvPr/>
        </p:nvSpPr>
        <p:spPr>
          <a:xfrm>
            <a:off x="365760" y="1188720"/>
            <a:ext cx="5943600" cy="4114800"/>
          </a:xfrm>
          <a:prstGeom prst="rect">
            <a:avLst/>
          </a:prstGeom>
          <a:noFill/>
        </p:spPr>
        <p:txBody>
          <a:bodyPr wrap="square">
            <a:spAutoFit/>
          </a:bodyPr>
          <a:lstStyle/>
          <a:p>
            <a:pPr algn="l"/>
            <a:r>
              <a:rPr sz="1800" b="1">
                <a:solidFill>
                  <a:srgbClr val="FFFFFF"/>
                </a:solidFill>
              </a:rPr>
              <a:t>VigiliCloud is a SaaS platform that:</a:t>
            </a:r>
          </a:p>
          <a:p>
            <a:pPr algn="l"/>
            <a:endParaRPr sz="1800" b="1">
              <a:solidFill>
                <a:srgbClr val="FFFFFF"/>
              </a:solidFill>
            </a:endParaRPr>
          </a:p>
          <a:p>
            <a:pPr algn="l"/>
            <a:r>
              <a:rPr sz="1500" b="0">
                <a:solidFill>
                  <a:srgbClr val="9999AA"/>
                </a:solidFill>
              </a:rPr>
              <a:t>→  Connects to your AWS account via a read-only IAM role</a:t>
            </a:r>
          </a:p>
          <a:p>
            <a:pPr algn="l"/>
            <a:r>
              <a:rPr sz="1500" b="0">
                <a:solidFill>
                  <a:srgbClr val="9999AA"/>
                </a:solidFill>
              </a:rPr>
              <a:t>→  Runs 10 CIS AWS Benchmark security checks in ~2 minutes</a:t>
            </a:r>
          </a:p>
          <a:p>
            <a:pPr algn="l"/>
            <a:r>
              <a:rPr sz="1500" b="0">
                <a:solidFill>
                  <a:srgbClr val="9999AA"/>
                </a:solidFill>
              </a:rPr>
              <a:t>→  Returns prioritized findings with exact fix instructions</a:t>
            </a:r>
          </a:p>
          <a:p>
            <a:pPr algn="l"/>
            <a:r>
              <a:rPr sz="1500" b="0">
                <a:solidFill>
                  <a:srgbClr val="9999AA"/>
                </a:solidFill>
              </a:rPr>
              <a:t>→  Generates AI executive summaries (Claude Haiku)</a:t>
            </a:r>
          </a:p>
          <a:p>
            <a:pPr algn="l"/>
            <a:r>
              <a:rPr sz="1500" b="0">
                <a:solidFill>
                  <a:srgbClr val="9999AA"/>
                </a:solidFill>
              </a:rPr>
              <a:t>→  Tracks remediation, exports evidence for SOC2/ISO 27001</a:t>
            </a:r>
          </a:p>
          <a:p>
            <a:pPr algn="l"/>
            <a:r>
              <a:rPr sz="1500" b="0">
                <a:solidFill>
                  <a:srgbClr val="9999AA"/>
                </a:solidFill>
              </a:rPr>
              <a:t>→  Scales from 1 account (free) to unlimited (MSP)</a:t>
            </a:r>
          </a:p>
        </p:txBody>
      </p:sp>
      <p:sp>
        <p:nvSpPr>
          <p:cNvPr id="7" name="Rectangle 6"/>
          <p:cNvSpPr/>
          <p:nvPr/>
        </p:nvSpPr>
        <p:spPr>
          <a:xfrm>
            <a:off x="6583680" y="1188720"/>
            <a:ext cx="5212080" cy="521208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325880"/>
            <a:ext cx="4846320" cy="411480"/>
          </a:xfrm>
          <a:prstGeom prst="rect">
            <a:avLst/>
          </a:prstGeom>
          <a:noFill/>
        </p:spPr>
        <p:txBody>
          <a:bodyPr wrap="square">
            <a:spAutoFit/>
          </a:bodyPr>
          <a:lstStyle/>
          <a:p>
            <a:pPr algn="l"/>
            <a:r>
              <a:rPr sz="1600" b="1" i="0">
                <a:solidFill>
                  <a:srgbClr val="10B981"/>
                </a:solidFill>
              </a:rPr>
              <a:t>Who It's For</a:t>
            </a:r>
          </a:p>
        </p:txBody>
      </p:sp>
      <p:sp>
        <p:nvSpPr>
          <p:cNvPr id="9" name="TextBox 8"/>
          <p:cNvSpPr txBox="1"/>
          <p:nvPr/>
        </p:nvSpPr>
        <p:spPr>
          <a:xfrm>
            <a:off x="6766560" y="1737360"/>
            <a:ext cx="2926080" cy="411480"/>
          </a:xfrm>
          <a:prstGeom prst="rect">
            <a:avLst/>
          </a:prstGeom>
          <a:noFill/>
        </p:spPr>
        <p:txBody>
          <a:bodyPr wrap="square">
            <a:spAutoFit/>
          </a:bodyPr>
          <a:lstStyle/>
          <a:p>
            <a:pPr algn="l"/>
            <a:r>
              <a:rPr sz="1400" b="1" i="0">
                <a:solidFill>
                  <a:srgbClr val="FFFFFF"/>
                </a:solidFill>
              </a:rPr>
              <a:t>👨‍💼 AWS Consultants</a:t>
            </a:r>
          </a:p>
        </p:txBody>
      </p:sp>
      <p:sp>
        <p:nvSpPr>
          <p:cNvPr id="10" name="TextBox 9"/>
          <p:cNvSpPr txBox="1"/>
          <p:nvPr/>
        </p:nvSpPr>
        <p:spPr>
          <a:xfrm>
            <a:off x="6766560" y="2084831"/>
            <a:ext cx="4846320" cy="594360"/>
          </a:xfrm>
          <a:prstGeom prst="rect">
            <a:avLst/>
          </a:prstGeom>
          <a:noFill/>
        </p:spPr>
        <p:txBody>
          <a:bodyPr wrap="square">
            <a:spAutoFit/>
          </a:bodyPr>
          <a:lstStyle/>
          <a:p>
            <a:pPr algn="l"/>
            <a:r>
              <a:rPr sz="1200" b="0" i="0">
                <a:solidFill>
                  <a:srgbClr val="9999AA"/>
                </a:solidFill>
              </a:rPr>
              <a:t>Scan 5–20 client accounts
instead of 2-day manual audits</a:t>
            </a:r>
          </a:p>
        </p:txBody>
      </p:sp>
      <p:sp>
        <p:nvSpPr>
          <p:cNvPr id="11" name="TextBox 10"/>
          <p:cNvSpPr txBox="1"/>
          <p:nvPr/>
        </p:nvSpPr>
        <p:spPr>
          <a:xfrm>
            <a:off x="6766560" y="2834639"/>
            <a:ext cx="2926080" cy="411480"/>
          </a:xfrm>
          <a:prstGeom prst="rect">
            <a:avLst/>
          </a:prstGeom>
          <a:noFill/>
        </p:spPr>
        <p:txBody>
          <a:bodyPr wrap="square">
            <a:spAutoFit/>
          </a:bodyPr>
          <a:lstStyle/>
          <a:p>
            <a:pPr algn="l"/>
            <a:r>
              <a:rPr sz="1400" b="1" i="0">
                <a:solidFill>
                  <a:srgbClr val="FFFFFF"/>
                </a:solidFill>
              </a:rPr>
              <a:t>🚀 Startup CTOs</a:t>
            </a:r>
          </a:p>
        </p:txBody>
      </p:sp>
      <p:sp>
        <p:nvSpPr>
          <p:cNvPr id="12" name="TextBox 11"/>
          <p:cNvSpPr txBox="1"/>
          <p:nvPr/>
        </p:nvSpPr>
        <p:spPr>
          <a:xfrm>
            <a:off x="6766560" y="3182111"/>
            <a:ext cx="4846320" cy="594360"/>
          </a:xfrm>
          <a:prstGeom prst="rect">
            <a:avLst/>
          </a:prstGeom>
          <a:noFill/>
        </p:spPr>
        <p:txBody>
          <a:bodyPr wrap="square">
            <a:spAutoFit/>
          </a:bodyPr>
          <a:lstStyle/>
          <a:p>
            <a:pPr algn="l"/>
            <a:r>
              <a:rPr sz="1200" b="0" i="0">
                <a:solidFill>
                  <a:srgbClr val="9999AA"/>
                </a:solidFill>
              </a:rPr>
              <a:t>Pass SOC2 with automated
evidence collection</a:t>
            </a:r>
          </a:p>
        </p:txBody>
      </p:sp>
      <p:sp>
        <p:nvSpPr>
          <p:cNvPr id="13" name="TextBox 12"/>
          <p:cNvSpPr txBox="1"/>
          <p:nvPr/>
        </p:nvSpPr>
        <p:spPr>
          <a:xfrm>
            <a:off x="6766560" y="3931920"/>
            <a:ext cx="2926080" cy="411480"/>
          </a:xfrm>
          <a:prstGeom prst="rect">
            <a:avLst/>
          </a:prstGeom>
          <a:noFill/>
        </p:spPr>
        <p:txBody>
          <a:bodyPr wrap="square">
            <a:spAutoFit/>
          </a:bodyPr>
          <a:lstStyle/>
          <a:p>
            <a:pPr algn="l"/>
            <a:r>
              <a:rPr sz="1400" b="1" i="0">
                <a:solidFill>
                  <a:srgbClr val="FFFFFF"/>
                </a:solidFill>
              </a:rPr>
              <a:t>⚙️ DevOps Leads</a:t>
            </a:r>
          </a:p>
        </p:txBody>
      </p:sp>
      <p:sp>
        <p:nvSpPr>
          <p:cNvPr id="14" name="TextBox 13"/>
          <p:cNvSpPr txBox="1"/>
          <p:nvPr/>
        </p:nvSpPr>
        <p:spPr>
          <a:xfrm>
            <a:off x="6766560" y="4279392"/>
            <a:ext cx="4846320" cy="594360"/>
          </a:xfrm>
          <a:prstGeom prst="rect">
            <a:avLst/>
          </a:prstGeom>
          <a:noFill/>
        </p:spPr>
        <p:txBody>
          <a:bodyPr wrap="square">
            <a:spAutoFit/>
          </a:bodyPr>
          <a:lstStyle/>
          <a:p>
            <a:pPr algn="l"/>
            <a:r>
              <a:rPr sz="1200" b="0" i="0">
                <a:solidFill>
                  <a:srgbClr val="9999AA"/>
                </a:solidFill>
              </a:rPr>
              <a:t>Continuous compliance
without agents or installs</a:t>
            </a:r>
          </a:p>
        </p:txBody>
      </p:sp>
      <p:sp>
        <p:nvSpPr>
          <p:cNvPr id="15" name="TextBox 14"/>
          <p:cNvSpPr txBox="1"/>
          <p:nvPr/>
        </p:nvSpPr>
        <p:spPr>
          <a:xfrm>
            <a:off x="6766560" y="5029200"/>
            <a:ext cx="2926080" cy="411480"/>
          </a:xfrm>
          <a:prstGeom prst="rect">
            <a:avLst/>
          </a:prstGeom>
          <a:noFill/>
        </p:spPr>
        <p:txBody>
          <a:bodyPr wrap="square">
            <a:spAutoFit/>
          </a:bodyPr>
          <a:lstStyle/>
          <a:p>
            <a:pPr algn="l"/>
            <a:r>
              <a:rPr sz="1400" b="1" i="0">
                <a:solidFill>
                  <a:srgbClr val="FFFFFF"/>
                </a:solidFill>
              </a:rPr>
              <a:t>🏢 MSPs &amp; Agencies</a:t>
            </a:r>
          </a:p>
        </p:txBody>
      </p:sp>
      <p:sp>
        <p:nvSpPr>
          <p:cNvPr id="16" name="TextBox 15"/>
          <p:cNvSpPr txBox="1"/>
          <p:nvPr/>
        </p:nvSpPr>
        <p:spPr>
          <a:xfrm>
            <a:off x="6766560" y="5376672"/>
            <a:ext cx="4846320" cy="594360"/>
          </a:xfrm>
          <a:prstGeom prst="rect">
            <a:avLst/>
          </a:prstGeom>
          <a:noFill/>
        </p:spPr>
        <p:txBody>
          <a:bodyPr wrap="square">
            <a:spAutoFit/>
          </a:bodyPr>
          <a:lstStyle/>
          <a:p>
            <a:pPr algn="l"/>
            <a:r>
              <a:rPr sz="1200" b="0" i="0">
                <a:solidFill>
                  <a:srgbClr val="9999AA"/>
                </a:solidFill>
              </a:rPr>
              <a:t>Multi-tenant scanning;
bill customers per account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How It Works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End-to-end in 5 steps — scan completes in ~2 minutes</a:t>
            </a:r>
          </a:p>
        </p:txBody>
      </p:sp>
      <p:sp>
        <p:nvSpPr>
          <p:cNvPr id="6" name="Rectangle 5"/>
          <p:cNvSpPr/>
          <p:nvPr/>
        </p:nvSpPr>
        <p:spPr>
          <a:xfrm>
            <a:off x="274320" y="1280160"/>
            <a:ext cx="2194560" cy="4389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417320"/>
            <a:ext cx="640080" cy="640080"/>
          </a:xfrm>
          <a:prstGeom prst="rect">
            <a:avLst/>
          </a:prstGeom>
          <a:noFill/>
        </p:spPr>
        <p:txBody>
          <a:bodyPr wrap="square">
            <a:spAutoFit/>
          </a:bodyPr>
          <a:lstStyle/>
          <a:p>
            <a:pPr algn="ctr"/>
            <a:r>
              <a:rPr sz="3200" b="1" i="0">
                <a:solidFill>
                  <a:srgbClr val="10B981"/>
                </a:solidFill>
              </a:rPr>
              <a:t>1</a:t>
            </a:r>
          </a:p>
        </p:txBody>
      </p:sp>
      <p:sp>
        <p:nvSpPr>
          <p:cNvPr id="8" name="TextBox 7"/>
          <p:cNvSpPr txBox="1"/>
          <p:nvPr/>
        </p:nvSpPr>
        <p:spPr>
          <a:xfrm>
            <a:off x="365760" y="2103120"/>
            <a:ext cx="2011680" cy="548640"/>
          </a:xfrm>
          <a:prstGeom prst="rect">
            <a:avLst/>
          </a:prstGeom>
          <a:noFill/>
        </p:spPr>
        <p:txBody>
          <a:bodyPr wrap="square">
            <a:spAutoFit/>
          </a:bodyPr>
          <a:lstStyle/>
          <a:p>
            <a:pPr algn="ctr"/>
            <a:r>
              <a:rPr sz="1500" b="1" i="0">
                <a:solidFill>
                  <a:srgbClr val="FFFFFF"/>
                </a:solidFill>
              </a:rPr>
              <a:t>Connect AWS</a:t>
            </a:r>
          </a:p>
        </p:txBody>
      </p:sp>
      <p:sp>
        <p:nvSpPr>
          <p:cNvPr id="9" name="TextBox 8"/>
          <p:cNvSpPr txBox="1"/>
          <p:nvPr/>
        </p:nvSpPr>
        <p:spPr>
          <a:xfrm>
            <a:off x="365760" y="2697480"/>
            <a:ext cx="2011680" cy="2560320"/>
          </a:xfrm>
          <a:prstGeom prst="rect">
            <a:avLst/>
          </a:prstGeom>
          <a:noFill/>
        </p:spPr>
        <p:txBody>
          <a:bodyPr wrap="square">
            <a:spAutoFit/>
          </a:bodyPr>
          <a:lstStyle/>
          <a:p>
            <a:pPr algn="ctr"/>
            <a:r>
              <a:rPr sz="1200" b="0" i="0">
                <a:solidFill>
                  <a:srgbClr val="9999AA"/>
                </a:solidFill>
              </a:rPr>
              <a:t>Paste your IAM Role ARN
(read-only, STS AssumeRole)</a:t>
            </a:r>
          </a:p>
        </p:txBody>
      </p:sp>
      <p:sp>
        <p:nvSpPr>
          <p:cNvPr id="10" name="Rectangle 9"/>
          <p:cNvSpPr/>
          <p:nvPr/>
        </p:nvSpPr>
        <p:spPr>
          <a:xfrm>
            <a:off x="2377440" y="1280160"/>
            <a:ext cx="2194560" cy="4389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1417320"/>
            <a:ext cx="640080" cy="640080"/>
          </a:xfrm>
          <a:prstGeom prst="rect">
            <a:avLst/>
          </a:prstGeom>
          <a:noFill/>
        </p:spPr>
        <p:txBody>
          <a:bodyPr wrap="square">
            <a:spAutoFit/>
          </a:bodyPr>
          <a:lstStyle/>
          <a:p>
            <a:pPr algn="ctr"/>
            <a:r>
              <a:rPr sz="3200" b="1" i="0">
                <a:solidFill>
                  <a:srgbClr val="3B82F6"/>
                </a:solidFill>
              </a:rPr>
              <a:t>2</a:t>
            </a:r>
          </a:p>
        </p:txBody>
      </p:sp>
      <p:sp>
        <p:nvSpPr>
          <p:cNvPr id="12" name="TextBox 11"/>
          <p:cNvSpPr txBox="1"/>
          <p:nvPr/>
        </p:nvSpPr>
        <p:spPr>
          <a:xfrm>
            <a:off x="2468880" y="2103120"/>
            <a:ext cx="2011680" cy="548640"/>
          </a:xfrm>
          <a:prstGeom prst="rect">
            <a:avLst/>
          </a:prstGeom>
          <a:noFill/>
        </p:spPr>
        <p:txBody>
          <a:bodyPr wrap="square">
            <a:spAutoFit/>
          </a:bodyPr>
          <a:lstStyle/>
          <a:p>
            <a:pPr algn="ctr"/>
            <a:r>
              <a:rPr sz="1500" b="1" i="0">
                <a:solidFill>
                  <a:srgbClr val="FFFFFF"/>
                </a:solidFill>
              </a:rPr>
              <a:t>Trigger Scan</a:t>
            </a:r>
          </a:p>
        </p:txBody>
      </p:sp>
      <p:sp>
        <p:nvSpPr>
          <p:cNvPr id="13" name="TextBox 12"/>
          <p:cNvSpPr txBox="1"/>
          <p:nvPr/>
        </p:nvSpPr>
        <p:spPr>
          <a:xfrm>
            <a:off x="2468880" y="2697480"/>
            <a:ext cx="2011680" cy="2560320"/>
          </a:xfrm>
          <a:prstGeom prst="rect">
            <a:avLst/>
          </a:prstGeom>
          <a:noFill/>
        </p:spPr>
        <p:txBody>
          <a:bodyPr wrap="square">
            <a:spAutoFit/>
          </a:bodyPr>
          <a:lstStyle/>
          <a:p>
            <a:pPr algn="ctr"/>
            <a:r>
              <a:rPr sz="1200" b="0" i="0">
                <a:solidFill>
                  <a:srgbClr val="9999AA"/>
                </a:solidFill>
              </a:rPr>
              <a:t>Click 'Run Scan' in the UI
or call the REST API</a:t>
            </a:r>
          </a:p>
        </p:txBody>
      </p:sp>
      <p:sp>
        <p:nvSpPr>
          <p:cNvPr id="14" name="Rectangle 13"/>
          <p:cNvSpPr/>
          <p:nvPr/>
        </p:nvSpPr>
        <p:spPr>
          <a:xfrm>
            <a:off x="4480560" y="1280160"/>
            <a:ext cx="2194560" cy="4389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0" y="1417320"/>
            <a:ext cx="640080" cy="640080"/>
          </a:xfrm>
          <a:prstGeom prst="rect">
            <a:avLst/>
          </a:prstGeom>
          <a:noFill/>
        </p:spPr>
        <p:txBody>
          <a:bodyPr wrap="square">
            <a:spAutoFit/>
          </a:bodyPr>
          <a:lstStyle/>
          <a:p>
            <a:pPr algn="ctr"/>
            <a:r>
              <a:rPr sz="3200" b="1" i="0">
                <a:solidFill>
                  <a:srgbClr val="F59E0B"/>
                </a:solidFill>
              </a:rPr>
              <a:t>3</a:t>
            </a:r>
          </a:p>
        </p:txBody>
      </p:sp>
      <p:sp>
        <p:nvSpPr>
          <p:cNvPr id="16" name="TextBox 15"/>
          <p:cNvSpPr txBox="1"/>
          <p:nvPr/>
        </p:nvSpPr>
        <p:spPr>
          <a:xfrm>
            <a:off x="4572000" y="2103120"/>
            <a:ext cx="2011680" cy="548640"/>
          </a:xfrm>
          <a:prstGeom prst="rect">
            <a:avLst/>
          </a:prstGeom>
          <a:noFill/>
        </p:spPr>
        <p:txBody>
          <a:bodyPr wrap="square">
            <a:spAutoFit/>
          </a:bodyPr>
          <a:lstStyle/>
          <a:p>
            <a:pPr algn="ctr"/>
            <a:r>
              <a:rPr sz="1500" b="1" i="0">
                <a:solidFill>
                  <a:srgbClr val="FFFFFF"/>
                </a:solidFill>
              </a:rPr>
              <a:t>10 Checks Run</a:t>
            </a:r>
          </a:p>
        </p:txBody>
      </p:sp>
      <p:sp>
        <p:nvSpPr>
          <p:cNvPr id="17" name="TextBox 16"/>
          <p:cNvSpPr txBox="1"/>
          <p:nvPr/>
        </p:nvSpPr>
        <p:spPr>
          <a:xfrm>
            <a:off x="4572000" y="2697480"/>
            <a:ext cx="2011680" cy="2560320"/>
          </a:xfrm>
          <a:prstGeom prst="rect">
            <a:avLst/>
          </a:prstGeom>
          <a:noFill/>
        </p:spPr>
        <p:txBody>
          <a:bodyPr wrap="square">
            <a:spAutoFit/>
          </a:bodyPr>
          <a:lstStyle/>
          <a:p>
            <a:pPr algn="ctr"/>
            <a:r>
              <a:rPr sz="1200" b="0" i="0">
                <a:solidFill>
                  <a:srgbClr val="9999AA"/>
                </a:solidFill>
              </a:rPr>
              <a:t>boto3 calls across
S3, IAM, EC2, RDS,
CloudTrail, KMS, VPC</a:t>
            </a:r>
          </a:p>
        </p:txBody>
      </p:sp>
      <p:sp>
        <p:nvSpPr>
          <p:cNvPr id="18" name="Rectangle 17"/>
          <p:cNvSpPr/>
          <p:nvPr/>
        </p:nvSpPr>
        <p:spPr>
          <a:xfrm>
            <a:off x="6583680" y="1280160"/>
            <a:ext cx="2194560" cy="4389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06640" y="1417320"/>
            <a:ext cx="640080" cy="640080"/>
          </a:xfrm>
          <a:prstGeom prst="rect">
            <a:avLst/>
          </a:prstGeom>
          <a:noFill/>
        </p:spPr>
        <p:txBody>
          <a:bodyPr wrap="square">
            <a:spAutoFit/>
          </a:bodyPr>
          <a:lstStyle/>
          <a:p>
            <a:pPr algn="ctr"/>
            <a:r>
              <a:rPr sz="3200" b="1" i="0">
                <a:solidFill>
                  <a:srgbClr val="8B5CF6"/>
                </a:solidFill>
              </a:rPr>
              <a:t>4</a:t>
            </a:r>
          </a:p>
        </p:txBody>
      </p:sp>
      <p:sp>
        <p:nvSpPr>
          <p:cNvPr id="20" name="TextBox 19"/>
          <p:cNvSpPr txBox="1"/>
          <p:nvPr/>
        </p:nvSpPr>
        <p:spPr>
          <a:xfrm>
            <a:off x="6675120" y="2103120"/>
            <a:ext cx="2011680" cy="548640"/>
          </a:xfrm>
          <a:prstGeom prst="rect">
            <a:avLst/>
          </a:prstGeom>
          <a:noFill/>
        </p:spPr>
        <p:txBody>
          <a:bodyPr wrap="square">
            <a:spAutoFit/>
          </a:bodyPr>
          <a:lstStyle/>
          <a:p>
            <a:pPr algn="ctr"/>
            <a:r>
              <a:rPr sz="1500" b="1" i="0">
                <a:solidFill>
                  <a:srgbClr val="FFFFFF"/>
                </a:solidFill>
              </a:rPr>
              <a:t>Findings + Fixes</a:t>
            </a:r>
          </a:p>
        </p:txBody>
      </p:sp>
      <p:sp>
        <p:nvSpPr>
          <p:cNvPr id="21" name="TextBox 20"/>
          <p:cNvSpPr txBox="1"/>
          <p:nvPr/>
        </p:nvSpPr>
        <p:spPr>
          <a:xfrm>
            <a:off x="6675120" y="2697480"/>
            <a:ext cx="2011680" cy="2560320"/>
          </a:xfrm>
          <a:prstGeom prst="rect">
            <a:avLst/>
          </a:prstGeom>
          <a:noFill/>
        </p:spPr>
        <p:txBody>
          <a:bodyPr wrap="square">
            <a:spAutoFit/>
          </a:bodyPr>
          <a:lstStyle/>
          <a:p>
            <a:pPr algn="ctr"/>
            <a:r>
              <a:rPr sz="1200" b="0" i="0">
                <a:solidFill>
                  <a:srgbClr val="9999AA"/>
                </a:solidFill>
              </a:rPr>
              <a:t>Each issue: severity label,
afected resource, CLI command,
Terraform code</a:t>
            </a:r>
          </a:p>
        </p:txBody>
      </p:sp>
      <p:sp>
        <p:nvSpPr>
          <p:cNvPr id="22" name="Rectangle 21"/>
          <p:cNvSpPr/>
          <p:nvPr/>
        </p:nvSpPr>
        <p:spPr>
          <a:xfrm>
            <a:off x="8686800" y="1280160"/>
            <a:ext cx="2194560" cy="4389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0" y="1417320"/>
            <a:ext cx="640080" cy="640080"/>
          </a:xfrm>
          <a:prstGeom prst="rect">
            <a:avLst/>
          </a:prstGeom>
          <a:noFill/>
        </p:spPr>
        <p:txBody>
          <a:bodyPr wrap="square">
            <a:spAutoFit/>
          </a:bodyPr>
          <a:lstStyle/>
          <a:p>
            <a:pPr algn="ctr"/>
            <a:r>
              <a:rPr sz="3200" b="1" i="0">
                <a:solidFill>
                  <a:srgbClr val="10B981"/>
                </a:solidFill>
              </a:rPr>
              <a:t>5</a:t>
            </a:r>
          </a:p>
        </p:txBody>
      </p:sp>
      <p:sp>
        <p:nvSpPr>
          <p:cNvPr id="24" name="TextBox 23"/>
          <p:cNvSpPr txBox="1"/>
          <p:nvPr/>
        </p:nvSpPr>
        <p:spPr>
          <a:xfrm>
            <a:off x="8778240" y="2103120"/>
            <a:ext cx="2011680" cy="548640"/>
          </a:xfrm>
          <a:prstGeom prst="rect">
            <a:avLst/>
          </a:prstGeom>
          <a:noFill/>
        </p:spPr>
        <p:txBody>
          <a:bodyPr wrap="square">
            <a:spAutoFit/>
          </a:bodyPr>
          <a:lstStyle/>
          <a:p>
            <a:pPr algn="ctr"/>
            <a:r>
              <a:rPr sz="1500" b="1" i="0">
                <a:solidFill>
                  <a:srgbClr val="FFFFFF"/>
                </a:solidFill>
              </a:rPr>
              <a:t>AI Summary</a:t>
            </a:r>
          </a:p>
        </p:txBody>
      </p:sp>
      <p:sp>
        <p:nvSpPr>
          <p:cNvPr id="25" name="TextBox 24"/>
          <p:cNvSpPr txBox="1"/>
          <p:nvPr/>
        </p:nvSpPr>
        <p:spPr>
          <a:xfrm>
            <a:off x="8778240" y="2697480"/>
            <a:ext cx="2011680" cy="2560320"/>
          </a:xfrm>
          <a:prstGeom prst="rect">
            <a:avLst/>
          </a:prstGeom>
          <a:noFill/>
        </p:spPr>
        <p:txBody>
          <a:bodyPr wrap="square">
            <a:spAutoFit/>
          </a:bodyPr>
          <a:lstStyle/>
          <a:p>
            <a:pPr algn="ctr"/>
            <a:r>
              <a:rPr sz="1200" b="0" i="0">
                <a:solidFill>
                  <a:srgbClr val="9999AA"/>
                </a:solidFill>
              </a:rPr>
              <a:t>Claude Haiku writes
executive summary +
prioritized action plan</a:t>
            </a:r>
          </a:p>
        </p:txBody>
      </p:sp>
      <p:sp>
        <p:nvSpPr>
          <p:cNvPr id="26" name="TextBox 25"/>
          <p:cNvSpPr txBox="1"/>
          <p:nvPr/>
        </p:nvSpPr>
        <p:spPr>
          <a:xfrm>
            <a:off x="2514600" y="3200400"/>
            <a:ext cx="365760" cy="457200"/>
          </a:xfrm>
          <a:prstGeom prst="rect">
            <a:avLst/>
          </a:prstGeom>
          <a:noFill/>
        </p:spPr>
        <p:txBody>
          <a:bodyPr wrap="square">
            <a:spAutoFit/>
          </a:bodyPr>
          <a:lstStyle/>
          <a:p>
            <a:pPr algn="ctr"/>
            <a:r>
              <a:rPr sz="2200" b="0" i="0">
                <a:solidFill>
                  <a:srgbClr val="10B981"/>
                </a:solidFill>
              </a:rPr>
              <a:t>→</a:t>
            </a:r>
          </a:p>
        </p:txBody>
      </p:sp>
      <p:sp>
        <p:nvSpPr>
          <p:cNvPr id="27" name="TextBox 26"/>
          <p:cNvSpPr txBox="1"/>
          <p:nvPr/>
        </p:nvSpPr>
        <p:spPr>
          <a:xfrm>
            <a:off x="4617720" y="3200400"/>
            <a:ext cx="365760" cy="457200"/>
          </a:xfrm>
          <a:prstGeom prst="rect">
            <a:avLst/>
          </a:prstGeom>
          <a:noFill/>
        </p:spPr>
        <p:txBody>
          <a:bodyPr wrap="square">
            <a:spAutoFit/>
          </a:bodyPr>
          <a:lstStyle/>
          <a:p>
            <a:pPr algn="ctr"/>
            <a:r>
              <a:rPr sz="2200" b="0" i="0">
                <a:solidFill>
                  <a:srgbClr val="10B981"/>
                </a:solidFill>
              </a:rPr>
              <a:t>→</a:t>
            </a:r>
          </a:p>
        </p:txBody>
      </p:sp>
      <p:sp>
        <p:nvSpPr>
          <p:cNvPr id="28" name="TextBox 27"/>
          <p:cNvSpPr txBox="1"/>
          <p:nvPr/>
        </p:nvSpPr>
        <p:spPr>
          <a:xfrm>
            <a:off x="6720840" y="3200400"/>
            <a:ext cx="365760" cy="457200"/>
          </a:xfrm>
          <a:prstGeom prst="rect">
            <a:avLst/>
          </a:prstGeom>
          <a:noFill/>
        </p:spPr>
        <p:txBody>
          <a:bodyPr wrap="square">
            <a:spAutoFit/>
          </a:bodyPr>
          <a:lstStyle/>
          <a:p>
            <a:pPr algn="ctr"/>
            <a:r>
              <a:rPr sz="2200" b="0" i="0">
                <a:solidFill>
                  <a:srgbClr val="10B981"/>
                </a:solidFill>
              </a:rPr>
              <a:t>→</a:t>
            </a:r>
          </a:p>
        </p:txBody>
      </p:sp>
      <p:sp>
        <p:nvSpPr>
          <p:cNvPr id="29" name="TextBox 28"/>
          <p:cNvSpPr txBox="1"/>
          <p:nvPr/>
        </p:nvSpPr>
        <p:spPr>
          <a:xfrm>
            <a:off x="8823960" y="3200400"/>
            <a:ext cx="365760" cy="457200"/>
          </a:xfrm>
          <a:prstGeom prst="rect">
            <a:avLst/>
          </a:prstGeom>
          <a:noFill/>
        </p:spPr>
        <p:txBody>
          <a:bodyPr wrap="square">
            <a:spAutoFit/>
          </a:bodyPr>
          <a:lstStyle/>
          <a:p>
            <a:pPr algn="ctr"/>
            <a:r>
              <a:rPr sz="2200" b="0" i="0">
                <a:solidFill>
                  <a:srgbClr val="10B981"/>
                </a:solidFill>
              </a:rPr>
              <a:t>→</a:t>
            </a:r>
          </a:p>
        </p:txBody>
      </p:sp>
      <p:sp>
        <p:nvSpPr>
          <p:cNvPr id="30" name="TextBox 29"/>
          <p:cNvSpPr txBox="1"/>
          <p:nvPr/>
        </p:nvSpPr>
        <p:spPr>
          <a:xfrm>
            <a:off x="365760" y="6217920"/>
            <a:ext cx="11430000" cy="365760"/>
          </a:xfrm>
          <a:prstGeom prst="rect">
            <a:avLst/>
          </a:prstGeom>
          <a:noFill/>
        </p:spPr>
        <p:txBody>
          <a:bodyPr wrap="square">
            <a:spAutoFit/>
          </a:bodyPr>
          <a:lstStyle/>
          <a:p>
            <a:pPr algn="ctr"/>
            <a:r>
              <a:rPr sz="1300" b="0" i="0">
                <a:solidFill>
                  <a:srgbClr val="10B981"/>
                </a:solidFill>
              </a:rPr>
              <a:t>✓ No agents installed   ✓ Credentials never stored   ✓ AWS Session tokens expire in 1 hour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10 CIS AWS Benchmark Checks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Full coverage across S3, IAM, EC2, RDS, CloudTrail, KMS, VPC</a:t>
            </a:r>
          </a:p>
        </p:txBody>
      </p:sp>
      <p:sp>
        <p:nvSpPr>
          <p:cNvPr id="6" name="Rectangle 5"/>
          <p:cNvSpPr/>
          <p:nvPr/>
        </p:nvSpPr>
        <p:spPr>
          <a:xfrm>
            <a:off x="274320" y="1170432"/>
            <a:ext cx="347472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188720"/>
            <a:ext cx="3383279" cy="320040"/>
          </a:xfrm>
          <a:prstGeom prst="rect">
            <a:avLst/>
          </a:prstGeom>
          <a:noFill/>
        </p:spPr>
        <p:txBody>
          <a:bodyPr wrap="square">
            <a:spAutoFit/>
          </a:bodyPr>
          <a:lstStyle/>
          <a:p>
            <a:pPr algn="ctr"/>
            <a:r>
              <a:rPr sz="1200" b="1" i="0">
                <a:solidFill>
                  <a:srgbClr val="FFFFFF"/>
                </a:solidFill>
              </a:rPr>
              <a:t>Check Name</a:t>
            </a:r>
          </a:p>
        </p:txBody>
      </p:sp>
      <p:sp>
        <p:nvSpPr>
          <p:cNvPr id="8" name="Rectangle 7"/>
          <p:cNvSpPr/>
          <p:nvPr/>
        </p:nvSpPr>
        <p:spPr>
          <a:xfrm>
            <a:off x="3840480" y="1170432"/>
            <a:ext cx="118872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86200" y="1188720"/>
            <a:ext cx="1097280" cy="320040"/>
          </a:xfrm>
          <a:prstGeom prst="rect">
            <a:avLst/>
          </a:prstGeom>
          <a:noFill/>
        </p:spPr>
        <p:txBody>
          <a:bodyPr wrap="square">
            <a:spAutoFit/>
          </a:bodyPr>
          <a:lstStyle/>
          <a:p>
            <a:pPr algn="ctr"/>
            <a:r>
              <a:rPr sz="1200" b="1" i="0">
                <a:solidFill>
                  <a:srgbClr val="FFFFFF"/>
                </a:solidFill>
              </a:rPr>
              <a:t>Service</a:t>
            </a:r>
          </a:p>
        </p:txBody>
      </p:sp>
      <p:sp>
        <p:nvSpPr>
          <p:cNvPr id="10" name="Rectangle 9"/>
          <p:cNvSpPr/>
          <p:nvPr/>
        </p:nvSpPr>
        <p:spPr>
          <a:xfrm>
            <a:off x="5120640" y="1170432"/>
            <a:ext cx="137160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66359" y="1188720"/>
            <a:ext cx="1280160" cy="320040"/>
          </a:xfrm>
          <a:prstGeom prst="rect">
            <a:avLst/>
          </a:prstGeom>
          <a:noFill/>
        </p:spPr>
        <p:txBody>
          <a:bodyPr wrap="square">
            <a:spAutoFit/>
          </a:bodyPr>
          <a:lstStyle/>
          <a:p>
            <a:pPr algn="ctr"/>
            <a:r>
              <a:rPr sz="1200" b="1" i="0">
                <a:solidFill>
                  <a:srgbClr val="FFFFFF"/>
                </a:solidFill>
              </a:rPr>
              <a:t>Severity</a:t>
            </a:r>
          </a:p>
        </p:txBody>
      </p:sp>
      <p:sp>
        <p:nvSpPr>
          <p:cNvPr id="12" name="Rectangle 11"/>
          <p:cNvSpPr/>
          <p:nvPr/>
        </p:nvSpPr>
        <p:spPr>
          <a:xfrm>
            <a:off x="6583680" y="1170432"/>
            <a:ext cx="4663440" cy="347472"/>
          </a:xfrm>
          <a:prstGeom prst="rect">
            <a:avLst/>
          </a:prstGeom>
          <a:solidFill>
            <a:srgbClr val="0596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1188720"/>
            <a:ext cx="4572000" cy="320040"/>
          </a:xfrm>
          <a:prstGeom prst="rect">
            <a:avLst/>
          </a:prstGeom>
          <a:noFill/>
        </p:spPr>
        <p:txBody>
          <a:bodyPr wrap="square">
            <a:spAutoFit/>
          </a:bodyPr>
          <a:lstStyle/>
          <a:p>
            <a:pPr algn="ctr"/>
            <a:r>
              <a:rPr sz="1200" b="1" i="0">
                <a:solidFill>
                  <a:srgbClr val="FFFFFF"/>
                </a:solidFill>
              </a:rPr>
              <a:t>What It Detects</a:t>
            </a:r>
          </a:p>
        </p:txBody>
      </p:sp>
      <p:sp>
        <p:nvSpPr>
          <p:cNvPr id="14" name="Rectangle 13"/>
          <p:cNvSpPr/>
          <p:nvPr/>
        </p:nvSpPr>
        <p:spPr>
          <a:xfrm>
            <a:off x="274320" y="1554480"/>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1600200"/>
            <a:ext cx="3383279" cy="384048"/>
          </a:xfrm>
          <a:prstGeom prst="rect">
            <a:avLst/>
          </a:prstGeom>
          <a:noFill/>
        </p:spPr>
        <p:txBody>
          <a:bodyPr wrap="square">
            <a:spAutoFit/>
          </a:bodyPr>
          <a:lstStyle/>
          <a:p>
            <a:pPr algn="l"/>
            <a:r>
              <a:rPr sz="1100" b="0" i="0">
                <a:solidFill>
                  <a:srgbClr val="FFFFFF"/>
                </a:solidFill>
              </a:rPr>
              <a:t>S3 Public Access</a:t>
            </a:r>
          </a:p>
        </p:txBody>
      </p:sp>
      <p:sp>
        <p:nvSpPr>
          <p:cNvPr id="16" name="Rectangle 15"/>
          <p:cNvSpPr/>
          <p:nvPr/>
        </p:nvSpPr>
        <p:spPr>
          <a:xfrm>
            <a:off x="3840480" y="1554480"/>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86200" y="1600200"/>
            <a:ext cx="1097280" cy="384048"/>
          </a:xfrm>
          <a:prstGeom prst="rect">
            <a:avLst/>
          </a:prstGeom>
          <a:noFill/>
        </p:spPr>
        <p:txBody>
          <a:bodyPr wrap="square">
            <a:spAutoFit/>
          </a:bodyPr>
          <a:lstStyle/>
          <a:p>
            <a:pPr algn="ctr"/>
            <a:r>
              <a:rPr sz="1100" b="0" i="0">
                <a:solidFill>
                  <a:srgbClr val="FFFFFF"/>
                </a:solidFill>
              </a:rPr>
              <a:t>S3</a:t>
            </a:r>
          </a:p>
        </p:txBody>
      </p:sp>
      <p:sp>
        <p:nvSpPr>
          <p:cNvPr id="18" name="Rectangle 17"/>
          <p:cNvSpPr/>
          <p:nvPr/>
        </p:nvSpPr>
        <p:spPr>
          <a:xfrm>
            <a:off x="5120640" y="1554480"/>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600200"/>
            <a:ext cx="1280160" cy="384048"/>
          </a:xfrm>
          <a:prstGeom prst="rect">
            <a:avLst/>
          </a:prstGeom>
          <a:noFill/>
        </p:spPr>
        <p:txBody>
          <a:bodyPr wrap="square">
            <a:spAutoFit/>
          </a:bodyPr>
          <a:lstStyle/>
          <a:p>
            <a:pPr algn="ctr"/>
            <a:r>
              <a:rPr sz="1100" b="0" i="0">
                <a:solidFill>
                  <a:srgbClr val="EF4444"/>
                </a:solidFill>
              </a:rPr>
              <a:t>CRITICAL</a:t>
            </a:r>
          </a:p>
        </p:txBody>
      </p:sp>
      <p:sp>
        <p:nvSpPr>
          <p:cNvPr id="20" name="Rectangle 19"/>
          <p:cNvSpPr/>
          <p:nvPr/>
        </p:nvSpPr>
        <p:spPr>
          <a:xfrm>
            <a:off x="6583680" y="1554480"/>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1600200"/>
            <a:ext cx="4572000" cy="384048"/>
          </a:xfrm>
          <a:prstGeom prst="rect">
            <a:avLst/>
          </a:prstGeom>
          <a:noFill/>
        </p:spPr>
        <p:txBody>
          <a:bodyPr wrap="square">
            <a:spAutoFit/>
          </a:bodyPr>
          <a:lstStyle/>
          <a:p>
            <a:pPr algn="l"/>
            <a:r>
              <a:rPr sz="1100" b="0" i="0">
                <a:solidFill>
                  <a:srgbClr val="9999AA"/>
                </a:solidFill>
              </a:rPr>
              <a:t>Public ACLs, policies, block misconfigurations</a:t>
            </a:r>
          </a:p>
        </p:txBody>
      </p:sp>
      <p:sp>
        <p:nvSpPr>
          <p:cNvPr id="22" name="Rectangle 21"/>
          <p:cNvSpPr/>
          <p:nvPr/>
        </p:nvSpPr>
        <p:spPr>
          <a:xfrm>
            <a:off x="274320" y="2029967"/>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0040" y="2075687"/>
            <a:ext cx="3383279" cy="384048"/>
          </a:xfrm>
          <a:prstGeom prst="rect">
            <a:avLst/>
          </a:prstGeom>
          <a:noFill/>
        </p:spPr>
        <p:txBody>
          <a:bodyPr wrap="square">
            <a:spAutoFit/>
          </a:bodyPr>
          <a:lstStyle/>
          <a:p>
            <a:pPr algn="l"/>
            <a:r>
              <a:rPr sz="1100" b="0" i="0">
                <a:solidFill>
                  <a:srgbClr val="FFFFFF"/>
                </a:solidFill>
              </a:rPr>
              <a:t>IAM Root Access Keys</a:t>
            </a:r>
          </a:p>
        </p:txBody>
      </p:sp>
      <p:sp>
        <p:nvSpPr>
          <p:cNvPr id="24" name="Rectangle 23"/>
          <p:cNvSpPr/>
          <p:nvPr/>
        </p:nvSpPr>
        <p:spPr>
          <a:xfrm>
            <a:off x="3840480" y="2029967"/>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86200" y="2075687"/>
            <a:ext cx="1097280" cy="384048"/>
          </a:xfrm>
          <a:prstGeom prst="rect">
            <a:avLst/>
          </a:prstGeom>
          <a:noFill/>
        </p:spPr>
        <p:txBody>
          <a:bodyPr wrap="square">
            <a:spAutoFit/>
          </a:bodyPr>
          <a:lstStyle/>
          <a:p>
            <a:pPr algn="ctr"/>
            <a:r>
              <a:rPr sz="1100" b="0" i="0">
                <a:solidFill>
                  <a:srgbClr val="FFFFFF"/>
                </a:solidFill>
              </a:rPr>
              <a:t>IAM</a:t>
            </a:r>
          </a:p>
        </p:txBody>
      </p:sp>
      <p:sp>
        <p:nvSpPr>
          <p:cNvPr id="26" name="Rectangle 25"/>
          <p:cNvSpPr/>
          <p:nvPr/>
        </p:nvSpPr>
        <p:spPr>
          <a:xfrm>
            <a:off x="5120640" y="2029967"/>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66359" y="2075687"/>
            <a:ext cx="1280160" cy="384048"/>
          </a:xfrm>
          <a:prstGeom prst="rect">
            <a:avLst/>
          </a:prstGeom>
          <a:noFill/>
        </p:spPr>
        <p:txBody>
          <a:bodyPr wrap="square">
            <a:spAutoFit/>
          </a:bodyPr>
          <a:lstStyle/>
          <a:p>
            <a:pPr algn="ctr"/>
            <a:r>
              <a:rPr sz="1100" b="0" i="0">
                <a:solidFill>
                  <a:srgbClr val="EF4444"/>
                </a:solidFill>
              </a:rPr>
              <a:t>CRITICAL</a:t>
            </a:r>
          </a:p>
        </p:txBody>
      </p:sp>
      <p:sp>
        <p:nvSpPr>
          <p:cNvPr id="28" name="Rectangle 27"/>
          <p:cNvSpPr/>
          <p:nvPr/>
        </p:nvSpPr>
        <p:spPr>
          <a:xfrm>
            <a:off x="6583680" y="2029967"/>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29400" y="2075687"/>
            <a:ext cx="4572000" cy="384048"/>
          </a:xfrm>
          <a:prstGeom prst="rect">
            <a:avLst/>
          </a:prstGeom>
          <a:noFill/>
        </p:spPr>
        <p:txBody>
          <a:bodyPr wrap="square">
            <a:spAutoFit/>
          </a:bodyPr>
          <a:lstStyle/>
          <a:p>
            <a:pPr algn="l"/>
            <a:r>
              <a:rPr sz="1100" b="0" i="0">
                <a:solidFill>
                  <a:srgbClr val="9999AA"/>
                </a:solidFill>
              </a:rPr>
              <a:t>Active programmatic keys on root account</a:t>
            </a:r>
          </a:p>
        </p:txBody>
      </p:sp>
      <p:sp>
        <p:nvSpPr>
          <p:cNvPr id="30" name="Rectangle 29"/>
          <p:cNvSpPr/>
          <p:nvPr/>
        </p:nvSpPr>
        <p:spPr>
          <a:xfrm>
            <a:off x="274320" y="2505456"/>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0040" y="2551176"/>
            <a:ext cx="3383279" cy="384048"/>
          </a:xfrm>
          <a:prstGeom prst="rect">
            <a:avLst/>
          </a:prstGeom>
          <a:noFill/>
        </p:spPr>
        <p:txBody>
          <a:bodyPr wrap="square">
            <a:spAutoFit/>
          </a:bodyPr>
          <a:lstStyle/>
          <a:p>
            <a:pPr algn="l"/>
            <a:r>
              <a:rPr sz="1100" b="0" i="0">
                <a:solidFill>
                  <a:srgbClr val="FFFFFF"/>
                </a:solidFill>
              </a:rPr>
              <a:t>IAM Admin Permissions</a:t>
            </a:r>
          </a:p>
        </p:txBody>
      </p:sp>
      <p:sp>
        <p:nvSpPr>
          <p:cNvPr id="32" name="Rectangle 31"/>
          <p:cNvSpPr/>
          <p:nvPr/>
        </p:nvSpPr>
        <p:spPr>
          <a:xfrm>
            <a:off x="3840480" y="2505456"/>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86200" y="2551176"/>
            <a:ext cx="1097280" cy="384048"/>
          </a:xfrm>
          <a:prstGeom prst="rect">
            <a:avLst/>
          </a:prstGeom>
          <a:noFill/>
        </p:spPr>
        <p:txBody>
          <a:bodyPr wrap="square">
            <a:spAutoFit/>
          </a:bodyPr>
          <a:lstStyle/>
          <a:p>
            <a:pPr algn="ctr"/>
            <a:r>
              <a:rPr sz="1100" b="0" i="0">
                <a:solidFill>
                  <a:srgbClr val="FFFFFF"/>
                </a:solidFill>
              </a:rPr>
              <a:t>IAM</a:t>
            </a:r>
          </a:p>
        </p:txBody>
      </p:sp>
      <p:sp>
        <p:nvSpPr>
          <p:cNvPr id="34" name="Rectangle 33"/>
          <p:cNvSpPr/>
          <p:nvPr/>
        </p:nvSpPr>
        <p:spPr>
          <a:xfrm>
            <a:off x="5120640" y="2505456"/>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66359" y="2551176"/>
            <a:ext cx="1280160" cy="384048"/>
          </a:xfrm>
          <a:prstGeom prst="rect">
            <a:avLst/>
          </a:prstGeom>
          <a:noFill/>
        </p:spPr>
        <p:txBody>
          <a:bodyPr wrap="square">
            <a:spAutoFit/>
          </a:bodyPr>
          <a:lstStyle/>
          <a:p>
            <a:pPr algn="ctr"/>
            <a:r>
              <a:rPr sz="1100" b="0" i="0">
                <a:solidFill>
                  <a:srgbClr val="EF4444"/>
                </a:solidFill>
              </a:rPr>
              <a:t>CRITICAL</a:t>
            </a:r>
          </a:p>
        </p:txBody>
      </p:sp>
      <p:sp>
        <p:nvSpPr>
          <p:cNvPr id="36" name="Rectangle 35"/>
          <p:cNvSpPr/>
          <p:nvPr/>
        </p:nvSpPr>
        <p:spPr>
          <a:xfrm>
            <a:off x="6583680" y="2505456"/>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29400" y="2551176"/>
            <a:ext cx="4572000" cy="384048"/>
          </a:xfrm>
          <a:prstGeom prst="rect">
            <a:avLst/>
          </a:prstGeom>
          <a:noFill/>
        </p:spPr>
        <p:txBody>
          <a:bodyPr wrap="square">
            <a:spAutoFit/>
          </a:bodyPr>
          <a:lstStyle/>
          <a:p>
            <a:pPr algn="l"/>
            <a:r>
              <a:rPr sz="1100" b="0" i="0">
                <a:solidFill>
                  <a:srgbClr val="9999AA"/>
                </a:solidFill>
              </a:rPr>
              <a:t>Users/roles with AdministratorAccess</a:t>
            </a:r>
          </a:p>
        </p:txBody>
      </p:sp>
      <p:sp>
        <p:nvSpPr>
          <p:cNvPr id="38" name="Rectangle 37"/>
          <p:cNvSpPr/>
          <p:nvPr/>
        </p:nvSpPr>
        <p:spPr>
          <a:xfrm>
            <a:off x="274320" y="2980944"/>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 y="3026663"/>
            <a:ext cx="3383279" cy="384048"/>
          </a:xfrm>
          <a:prstGeom prst="rect">
            <a:avLst/>
          </a:prstGeom>
          <a:noFill/>
        </p:spPr>
        <p:txBody>
          <a:bodyPr wrap="square">
            <a:spAutoFit/>
          </a:bodyPr>
          <a:lstStyle/>
          <a:p>
            <a:pPr algn="l"/>
            <a:r>
              <a:rPr sz="1100" b="0" i="0">
                <a:solidFill>
                  <a:srgbClr val="FFFFFF"/>
                </a:solidFill>
              </a:rPr>
              <a:t>MFA Enforcement</a:t>
            </a:r>
          </a:p>
        </p:txBody>
      </p:sp>
      <p:sp>
        <p:nvSpPr>
          <p:cNvPr id="40" name="Rectangle 39"/>
          <p:cNvSpPr/>
          <p:nvPr/>
        </p:nvSpPr>
        <p:spPr>
          <a:xfrm>
            <a:off x="3840480" y="2980944"/>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86200" y="3026663"/>
            <a:ext cx="1097280" cy="384048"/>
          </a:xfrm>
          <a:prstGeom prst="rect">
            <a:avLst/>
          </a:prstGeom>
          <a:noFill/>
        </p:spPr>
        <p:txBody>
          <a:bodyPr wrap="square">
            <a:spAutoFit/>
          </a:bodyPr>
          <a:lstStyle/>
          <a:p>
            <a:pPr algn="ctr"/>
            <a:r>
              <a:rPr sz="1100" b="0" i="0">
                <a:solidFill>
                  <a:srgbClr val="FFFFFF"/>
                </a:solidFill>
              </a:rPr>
              <a:t>IAM</a:t>
            </a:r>
          </a:p>
        </p:txBody>
      </p:sp>
      <p:sp>
        <p:nvSpPr>
          <p:cNvPr id="42" name="Rectangle 41"/>
          <p:cNvSpPr/>
          <p:nvPr/>
        </p:nvSpPr>
        <p:spPr>
          <a:xfrm>
            <a:off x="5120640" y="2980944"/>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66359" y="3026663"/>
            <a:ext cx="1280160" cy="384048"/>
          </a:xfrm>
          <a:prstGeom prst="rect">
            <a:avLst/>
          </a:prstGeom>
          <a:noFill/>
        </p:spPr>
        <p:txBody>
          <a:bodyPr wrap="square">
            <a:spAutoFit/>
          </a:bodyPr>
          <a:lstStyle/>
          <a:p>
            <a:pPr algn="ctr"/>
            <a:r>
              <a:rPr sz="1100" b="0" i="0">
                <a:solidFill>
                  <a:srgbClr val="EF4444"/>
                </a:solidFill>
              </a:rPr>
              <a:t>CRITICAL</a:t>
            </a:r>
          </a:p>
        </p:txBody>
      </p:sp>
      <p:sp>
        <p:nvSpPr>
          <p:cNvPr id="44" name="Rectangle 43"/>
          <p:cNvSpPr/>
          <p:nvPr/>
        </p:nvSpPr>
        <p:spPr>
          <a:xfrm>
            <a:off x="6583680" y="2980944"/>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629400" y="3026663"/>
            <a:ext cx="4572000" cy="384048"/>
          </a:xfrm>
          <a:prstGeom prst="rect">
            <a:avLst/>
          </a:prstGeom>
          <a:noFill/>
        </p:spPr>
        <p:txBody>
          <a:bodyPr wrap="square">
            <a:spAutoFit/>
          </a:bodyPr>
          <a:lstStyle/>
          <a:p>
            <a:pPr algn="l"/>
            <a:r>
              <a:rPr sz="1100" b="0" i="0">
                <a:solidFill>
                  <a:srgbClr val="9999AA"/>
                </a:solidFill>
              </a:rPr>
              <a:t>Root + all IAM users without MFA</a:t>
            </a:r>
          </a:p>
        </p:txBody>
      </p:sp>
      <p:sp>
        <p:nvSpPr>
          <p:cNvPr id="46" name="Rectangle 45"/>
          <p:cNvSpPr/>
          <p:nvPr/>
        </p:nvSpPr>
        <p:spPr>
          <a:xfrm>
            <a:off x="274320" y="3456432"/>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0040" y="3502152"/>
            <a:ext cx="3383279" cy="384048"/>
          </a:xfrm>
          <a:prstGeom prst="rect">
            <a:avLst/>
          </a:prstGeom>
          <a:noFill/>
        </p:spPr>
        <p:txBody>
          <a:bodyPr wrap="square">
            <a:spAutoFit/>
          </a:bodyPr>
          <a:lstStyle/>
          <a:p>
            <a:pPr algn="l"/>
            <a:r>
              <a:rPr sz="1100" b="0" i="0">
                <a:solidFill>
                  <a:srgbClr val="FFFFFF"/>
                </a:solidFill>
              </a:rPr>
              <a:t>Open Security Groups</a:t>
            </a:r>
          </a:p>
        </p:txBody>
      </p:sp>
      <p:sp>
        <p:nvSpPr>
          <p:cNvPr id="48" name="Rectangle 47"/>
          <p:cNvSpPr/>
          <p:nvPr/>
        </p:nvSpPr>
        <p:spPr>
          <a:xfrm>
            <a:off x="3840480" y="3456432"/>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86200" y="3502152"/>
            <a:ext cx="1097280" cy="384048"/>
          </a:xfrm>
          <a:prstGeom prst="rect">
            <a:avLst/>
          </a:prstGeom>
          <a:noFill/>
        </p:spPr>
        <p:txBody>
          <a:bodyPr wrap="square">
            <a:spAutoFit/>
          </a:bodyPr>
          <a:lstStyle/>
          <a:p>
            <a:pPr algn="ctr"/>
            <a:r>
              <a:rPr sz="1100" b="0" i="0">
                <a:solidFill>
                  <a:srgbClr val="FFFFFF"/>
                </a:solidFill>
              </a:rPr>
              <a:t>EC2</a:t>
            </a:r>
          </a:p>
        </p:txBody>
      </p:sp>
      <p:sp>
        <p:nvSpPr>
          <p:cNvPr id="50" name="Rectangle 49"/>
          <p:cNvSpPr/>
          <p:nvPr/>
        </p:nvSpPr>
        <p:spPr>
          <a:xfrm>
            <a:off x="5120640" y="3456432"/>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166359" y="3502152"/>
            <a:ext cx="1280160" cy="384048"/>
          </a:xfrm>
          <a:prstGeom prst="rect">
            <a:avLst/>
          </a:prstGeom>
          <a:noFill/>
        </p:spPr>
        <p:txBody>
          <a:bodyPr wrap="square">
            <a:spAutoFit/>
          </a:bodyPr>
          <a:lstStyle/>
          <a:p>
            <a:pPr algn="ctr"/>
            <a:r>
              <a:rPr sz="1100" b="0" i="0">
                <a:solidFill>
                  <a:srgbClr val="F59E0B"/>
                </a:solidFill>
              </a:rPr>
              <a:t>HIGH</a:t>
            </a:r>
          </a:p>
        </p:txBody>
      </p:sp>
      <p:sp>
        <p:nvSpPr>
          <p:cNvPr id="52" name="Rectangle 51"/>
          <p:cNvSpPr/>
          <p:nvPr/>
        </p:nvSpPr>
        <p:spPr>
          <a:xfrm>
            <a:off x="6583680" y="3456432"/>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29400" y="3502152"/>
            <a:ext cx="4572000" cy="384048"/>
          </a:xfrm>
          <a:prstGeom prst="rect">
            <a:avLst/>
          </a:prstGeom>
          <a:noFill/>
        </p:spPr>
        <p:txBody>
          <a:bodyPr wrap="square">
            <a:spAutoFit/>
          </a:bodyPr>
          <a:lstStyle/>
          <a:p>
            <a:pPr algn="l"/>
            <a:r>
              <a:rPr sz="1100" b="0" i="0">
                <a:solidFill>
                  <a:srgbClr val="9999AA"/>
                </a:solidFill>
              </a:rPr>
              <a:t>Ports 22/3389/all open to 0.0.0.0/0</a:t>
            </a:r>
          </a:p>
        </p:txBody>
      </p:sp>
      <p:sp>
        <p:nvSpPr>
          <p:cNvPr id="54" name="Rectangle 53"/>
          <p:cNvSpPr/>
          <p:nvPr/>
        </p:nvSpPr>
        <p:spPr>
          <a:xfrm>
            <a:off x="274320" y="3931920"/>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0040" y="3977639"/>
            <a:ext cx="3383279" cy="384048"/>
          </a:xfrm>
          <a:prstGeom prst="rect">
            <a:avLst/>
          </a:prstGeom>
          <a:noFill/>
        </p:spPr>
        <p:txBody>
          <a:bodyPr wrap="square">
            <a:spAutoFit/>
          </a:bodyPr>
          <a:lstStyle/>
          <a:p>
            <a:pPr algn="l"/>
            <a:r>
              <a:rPr sz="1100" b="0" i="0">
                <a:solidFill>
                  <a:srgbClr val="FFFFFF"/>
                </a:solidFill>
              </a:rPr>
              <a:t>RDS Encryption</a:t>
            </a:r>
          </a:p>
        </p:txBody>
      </p:sp>
      <p:sp>
        <p:nvSpPr>
          <p:cNvPr id="56" name="Rectangle 55"/>
          <p:cNvSpPr/>
          <p:nvPr/>
        </p:nvSpPr>
        <p:spPr>
          <a:xfrm>
            <a:off x="3840480" y="3931920"/>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886200" y="3977639"/>
            <a:ext cx="1097280" cy="384048"/>
          </a:xfrm>
          <a:prstGeom prst="rect">
            <a:avLst/>
          </a:prstGeom>
          <a:noFill/>
        </p:spPr>
        <p:txBody>
          <a:bodyPr wrap="square">
            <a:spAutoFit/>
          </a:bodyPr>
          <a:lstStyle/>
          <a:p>
            <a:pPr algn="ctr"/>
            <a:r>
              <a:rPr sz="1100" b="0" i="0">
                <a:solidFill>
                  <a:srgbClr val="FFFFFF"/>
                </a:solidFill>
              </a:rPr>
              <a:t>RDS</a:t>
            </a:r>
          </a:p>
        </p:txBody>
      </p:sp>
      <p:sp>
        <p:nvSpPr>
          <p:cNvPr id="58" name="Rectangle 57"/>
          <p:cNvSpPr/>
          <p:nvPr/>
        </p:nvSpPr>
        <p:spPr>
          <a:xfrm>
            <a:off x="5120640" y="3931920"/>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66359" y="3977639"/>
            <a:ext cx="1280160" cy="384048"/>
          </a:xfrm>
          <a:prstGeom prst="rect">
            <a:avLst/>
          </a:prstGeom>
          <a:noFill/>
        </p:spPr>
        <p:txBody>
          <a:bodyPr wrap="square">
            <a:spAutoFit/>
          </a:bodyPr>
          <a:lstStyle/>
          <a:p>
            <a:pPr algn="ctr"/>
            <a:r>
              <a:rPr sz="1100" b="0" i="0">
                <a:solidFill>
                  <a:srgbClr val="F59E0B"/>
                </a:solidFill>
              </a:rPr>
              <a:t>HIGH</a:t>
            </a:r>
          </a:p>
        </p:txBody>
      </p:sp>
      <p:sp>
        <p:nvSpPr>
          <p:cNvPr id="60" name="Rectangle 59"/>
          <p:cNvSpPr/>
          <p:nvPr/>
        </p:nvSpPr>
        <p:spPr>
          <a:xfrm>
            <a:off x="6583680" y="3931920"/>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629400" y="3977639"/>
            <a:ext cx="4572000" cy="384048"/>
          </a:xfrm>
          <a:prstGeom prst="rect">
            <a:avLst/>
          </a:prstGeom>
          <a:noFill/>
        </p:spPr>
        <p:txBody>
          <a:bodyPr wrap="square">
            <a:spAutoFit/>
          </a:bodyPr>
          <a:lstStyle/>
          <a:p>
            <a:pPr algn="l"/>
            <a:r>
              <a:rPr sz="1100" b="0" i="0">
                <a:solidFill>
                  <a:srgbClr val="9999AA"/>
                </a:solidFill>
              </a:rPr>
              <a:t>Unencrypted or publicly accessible databases</a:t>
            </a:r>
          </a:p>
        </p:txBody>
      </p:sp>
      <p:sp>
        <p:nvSpPr>
          <p:cNvPr id="62" name="Rectangle 61"/>
          <p:cNvSpPr/>
          <p:nvPr/>
        </p:nvSpPr>
        <p:spPr>
          <a:xfrm>
            <a:off x="274320" y="4407408"/>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0040" y="4453128"/>
            <a:ext cx="3383279" cy="384048"/>
          </a:xfrm>
          <a:prstGeom prst="rect">
            <a:avLst/>
          </a:prstGeom>
          <a:noFill/>
        </p:spPr>
        <p:txBody>
          <a:bodyPr wrap="square">
            <a:spAutoFit/>
          </a:bodyPr>
          <a:lstStyle/>
          <a:p>
            <a:pPr algn="l"/>
            <a:r>
              <a:rPr sz="1100" b="0" i="0">
                <a:solidFill>
                  <a:srgbClr val="FFFFFF"/>
                </a:solidFill>
              </a:rPr>
              <a:t>EBS Encryption</a:t>
            </a:r>
          </a:p>
        </p:txBody>
      </p:sp>
      <p:sp>
        <p:nvSpPr>
          <p:cNvPr id="64" name="Rectangle 63"/>
          <p:cNvSpPr/>
          <p:nvPr/>
        </p:nvSpPr>
        <p:spPr>
          <a:xfrm>
            <a:off x="3840480" y="4407408"/>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86200" y="4453128"/>
            <a:ext cx="1097280" cy="384048"/>
          </a:xfrm>
          <a:prstGeom prst="rect">
            <a:avLst/>
          </a:prstGeom>
          <a:noFill/>
        </p:spPr>
        <p:txBody>
          <a:bodyPr wrap="square">
            <a:spAutoFit/>
          </a:bodyPr>
          <a:lstStyle/>
          <a:p>
            <a:pPr algn="ctr"/>
            <a:r>
              <a:rPr sz="1100" b="0" i="0">
                <a:solidFill>
                  <a:srgbClr val="FFFFFF"/>
                </a:solidFill>
              </a:rPr>
              <a:t>EC2</a:t>
            </a:r>
          </a:p>
        </p:txBody>
      </p:sp>
      <p:sp>
        <p:nvSpPr>
          <p:cNvPr id="66" name="Rectangle 65"/>
          <p:cNvSpPr/>
          <p:nvPr/>
        </p:nvSpPr>
        <p:spPr>
          <a:xfrm>
            <a:off x="5120640" y="4407408"/>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166359" y="4453128"/>
            <a:ext cx="1280160" cy="384048"/>
          </a:xfrm>
          <a:prstGeom prst="rect">
            <a:avLst/>
          </a:prstGeom>
          <a:noFill/>
        </p:spPr>
        <p:txBody>
          <a:bodyPr wrap="square">
            <a:spAutoFit/>
          </a:bodyPr>
          <a:lstStyle/>
          <a:p>
            <a:pPr algn="ctr"/>
            <a:r>
              <a:rPr sz="1100" b="0" i="0">
                <a:solidFill>
                  <a:srgbClr val="3B82F6"/>
                </a:solidFill>
              </a:rPr>
              <a:t>MEDIUM</a:t>
            </a:r>
          </a:p>
        </p:txBody>
      </p:sp>
      <p:sp>
        <p:nvSpPr>
          <p:cNvPr id="68" name="Rectangle 67"/>
          <p:cNvSpPr/>
          <p:nvPr/>
        </p:nvSpPr>
        <p:spPr>
          <a:xfrm>
            <a:off x="6583680" y="4407408"/>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29400" y="4453128"/>
            <a:ext cx="4572000" cy="384048"/>
          </a:xfrm>
          <a:prstGeom prst="rect">
            <a:avLst/>
          </a:prstGeom>
          <a:noFill/>
        </p:spPr>
        <p:txBody>
          <a:bodyPr wrap="square">
            <a:spAutoFit/>
          </a:bodyPr>
          <a:lstStyle/>
          <a:p>
            <a:pPr algn="l"/>
            <a:r>
              <a:rPr sz="1100" b="0" i="0">
                <a:solidFill>
                  <a:srgbClr val="9999AA"/>
                </a:solidFill>
              </a:rPr>
              <a:t>Unencrypted volumes; default encryption off</a:t>
            </a:r>
          </a:p>
        </p:txBody>
      </p:sp>
      <p:sp>
        <p:nvSpPr>
          <p:cNvPr id="70" name="Rectangle 69"/>
          <p:cNvSpPr/>
          <p:nvPr/>
        </p:nvSpPr>
        <p:spPr>
          <a:xfrm>
            <a:off x="274320" y="4882896"/>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20040" y="4928616"/>
            <a:ext cx="3383279" cy="384048"/>
          </a:xfrm>
          <a:prstGeom prst="rect">
            <a:avLst/>
          </a:prstGeom>
          <a:noFill/>
        </p:spPr>
        <p:txBody>
          <a:bodyPr wrap="square">
            <a:spAutoFit/>
          </a:bodyPr>
          <a:lstStyle/>
          <a:p>
            <a:pPr algn="l"/>
            <a:r>
              <a:rPr sz="1100" b="0" i="0">
                <a:solidFill>
                  <a:srgbClr val="FFFFFF"/>
                </a:solidFill>
              </a:rPr>
              <a:t>CloudTrail Logging</a:t>
            </a:r>
          </a:p>
        </p:txBody>
      </p:sp>
      <p:sp>
        <p:nvSpPr>
          <p:cNvPr id="72" name="Rectangle 71"/>
          <p:cNvSpPr/>
          <p:nvPr/>
        </p:nvSpPr>
        <p:spPr>
          <a:xfrm>
            <a:off x="3840480" y="4882896"/>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886200" y="4928616"/>
            <a:ext cx="1097280" cy="384048"/>
          </a:xfrm>
          <a:prstGeom prst="rect">
            <a:avLst/>
          </a:prstGeom>
          <a:noFill/>
        </p:spPr>
        <p:txBody>
          <a:bodyPr wrap="square">
            <a:spAutoFit/>
          </a:bodyPr>
          <a:lstStyle/>
          <a:p>
            <a:pPr algn="ctr"/>
            <a:r>
              <a:rPr sz="1100" b="0" i="0">
                <a:solidFill>
                  <a:srgbClr val="FFFFFF"/>
                </a:solidFill>
              </a:rPr>
              <a:t>CloudTrail</a:t>
            </a:r>
          </a:p>
        </p:txBody>
      </p:sp>
      <p:sp>
        <p:nvSpPr>
          <p:cNvPr id="74" name="Rectangle 73"/>
          <p:cNvSpPr/>
          <p:nvPr/>
        </p:nvSpPr>
        <p:spPr>
          <a:xfrm>
            <a:off x="5120640" y="4882896"/>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166359" y="4928616"/>
            <a:ext cx="1280160" cy="384048"/>
          </a:xfrm>
          <a:prstGeom prst="rect">
            <a:avLst/>
          </a:prstGeom>
          <a:noFill/>
        </p:spPr>
        <p:txBody>
          <a:bodyPr wrap="square">
            <a:spAutoFit/>
          </a:bodyPr>
          <a:lstStyle/>
          <a:p>
            <a:pPr algn="ctr"/>
            <a:r>
              <a:rPr sz="1100" b="0" i="0">
                <a:solidFill>
                  <a:srgbClr val="3B82F6"/>
                </a:solidFill>
              </a:rPr>
              <a:t>MEDIUM</a:t>
            </a:r>
          </a:p>
        </p:txBody>
      </p:sp>
      <p:sp>
        <p:nvSpPr>
          <p:cNvPr id="76" name="Rectangle 75"/>
          <p:cNvSpPr/>
          <p:nvPr/>
        </p:nvSpPr>
        <p:spPr>
          <a:xfrm>
            <a:off x="6583680" y="4882896"/>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629400" y="4928616"/>
            <a:ext cx="4572000" cy="384048"/>
          </a:xfrm>
          <a:prstGeom prst="rect">
            <a:avLst/>
          </a:prstGeom>
          <a:noFill/>
        </p:spPr>
        <p:txBody>
          <a:bodyPr wrap="square">
            <a:spAutoFit/>
          </a:bodyPr>
          <a:lstStyle/>
          <a:p>
            <a:pPr algn="l"/>
            <a:r>
              <a:rPr sz="1100" b="0" i="0">
                <a:solidFill>
                  <a:srgbClr val="9999AA"/>
                </a:solidFill>
              </a:rPr>
              <a:t>Multi-region logging + log validation</a:t>
            </a:r>
          </a:p>
        </p:txBody>
      </p:sp>
      <p:sp>
        <p:nvSpPr>
          <p:cNvPr id="78" name="Rectangle 77"/>
          <p:cNvSpPr/>
          <p:nvPr/>
        </p:nvSpPr>
        <p:spPr>
          <a:xfrm>
            <a:off x="274320" y="5358384"/>
            <a:ext cx="3474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20040" y="5404104"/>
            <a:ext cx="3383279" cy="384048"/>
          </a:xfrm>
          <a:prstGeom prst="rect">
            <a:avLst/>
          </a:prstGeom>
          <a:noFill/>
        </p:spPr>
        <p:txBody>
          <a:bodyPr wrap="square">
            <a:spAutoFit/>
          </a:bodyPr>
          <a:lstStyle/>
          <a:p>
            <a:pPr algn="l"/>
            <a:r>
              <a:rPr sz="1100" b="0" i="0">
                <a:solidFill>
                  <a:srgbClr val="FFFFFF"/>
                </a:solidFill>
              </a:rPr>
              <a:t>VPC Flow Logs</a:t>
            </a:r>
          </a:p>
        </p:txBody>
      </p:sp>
      <p:sp>
        <p:nvSpPr>
          <p:cNvPr id="80" name="Rectangle 79"/>
          <p:cNvSpPr/>
          <p:nvPr/>
        </p:nvSpPr>
        <p:spPr>
          <a:xfrm>
            <a:off x="3840480" y="5358384"/>
            <a:ext cx="118872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3886200" y="5404104"/>
            <a:ext cx="1097280" cy="384048"/>
          </a:xfrm>
          <a:prstGeom prst="rect">
            <a:avLst/>
          </a:prstGeom>
          <a:noFill/>
        </p:spPr>
        <p:txBody>
          <a:bodyPr wrap="square">
            <a:spAutoFit/>
          </a:bodyPr>
          <a:lstStyle/>
          <a:p>
            <a:pPr algn="ctr"/>
            <a:r>
              <a:rPr sz="1100" b="0" i="0">
                <a:solidFill>
                  <a:srgbClr val="FFFFFF"/>
                </a:solidFill>
              </a:rPr>
              <a:t>VPC</a:t>
            </a:r>
          </a:p>
        </p:txBody>
      </p:sp>
      <p:sp>
        <p:nvSpPr>
          <p:cNvPr id="82" name="Rectangle 81"/>
          <p:cNvSpPr/>
          <p:nvPr/>
        </p:nvSpPr>
        <p:spPr>
          <a:xfrm>
            <a:off x="5120640" y="5358384"/>
            <a:ext cx="137160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166359" y="5404104"/>
            <a:ext cx="1280160" cy="384048"/>
          </a:xfrm>
          <a:prstGeom prst="rect">
            <a:avLst/>
          </a:prstGeom>
          <a:noFill/>
        </p:spPr>
        <p:txBody>
          <a:bodyPr wrap="square">
            <a:spAutoFit/>
          </a:bodyPr>
          <a:lstStyle/>
          <a:p>
            <a:pPr algn="ctr"/>
            <a:r>
              <a:rPr sz="1100" b="0" i="0">
                <a:solidFill>
                  <a:srgbClr val="3B82F6"/>
                </a:solidFill>
              </a:rPr>
              <a:t>MEDIUM</a:t>
            </a:r>
          </a:p>
        </p:txBody>
      </p:sp>
      <p:sp>
        <p:nvSpPr>
          <p:cNvPr id="84" name="Rectangle 83"/>
          <p:cNvSpPr/>
          <p:nvPr/>
        </p:nvSpPr>
        <p:spPr>
          <a:xfrm>
            <a:off x="6583680" y="5358384"/>
            <a:ext cx="4663440" cy="457200"/>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6629400" y="5404104"/>
            <a:ext cx="4572000" cy="384048"/>
          </a:xfrm>
          <a:prstGeom prst="rect">
            <a:avLst/>
          </a:prstGeom>
          <a:noFill/>
        </p:spPr>
        <p:txBody>
          <a:bodyPr wrap="square">
            <a:spAutoFit/>
          </a:bodyPr>
          <a:lstStyle/>
          <a:p>
            <a:pPr algn="l"/>
            <a:r>
              <a:rPr sz="1100" b="0" i="0">
                <a:solidFill>
                  <a:srgbClr val="9999AA"/>
                </a:solidFill>
              </a:rPr>
              <a:t>Flow logs missing for forensics / visibility</a:t>
            </a:r>
          </a:p>
        </p:txBody>
      </p:sp>
      <p:sp>
        <p:nvSpPr>
          <p:cNvPr id="86" name="Rectangle 85"/>
          <p:cNvSpPr/>
          <p:nvPr/>
        </p:nvSpPr>
        <p:spPr>
          <a:xfrm>
            <a:off x="274320" y="5833872"/>
            <a:ext cx="3474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20040" y="5879592"/>
            <a:ext cx="3383279" cy="384048"/>
          </a:xfrm>
          <a:prstGeom prst="rect">
            <a:avLst/>
          </a:prstGeom>
          <a:noFill/>
        </p:spPr>
        <p:txBody>
          <a:bodyPr wrap="square">
            <a:spAutoFit/>
          </a:bodyPr>
          <a:lstStyle/>
          <a:p>
            <a:pPr algn="l"/>
            <a:r>
              <a:rPr sz="1100" b="0" i="0">
                <a:solidFill>
                  <a:srgbClr val="FFFFFF"/>
                </a:solidFill>
              </a:rPr>
              <a:t>KMS Key Rotation</a:t>
            </a:r>
          </a:p>
        </p:txBody>
      </p:sp>
      <p:sp>
        <p:nvSpPr>
          <p:cNvPr id="88" name="Rectangle 87"/>
          <p:cNvSpPr/>
          <p:nvPr/>
        </p:nvSpPr>
        <p:spPr>
          <a:xfrm>
            <a:off x="3840480" y="5833872"/>
            <a:ext cx="118872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3886200" y="5879592"/>
            <a:ext cx="1097280" cy="384048"/>
          </a:xfrm>
          <a:prstGeom prst="rect">
            <a:avLst/>
          </a:prstGeom>
          <a:noFill/>
        </p:spPr>
        <p:txBody>
          <a:bodyPr wrap="square">
            <a:spAutoFit/>
          </a:bodyPr>
          <a:lstStyle/>
          <a:p>
            <a:pPr algn="ctr"/>
            <a:r>
              <a:rPr sz="1100" b="0" i="0">
                <a:solidFill>
                  <a:srgbClr val="FFFFFF"/>
                </a:solidFill>
              </a:rPr>
              <a:t>KMS</a:t>
            </a:r>
          </a:p>
        </p:txBody>
      </p:sp>
      <p:sp>
        <p:nvSpPr>
          <p:cNvPr id="90" name="Rectangle 89"/>
          <p:cNvSpPr/>
          <p:nvPr/>
        </p:nvSpPr>
        <p:spPr>
          <a:xfrm>
            <a:off x="5120640" y="5833872"/>
            <a:ext cx="137160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166359" y="5879592"/>
            <a:ext cx="1280160" cy="384048"/>
          </a:xfrm>
          <a:prstGeom prst="rect">
            <a:avLst/>
          </a:prstGeom>
          <a:noFill/>
        </p:spPr>
        <p:txBody>
          <a:bodyPr wrap="square">
            <a:spAutoFit/>
          </a:bodyPr>
          <a:lstStyle/>
          <a:p>
            <a:pPr algn="ctr"/>
            <a:r>
              <a:rPr sz="1100" b="0" i="0">
                <a:solidFill>
                  <a:srgbClr val="3B82F6"/>
                </a:solidFill>
              </a:rPr>
              <a:t>MEDIUM</a:t>
            </a:r>
          </a:p>
        </p:txBody>
      </p:sp>
      <p:sp>
        <p:nvSpPr>
          <p:cNvPr id="92" name="Rectangle 91"/>
          <p:cNvSpPr/>
          <p:nvPr/>
        </p:nvSpPr>
        <p:spPr>
          <a:xfrm>
            <a:off x="6583680" y="5833872"/>
            <a:ext cx="4663440" cy="457200"/>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6629400" y="5879592"/>
            <a:ext cx="4572000" cy="384048"/>
          </a:xfrm>
          <a:prstGeom prst="rect">
            <a:avLst/>
          </a:prstGeom>
          <a:noFill/>
        </p:spPr>
        <p:txBody>
          <a:bodyPr wrap="square">
            <a:spAutoFit/>
          </a:bodyPr>
          <a:lstStyle/>
          <a:p>
            <a:pPr algn="l"/>
            <a:r>
              <a:rPr sz="1100" b="0" i="0">
                <a:solidFill>
                  <a:srgbClr val="9999AA"/>
                </a:solidFill>
              </a:rPr>
              <a:t>Customer-managed keys without auto-rotation</a:t>
            </a:r>
          </a:p>
        </p:txBody>
      </p:sp>
      <p:sp>
        <p:nvSpPr>
          <p:cNvPr id="94" name="TextBox 93"/>
          <p:cNvSpPr txBox="1"/>
          <p:nvPr/>
        </p:nvSpPr>
        <p:spPr>
          <a:xfrm>
            <a:off x="274320" y="6492240"/>
            <a:ext cx="1645920" cy="274320"/>
          </a:xfrm>
          <a:prstGeom prst="rect">
            <a:avLst/>
          </a:prstGeom>
          <a:noFill/>
        </p:spPr>
        <p:txBody>
          <a:bodyPr wrap="square">
            <a:spAutoFit/>
          </a:bodyPr>
          <a:lstStyle/>
          <a:p>
            <a:pPr algn="l"/>
            <a:r>
              <a:rPr sz="1100" b="0" i="0">
                <a:solidFill>
                  <a:srgbClr val="EF4444"/>
                </a:solidFill>
              </a:rPr>
              <a:t>■ CRITICAL</a:t>
            </a:r>
          </a:p>
        </p:txBody>
      </p:sp>
      <p:sp>
        <p:nvSpPr>
          <p:cNvPr id="95" name="TextBox 94"/>
          <p:cNvSpPr txBox="1"/>
          <p:nvPr/>
        </p:nvSpPr>
        <p:spPr>
          <a:xfrm>
            <a:off x="1920240" y="6492240"/>
            <a:ext cx="1097280" cy="274320"/>
          </a:xfrm>
          <a:prstGeom prst="rect">
            <a:avLst/>
          </a:prstGeom>
          <a:noFill/>
        </p:spPr>
        <p:txBody>
          <a:bodyPr wrap="square">
            <a:spAutoFit/>
          </a:bodyPr>
          <a:lstStyle/>
          <a:p>
            <a:pPr algn="l"/>
            <a:r>
              <a:rPr sz="1100" b="0" i="0">
                <a:solidFill>
                  <a:srgbClr val="F59E0B"/>
                </a:solidFill>
              </a:rPr>
              <a:t>■ HIGH</a:t>
            </a:r>
          </a:p>
        </p:txBody>
      </p:sp>
      <p:sp>
        <p:nvSpPr>
          <p:cNvPr id="96" name="TextBox 95"/>
          <p:cNvSpPr txBox="1"/>
          <p:nvPr/>
        </p:nvSpPr>
        <p:spPr>
          <a:xfrm>
            <a:off x="3017520" y="6492240"/>
            <a:ext cx="1371600" cy="274320"/>
          </a:xfrm>
          <a:prstGeom prst="rect">
            <a:avLst/>
          </a:prstGeom>
          <a:noFill/>
        </p:spPr>
        <p:txBody>
          <a:bodyPr wrap="square">
            <a:spAutoFit/>
          </a:bodyPr>
          <a:lstStyle/>
          <a:p>
            <a:pPr algn="l"/>
            <a:r>
              <a:rPr sz="1100" b="0" i="0">
                <a:solidFill>
                  <a:srgbClr val="3B82F6"/>
                </a:solidFill>
              </a:rPr>
              <a:t>■ MEDIUM</a:t>
            </a:r>
          </a:p>
        </p:txBody>
      </p:sp>
      <p:sp>
        <p:nvSpPr>
          <p:cNvPr id="97" name="TextBox 96"/>
          <p:cNvSpPr txBox="1"/>
          <p:nvPr/>
        </p:nvSpPr>
        <p:spPr>
          <a:xfrm>
            <a:off x="274320" y="6583680"/>
            <a:ext cx="11430000" cy="274320"/>
          </a:xfrm>
          <a:prstGeom prst="rect">
            <a:avLst/>
          </a:prstGeom>
          <a:noFill/>
        </p:spPr>
        <p:txBody>
          <a:bodyPr wrap="square">
            <a:spAutoFit/>
          </a:bodyPr>
          <a:lstStyle/>
          <a:p>
            <a:pPr algn="r"/>
            <a:r>
              <a:rPr sz="1100" b="0" i="0">
                <a:solidFill>
                  <a:srgbClr val="9999AA"/>
                </a:solidFill>
              </a:rPr>
              <a:t>Framework: CIS AWS Foundations Benchmark v1.4 — accepted by SOC2 / ISO 27001 / PCI DSS auditors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004"/>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Architecture &amp; Tech Stack</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Lean, modern, production-grade — deployed on Render</a:t>
            </a:r>
          </a:p>
        </p:txBody>
      </p:sp>
      <p:sp>
        <p:nvSpPr>
          <p:cNvPr id="6" name="Rectangle 5"/>
          <p:cNvSpPr/>
          <p:nvPr/>
        </p:nvSpPr>
        <p:spPr>
          <a:xfrm>
            <a:off x="320040" y="1234440"/>
            <a:ext cx="11521440" cy="591216"/>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0"/>
            <a:ext cx="2560320" cy="457200"/>
          </a:xfrm>
          <a:prstGeom prst="rect">
            <a:avLst/>
          </a:prstGeom>
          <a:noFill/>
        </p:spPr>
        <p:txBody>
          <a:bodyPr wrap="square">
            <a:spAutoFit/>
          </a:bodyPr>
          <a:lstStyle/>
          <a:p>
            <a:pPr algn="l"/>
            <a:r>
              <a:rPr sz="1500" b="1" i="0">
                <a:solidFill>
                  <a:srgbClr val="10B981"/>
                </a:solidFill>
              </a:rPr>
              <a:t>Frontend</a:t>
            </a:r>
          </a:p>
        </p:txBody>
      </p:sp>
      <p:sp>
        <p:nvSpPr>
          <p:cNvPr id="8" name="TextBox 7"/>
          <p:cNvSpPr txBox="1"/>
          <p:nvPr/>
        </p:nvSpPr>
        <p:spPr>
          <a:xfrm>
            <a:off x="2891790" y="1453135"/>
            <a:ext cx="8686800" cy="822960"/>
          </a:xfrm>
          <a:prstGeom prst="rect">
            <a:avLst/>
          </a:prstGeom>
          <a:noFill/>
        </p:spPr>
        <p:txBody>
          <a:bodyPr wrap="square">
            <a:spAutoFit/>
          </a:bodyPr>
          <a:lstStyle/>
          <a:p>
            <a:pPr algn="l"/>
            <a:r>
              <a:rPr sz="1300" b="0" i="0" dirty="0">
                <a:solidFill>
                  <a:srgbClr val="9999AA"/>
                </a:solidFill>
              </a:rPr>
              <a:t>Next.js 16 · React 19 · TypeScript · Tailwind CSS 4</a:t>
            </a:r>
          </a:p>
        </p:txBody>
      </p:sp>
      <p:sp>
        <p:nvSpPr>
          <p:cNvPr id="9" name="Rectangle 8"/>
          <p:cNvSpPr/>
          <p:nvPr/>
        </p:nvSpPr>
        <p:spPr>
          <a:xfrm>
            <a:off x="320040" y="2008536"/>
            <a:ext cx="11521440" cy="5486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785" y="2151936"/>
            <a:ext cx="2560320" cy="457200"/>
          </a:xfrm>
          <a:prstGeom prst="rect">
            <a:avLst/>
          </a:prstGeom>
          <a:noFill/>
        </p:spPr>
        <p:txBody>
          <a:bodyPr wrap="square">
            <a:spAutoFit/>
          </a:bodyPr>
          <a:lstStyle/>
          <a:p>
            <a:pPr algn="l"/>
            <a:r>
              <a:rPr sz="1500" b="1" i="0" dirty="0">
                <a:solidFill>
                  <a:srgbClr val="3B82F6"/>
                </a:solidFill>
              </a:rPr>
              <a:t>Backend API</a:t>
            </a:r>
          </a:p>
        </p:txBody>
      </p:sp>
      <p:sp>
        <p:nvSpPr>
          <p:cNvPr id="11" name="TextBox 10"/>
          <p:cNvSpPr txBox="1"/>
          <p:nvPr/>
        </p:nvSpPr>
        <p:spPr>
          <a:xfrm>
            <a:off x="2891790" y="2151936"/>
            <a:ext cx="8686800" cy="822960"/>
          </a:xfrm>
          <a:prstGeom prst="rect">
            <a:avLst/>
          </a:prstGeom>
          <a:noFill/>
        </p:spPr>
        <p:txBody>
          <a:bodyPr wrap="square">
            <a:spAutoFit/>
          </a:bodyPr>
          <a:lstStyle/>
          <a:p>
            <a:pPr algn="l"/>
            <a:r>
              <a:rPr sz="1300" b="0" i="0" dirty="0" err="1">
                <a:solidFill>
                  <a:srgbClr val="9999AA"/>
                </a:solidFill>
              </a:rPr>
              <a:t>FastAPI</a:t>
            </a:r>
            <a:r>
              <a:rPr sz="1300" b="0" i="0" dirty="0">
                <a:solidFill>
                  <a:srgbClr val="9999AA"/>
                </a:solidFill>
              </a:rPr>
              <a:t> (Python 3.12) · 8 Routers · Session Auth · Rate Limiting</a:t>
            </a:r>
          </a:p>
        </p:txBody>
      </p:sp>
      <p:sp>
        <p:nvSpPr>
          <p:cNvPr id="12" name="Rectangle 11"/>
          <p:cNvSpPr/>
          <p:nvPr/>
        </p:nvSpPr>
        <p:spPr>
          <a:xfrm>
            <a:off x="320040" y="2874359"/>
            <a:ext cx="11521440" cy="69180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TextBox 12"/>
          <p:cNvSpPr txBox="1"/>
          <p:nvPr/>
        </p:nvSpPr>
        <p:spPr>
          <a:xfrm>
            <a:off x="438785" y="3066571"/>
            <a:ext cx="2560320" cy="457200"/>
          </a:xfrm>
          <a:prstGeom prst="rect">
            <a:avLst/>
          </a:prstGeom>
          <a:noFill/>
        </p:spPr>
        <p:txBody>
          <a:bodyPr wrap="square">
            <a:spAutoFit/>
          </a:bodyPr>
          <a:lstStyle/>
          <a:p>
            <a:pPr algn="l"/>
            <a:r>
              <a:rPr sz="1500" b="1" i="0" dirty="0">
                <a:solidFill>
                  <a:srgbClr val="8B5CF6"/>
                </a:solidFill>
              </a:rPr>
              <a:t>Worker Engine</a:t>
            </a:r>
          </a:p>
        </p:txBody>
      </p:sp>
      <p:sp>
        <p:nvSpPr>
          <p:cNvPr id="14" name="TextBox 13"/>
          <p:cNvSpPr txBox="1"/>
          <p:nvPr/>
        </p:nvSpPr>
        <p:spPr>
          <a:xfrm>
            <a:off x="2999105" y="3035379"/>
            <a:ext cx="8686800" cy="822960"/>
          </a:xfrm>
          <a:prstGeom prst="rect">
            <a:avLst/>
          </a:prstGeom>
          <a:noFill/>
        </p:spPr>
        <p:txBody>
          <a:bodyPr wrap="square">
            <a:spAutoFit/>
          </a:bodyPr>
          <a:lstStyle/>
          <a:p>
            <a:pPr algn="l"/>
            <a:r>
              <a:rPr sz="1300" b="0" i="0" dirty="0">
                <a:solidFill>
                  <a:srgbClr val="9999AA"/>
                </a:solidFill>
              </a:rPr>
              <a:t>Python 3.12 · boto3 · 10 check modules · subprocess execution</a:t>
            </a:r>
          </a:p>
        </p:txBody>
      </p:sp>
      <p:sp>
        <p:nvSpPr>
          <p:cNvPr id="15" name="Rectangle 14"/>
          <p:cNvSpPr/>
          <p:nvPr/>
        </p:nvSpPr>
        <p:spPr>
          <a:xfrm>
            <a:off x="365760" y="3986214"/>
            <a:ext cx="11521440" cy="8229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4241198"/>
            <a:ext cx="2560320" cy="457200"/>
          </a:xfrm>
          <a:prstGeom prst="rect">
            <a:avLst/>
          </a:prstGeom>
          <a:noFill/>
        </p:spPr>
        <p:txBody>
          <a:bodyPr wrap="square">
            <a:spAutoFit/>
          </a:bodyPr>
          <a:lstStyle/>
          <a:p>
            <a:pPr algn="l"/>
            <a:r>
              <a:rPr sz="1500" b="1" i="0" dirty="0">
                <a:solidFill>
                  <a:srgbClr val="F59E0B"/>
                </a:solidFill>
              </a:rPr>
              <a:t>Database</a:t>
            </a:r>
          </a:p>
        </p:txBody>
      </p:sp>
      <p:sp>
        <p:nvSpPr>
          <p:cNvPr id="17" name="TextBox 16"/>
          <p:cNvSpPr txBox="1"/>
          <p:nvPr/>
        </p:nvSpPr>
        <p:spPr>
          <a:xfrm>
            <a:off x="2999105" y="4198333"/>
            <a:ext cx="8686800" cy="822960"/>
          </a:xfrm>
          <a:prstGeom prst="rect">
            <a:avLst/>
          </a:prstGeom>
          <a:noFill/>
        </p:spPr>
        <p:txBody>
          <a:bodyPr wrap="square">
            <a:spAutoFit/>
          </a:bodyPr>
          <a:lstStyle/>
          <a:p>
            <a:pPr algn="l"/>
            <a:r>
              <a:rPr sz="1300" b="0" i="0" dirty="0">
                <a:solidFill>
                  <a:srgbClr val="9999AA"/>
                </a:solidFill>
              </a:rPr>
              <a:t>PostgreSQL (Render) · SQLite fallback for local dev · auto-schema </a:t>
            </a:r>
            <a:r>
              <a:rPr sz="1300" b="0" i="0" dirty="0" err="1">
                <a:solidFill>
                  <a:srgbClr val="9999AA"/>
                </a:solidFill>
              </a:rPr>
              <a:t>init</a:t>
            </a:r>
            <a:endParaRPr sz="1300" b="0" i="0" dirty="0">
              <a:solidFill>
                <a:srgbClr val="9999AA"/>
              </a:solidFill>
            </a:endParaRPr>
          </a:p>
        </p:txBody>
      </p:sp>
      <p:sp>
        <p:nvSpPr>
          <p:cNvPr id="18" name="Rectangle 17"/>
          <p:cNvSpPr/>
          <p:nvPr/>
        </p:nvSpPr>
        <p:spPr>
          <a:xfrm>
            <a:off x="320040" y="5221795"/>
            <a:ext cx="11521440" cy="767715"/>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5455729"/>
            <a:ext cx="2560320" cy="457200"/>
          </a:xfrm>
          <a:prstGeom prst="rect">
            <a:avLst/>
          </a:prstGeom>
          <a:noFill/>
        </p:spPr>
        <p:txBody>
          <a:bodyPr wrap="square">
            <a:spAutoFit/>
          </a:bodyPr>
          <a:lstStyle/>
          <a:p>
            <a:pPr algn="l"/>
            <a:r>
              <a:rPr sz="1500" b="1" i="0" dirty="0">
                <a:solidFill>
                  <a:srgbClr val="10B981"/>
                </a:solidFill>
              </a:rPr>
              <a:t>AI Layer</a:t>
            </a:r>
          </a:p>
        </p:txBody>
      </p:sp>
      <p:sp>
        <p:nvSpPr>
          <p:cNvPr id="20" name="TextBox 19"/>
          <p:cNvSpPr txBox="1"/>
          <p:nvPr/>
        </p:nvSpPr>
        <p:spPr>
          <a:xfrm>
            <a:off x="2999105" y="5404865"/>
            <a:ext cx="8686800" cy="822960"/>
          </a:xfrm>
          <a:prstGeom prst="rect">
            <a:avLst/>
          </a:prstGeom>
          <a:noFill/>
        </p:spPr>
        <p:txBody>
          <a:bodyPr wrap="square">
            <a:spAutoFit/>
          </a:bodyPr>
          <a:lstStyle/>
          <a:p>
            <a:pPr algn="l"/>
            <a:r>
              <a:rPr sz="1300" b="0" i="0" dirty="0">
                <a:solidFill>
                  <a:srgbClr val="9999AA"/>
                </a:solidFill>
              </a:rPr>
              <a:t>Anthropic Claude Haiku · /scans/{id}/ai-analysis endpoint</a:t>
            </a:r>
          </a:p>
        </p:txBody>
      </p:sp>
      <p:sp>
        <p:nvSpPr>
          <p:cNvPr id="21" name="TextBox 20"/>
          <p:cNvSpPr txBox="1"/>
          <p:nvPr/>
        </p:nvSpPr>
        <p:spPr>
          <a:xfrm>
            <a:off x="438785" y="6310026"/>
            <a:ext cx="11521440" cy="274320"/>
          </a:xfrm>
          <a:prstGeom prst="rect">
            <a:avLst/>
          </a:prstGeom>
          <a:noFill/>
        </p:spPr>
        <p:txBody>
          <a:bodyPr wrap="square">
            <a:spAutoFit/>
          </a:bodyPr>
          <a:lstStyle/>
          <a:p>
            <a:pPr algn="ctr"/>
            <a:r>
              <a:rPr sz="1100" b="0" i="0" dirty="0">
                <a:solidFill>
                  <a:srgbClr val="9999AA"/>
                </a:solidFill>
              </a:rPr>
              <a:t>Infra: Render.com (backend + UI + DB)  ·  CloudFormation for customer IAM roles  ·  </a:t>
            </a:r>
            <a:r>
              <a:rPr sz="1100" b="0" i="0" dirty="0" err="1">
                <a:solidFill>
                  <a:srgbClr val="9999AA"/>
                </a:solidFill>
              </a:rPr>
              <a:t>Razorpay</a:t>
            </a:r>
            <a:r>
              <a:rPr sz="1100" b="0" i="0" dirty="0">
                <a:solidFill>
                  <a:srgbClr val="9999AA"/>
                </a:solidFill>
              </a:rPr>
              <a:t> payments  ·  Auto-deploys from main branch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Key Features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Beyond scanning — a complete compliance workflow</a:t>
            </a:r>
          </a:p>
        </p:txBody>
      </p:sp>
      <p:sp>
        <p:nvSpPr>
          <p:cNvPr id="6" name="Rectangle 5"/>
          <p:cNvSpPr/>
          <p:nvPr/>
        </p:nvSpPr>
        <p:spPr>
          <a:xfrm>
            <a:off x="274320" y="1234440"/>
            <a:ext cx="3611880" cy="21945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79" y="1325880"/>
            <a:ext cx="457200" cy="457200"/>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868680" y="1325880"/>
            <a:ext cx="2834640" cy="457200"/>
          </a:xfrm>
          <a:prstGeom prst="rect">
            <a:avLst/>
          </a:prstGeom>
          <a:noFill/>
        </p:spPr>
        <p:txBody>
          <a:bodyPr wrap="square">
            <a:spAutoFit/>
          </a:bodyPr>
          <a:lstStyle/>
          <a:p>
            <a:pPr algn="l"/>
            <a:r>
              <a:rPr sz="1400" b="1" i="0">
                <a:solidFill>
                  <a:srgbClr val="10B981"/>
                </a:solidFill>
              </a:rPr>
              <a:t>Fix Guidance</a:t>
            </a:r>
          </a:p>
        </p:txBody>
      </p:sp>
      <p:sp>
        <p:nvSpPr>
          <p:cNvPr id="9" name="TextBox 8"/>
          <p:cNvSpPr txBox="1"/>
          <p:nvPr/>
        </p:nvSpPr>
        <p:spPr>
          <a:xfrm>
            <a:off x="411479" y="1856232"/>
            <a:ext cx="3337560" cy="1417320"/>
          </a:xfrm>
          <a:prstGeom prst="rect">
            <a:avLst/>
          </a:prstGeom>
          <a:noFill/>
        </p:spPr>
        <p:txBody>
          <a:bodyPr wrap="square">
            <a:spAutoFit/>
          </a:bodyPr>
          <a:lstStyle/>
          <a:p>
            <a:pPr algn="l"/>
            <a:r>
              <a:rPr sz="1100" b="0" i="0">
                <a:solidFill>
                  <a:srgbClr val="9999AA"/>
                </a:solidFill>
              </a:rPr>
              <a:t>Every finding includes: AWS Console path, CLI command, Terraform block, CDK snippet. Copy-paste ready.</a:t>
            </a:r>
          </a:p>
        </p:txBody>
      </p:sp>
      <p:sp>
        <p:nvSpPr>
          <p:cNvPr id="10" name="Rectangle 9"/>
          <p:cNvSpPr/>
          <p:nvPr/>
        </p:nvSpPr>
        <p:spPr>
          <a:xfrm>
            <a:off x="4114800" y="1234440"/>
            <a:ext cx="3611880" cy="21945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51960" y="1325880"/>
            <a:ext cx="457200" cy="457200"/>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4709160" y="1325880"/>
            <a:ext cx="2834640" cy="457200"/>
          </a:xfrm>
          <a:prstGeom prst="rect">
            <a:avLst/>
          </a:prstGeom>
          <a:noFill/>
        </p:spPr>
        <p:txBody>
          <a:bodyPr wrap="square">
            <a:spAutoFit/>
          </a:bodyPr>
          <a:lstStyle/>
          <a:p>
            <a:pPr algn="l"/>
            <a:r>
              <a:rPr sz="1400" b="1" i="0">
                <a:solidFill>
                  <a:srgbClr val="3B82F6"/>
                </a:solidFill>
              </a:rPr>
              <a:t>Drift Monitoring</a:t>
            </a:r>
          </a:p>
        </p:txBody>
      </p:sp>
      <p:sp>
        <p:nvSpPr>
          <p:cNvPr id="13" name="TextBox 12"/>
          <p:cNvSpPr txBox="1"/>
          <p:nvPr/>
        </p:nvSpPr>
        <p:spPr>
          <a:xfrm>
            <a:off x="4251960" y="1856232"/>
            <a:ext cx="3337560" cy="1417320"/>
          </a:xfrm>
          <a:prstGeom prst="rect">
            <a:avLst/>
          </a:prstGeom>
          <a:noFill/>
        </p:spPr>
        <p:txBody>
          <a:bodyPr wrap="square">
            <a:spAutoFit/>
          </a:bodyPr>
          <a:lstStyle/>
          <a:p>
            <a:pPr algn="l"/>
            <a:r>
              <a:rPr sz="1100" b="0" i="0">
                <a:solidFill>
                  <a:srgbClr val="9999AA"/>
                </a:solidFill>
              </a:rPr>
              <a:t>Compare current scan to previous. See NEW issues, REMEDIATED items, and UNCHANGED risks on a timeline.</a:t>
            </a:r>
          </a:p>
        </p:txBody>
      </p:sp>
      <p:sp>
        <p:nvSpPr>
          <p:cNvPr id="14" name="Rectangle 13"/>
          <p:cNvSpPr/>
          <p:nvPr/>
        </p:nvSpPr>
        <p:spPr>
          <a:xfrm>
            <a:off x="7955279" y="1234440"/>
            <a:ext cx="3611880" cy="21945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92440" y="1325880"/>
            <a:ext cx="457200" cy="457200"/>
          </a:xfrm>
          <a:prstGeom prst="rect">
            <a:avLst/>
          </a:prstGeom>
          <a:noFill/>
        </p:spPr>
        <p:txBody>
          <a:bodyPr wrap="square">
            <a:spAutoFit/>
          </a:bodyPr>
          <a:lstStyle/>
          <a:p>
            <a:pPr algn="l"/>
            <a:r>
              <a:rPr sz="2000" b="0" i="0">
                <a:solidFill>
                  <a:srgbClr val="FFFFFF"/>
                </a:solidFill>
              </a:rPr>
              <a:t>🤖</a:t>
            </a:r>
          </a:p>
        </p:txBody>
      </p:sp>
      <p:sp>
        <p:nvSpPr>
          <p:cNvPr id="16" name="TextBox 15"/>
          <p:cNvSpPr txBox="1"/>
          <p:nvPr/>
        </p:nvSpPr>
        <p:spPr>
          <a:xfrm>
            <a:off x="8549640" y="1325880"/>
            <a:ext cx="2834640" cy="457200"/>
          </a:xfrm>
          <a:prstGeom prst="rect">
            <a:avLst/>
          </a:prstGeom>
          <a:noFill/>
        </p:spPr>
        <p:txBody>
          <a:bodyPr wrap="square">
            <a:spAutoFit/>
          </a:bodyPr>
          <a:lstStyle/>
          <a:p>
            <a:pPr algn="l"/>
            <a:r>
              <a:rPr sz="1400" b="1" i="0">
                <a:solidFill>
                  <a:srgbClr val="8B5CF6"/>
                </a:solidFill>
              </a:rPr>
              <a:t>AI Analysis</a:t>
            </a:r>
          </a:p>
        </p:txBody>
      </p:sp>
      <p:sp>
        <p:nvSpPr>
          <p:cNvPr id="17" name="TextBox 16"/>
          <p:cNvSpPr txBox="1"/>
          <p:nvPr/>
        </p:nvSpPr>
        <p:spPr>
          <a:xfrm>
            <a:off x="8092440" y="1856232"/>
            <a:ext cx="3337560" cy="1417320"/>
          </a:xfrm>
          <a:prstGeom prst="rect">
            <a:avLst/>
          </a:prstGeom>
          <a:noFill/>
        </p:spPr>
        <p:txBody>
          <a:bodyPr wrap="square">
            <a:spAutoFit/>
          </a:bodyPr>
          <a:lstStyle/>
          <a:p>
            <a:pPr algn="l"/>
            <a:r>
              <a:rPr sz="1100" b="0" i="0">
                <a:solidFill>
                  <a:srgbClr val="9999AA"/>
                </a:solidFill>
              </a:rPr>
              <a:t>Claude Haiku writes executive summaries in plain English. One click — shareable with CTOs and auditors.</a:t>
            </a:r>
          </a:p>
        </p:txBody>
      </p:sp>
      <p:sp>
        <p:nvSpPr>
          <p:cNvPr id="18" name="Rectangle 17"/>
          <p:cNvSpPr/>
          <p:nvPr/>
        </p:nvSpPr>
        <p:spPr>
          <a:xfrm>
            <a:off x="274320" y="3657600"/>
            <a:ext cx="3611880" cy="21945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3749039"/>
            <a:ext cx="457200" cy="457200"/>
          </a:xfrm>
          <a:prstGeom prst="rect">
            <a:avLst/>
          </a:prstGeom>
          <a:noFill/>
        </p:spPr>
        <p:txBody>
          <a:bodyPr wrap="square">
            <a:spAutoFit/>
          </a:bodyPr>
          <a:lstStyle/>
          <a:p>
            <a:pPr algn="l"/>
            <a:r>
              <a:rPr sz="2000" b="0" i="0">
                <a:solidFill>
                  <a:srgbClr val="FFFFFF"/>
                </a:solidFill>
              </a:rPr>
              <a:t>📤</a:t>
            </a:r>
          </a:p>
        </p:txBody>
      </p:sp>
      <p:sp>
        <p:nvSpPr>
          <p:cNvPr id="20" name="TextBox 19"/>
          <p:cNvSpPr txBox="1"/>
          <p:nvPr/>
        </p:nvSpPr>
        <p:spPr>
          <a:xfrm>
            <a:off x="868680" y="3749039"/>
            <a:ext cx="2834640" cy="457200"/>
          </a:xfrm>
          <a:prstGeom prst="rect">
            <a:avLst/>
          </a:prstGeom>
          <a:noFill/>
        </p:spPr>
        <p:txBody>
          <a:bodyPr wrap="square">
            <a:spAutoFit/>
          </a:bodyPr>
          <a:lstStyle/>
          <a:p>
            <a:pPr algn="l"/>
            <a:r>
              <a:rPr sz="1400" b="1" i="0">
                <a:solidFill>
                  <a:srgbClr val="F59E0B"/>
                </a:solidFill>
              </a:rPr>
              <a:t>Evidence Exports</a:t>
            </a:r>
          </a:p>
        </p:txBody>
      </p:sp>
      <p:sp>
        <p:nvSpPr>
          <p:cNvPr id="21" name="TextBox 20"/>
          <p:cNvSpPr txBox="1"/>
          <p:nvPr/>
        </p:nvSpPr>
        <p:spPr>
          <a:xfrm>
            <a:off x="411479" y="4279392"/>
            <a:ext cx="3337560" cy="1417320"/>
          </a:xfrm>
          <a:prstGeom prst="rect">
            <a:avLst/>
          </a:prstGeom>
          <a:noFill/>
        </p:spPr>
        <p:txBody>
          <a:bodyPr wrap="square">
            <a:spAutoFit/>
          </a:bodyPr>
          <a:lstStyle/>
          <a:p>
            <a:pPr algn="l"/>
            <a:r>
              <a:rPr sz="1100" b="0" i="0">
                <a:solidFill>
                  <a:srgbClr val="9999AA"/>
                </a:solidFill>
              </a:rPr>
              <a:t>Export findings as CSV, JSON, or PDF. Accepted by SOC2, ISO 27001, PCI DSS auditors as compliance evidence.</a:t>
            </a:r>
          </a:p>
        </p:txBody>
      </p:sp>
      <p:sp>
        <p:nvSpPr>
          <p:cNvPr id="22" name="Rectangle 21"/>
          <p:cNvSpPr/>
          <p:nvPr/>
        </p:nvSpPr>
        <p:spPr>
          <a:xfrm>
            <a:off x="4114800" y="3657600"/>
            <a:ext cx="3611880" cy="2194560"/>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51960" y="3749039"/>
            <a:ext cx="457200" cy="457200"/>
          </a:xfrm>
          <a:prstGeom prst="rect">
            <a:avLst/>
          </a:prstGeom>
          <a:noFill/>
        </p:spPr>
        <p:txBody>
          <a:bodyPr wrap="square">
            <a:spAutoFit/>
          </a:bodyPr>
          <a:lstStyle/>
          <a:p>
            <a:pPr algn="l"/>
            <a:r>
              <a:rPr sz="2000" b="0" i="0">
                <a:solidFill>
                  <a:srgbClr val="FFFFFF"/>
                </a:solidFill>
              </a:rPr>
              <a:t>🔗</a:t>
            </a:r>
          </a:p>
        </p:txBody>
      </p:sp>
      <p:sp>
        <p:nvSpPr>
          <p:cNvPr id="24" name="TextBox 23"/>
          <p:cNvSpPr txBox="1"/>
          <p:nvPr/>
        </p:nvSpPr>
        <p:spPr>
          <a:xfrm>
            <a:off x="4709160" y="3749039"/>
            <a:ext cx="2834640" cy="457200"/>
          </a:xfrm>
          <a:prstGeom prst="rect">
            <a:avLst/>
          </a:prstGeom>
          <a:noFill/>
        </p:spPr>
        <p:txBody>
          <a:bodyPr wrap="square">
            <a:spAutoFit/>
          </a:bodyPr>
          <a:lstStyle/>
          <a:p>
            <a:pPr algn="l"/>
            <a:r>
              <a:rPr sz="1400" b="1" i="0">
                <a:solidFill>
                  <a:srgbClr val="EF4444"/>
                </a:solidFill>
              </a:rPr>
              <a:t>Integrations</a:t>
            </a:r>
          </a:p>
        </p:txBody>
      </p:sp>
      <p:sp>
        <p:nvSpPr>
          <p:cNvPr id="25" name="TextBox 24"/>
          <p:cNvSpPr txBox="1"/>
          <p:nvPr/>
        </p:nvSpPr>
        <p:spPr>
          <a:xfrm>
            <a:off x="4251960" y="4279392"/>
            <a:ext cx="3337560" cy="1417320"/>
          </a:xfrm>
          <a:prstGeom prst="rect">
            <a:avLst/>
          </a:prstGeom>
          <a:noFill/>
        </p:spPr>
        <p:txBody>
          <a:bodyPr wrap="square">
            <a:spAutoFit/>
          </a:bodyPr>
          <a:lstStyle/>
          <a:p>
            <a:pPr algn="l"/>
            <a:r>
              <a:rPr sz="1100" b="0" i="0">
                <a:solidFill>
                  <a:srgbClr val="9999AA"/>
                </a:solidFill>
              </a:rPr>
              <a:t>Jira auto-issues · GitHub PR drafts · Slack/Teams alerts · CI/CD REST API with API keys.</a:t>
            </a:r>
          </a:p>
        </p:txBody>
      </p:sp>
      <p:sp>
        <p:nvSpPr>
          <p:cNvPr id="26" name="Rectangle 25"/>
          <p:cNvSpPr/>
          <p:nvPr/>
        </p:nvSpPr>
        <p:spPr>
          <a:xfrm>
            <a:off x="7955279" y="3657600"/>
            <a:ext cx="3611880" cy="21945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92440" y="3749039"/>
            <a:ext cx="457200" cy="457200"/>
          </a:xfrm>
          <a:prstGeom prst="rect">
            <a:avLst/>
          </a:prstGeom>
          <a:noFill/>
        </p:spPr>
        <p:txBody>
          <a:bodyPr wrap="square">
            <a:spAutoFit/>
          </a:bodyPr>
          <a:lstStyle/>
          <a:p>
            <a:pPr algn="l"/>
            <a:r>
              <a:rPr sz="2000" b="0" i="0">
                <a:solidFill>
                  <a:srgbClr val="FFFFFF"/>
                </a:solidFill>
              </a:rPr>
              <a:t>✅</a:t>
            </a:r>
          </a:p>
        </p:txBody>
      </p:sp>
      <p:sp>
        <p:nvSpPr>
          <p:cNvPr id="28" name="TextBox 27"/>
          <p:cNvSpPr txBox="1"/>
          <p:nvPr/>
        </p:nvSpPr>
        <p:spPr>
          <a:xfrm>
            <a:off x="8549640" y="3749039"/>
            <a:ext cx="2834640" cy="457200"/>
          </a:xfrm>
          <a:prstGeom prst="rect">
            <a:avLst/>
          </a:prstGeom>
          <a:noFill/>
        </p:spPr>
        <p:txBody>
          <a:bodyPr wrap="square">
            <a:spAutoFit/>
          </a:bodyPr>
          <a:lstStyle/>
          <a:p>
            <a:pPr algn="l"/>
            <a:r>
              <a:rPr sz="1400" b="1" i="0">
                <a:solidFill>
                  <a:srgbClr val="10B981"/>
                </a:solidFill>
              </a:rPr>
              <a:t>Approval Workflows</a:t>
            </a:r>
          </a:p>
        </p:txBody>
      </p:sp>
      <p:sp>
        <p:nvSpPr>
          <p:cNvPr id="29" name="TextBox 28"/>
          <p:cNvSpPr txBox="1"/>
          <p:nvPr/>
        </p:nvSpPr>
        <p:spPr>
          <a:xfrm>
            <a:off x="8092440" y="4279392"/>
            <a:ext cx="3337560" cy="1417320"/>
          </a:xfrm>
          <a:prstGeom prst="rect">
            <a:avLst/>
          </a:prstGeom>
          <a:noFill/>
        </p:spPr>
        <p:txBody>
          <a:bodyPr wrap="square">
            <a:spAutoFit/>
          </a:bodyPr>
          <a:lstStyle/>
          <a:p>
            <a:pPr algn="l"/>
            <a:r>
              <a:rPr sz="1100" b="0" i="0">
                <a:solidFill>
                  <a:srgbClr val="9999AA"/>
                </a:solidFill>
              </a:rPr>
              <a:t>Team members request remediation → approver reviews → audit log of every decision. Required for Pro/MSP teams.</a:t>
            </a:r>
          </a:p>
        </p:txBody>
      </p:sp>
      <p:sp>
        <p:nvSpPr>
          <p:cNvPr id="30" name="Rectangle 29"/>
          <p:cNvSpPr/>
          <p:nvPr/>
        </p:nvSpPr>
        <p:spPr>
          <a:xfrm>
            <a:off x="274320" y="6080760"/>
            <a:ext cx="3611880" cy="21945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79" y="6172200"/>
            <a:ext cx="457200" cy="457200"/>
          </a:xfrm>
          <a:prstGeom prst="rect">
            <a:avLst/>
          </a:prstGeom>
          <a:noFill/>
        </p:spPr>
        <p:txBody>
          <a:bodyPr wrap="square">
            <a:spAutoFit/>
          </a:bodyPr>
          <a:lstStyle/>
          <a:p>
            <a:pPr algn="l"/>
            <a:r>
              <a:rPr sz="2000" b="0" i="0">
                <a:solidFill>
                  <a:srgbClr val="FFFFFF"/>
                </a:solidFill>
              </a:rPr>
              <a:t>🏢</a:t>
            </a:r>
          </a:p>
        </p:txBody>
      </p:sp>
      <p:sp>
        <p:nvSpPr>
          <p:cNvPr id="32" name="TextBox 31"/>
          <p:cNvSpPr txBox="1"/>
          <p:nvPr/>
        </p:nvSpPr>
        <p:spPr>
          <a:xfrm>
            <a:off x="868680" y="6172200"/>
            <a:ext cx="2834640" cy="457200"/>
          </a:xfrm>
          <a:prstGeom prst="rect">
            <a:avLst/>
          </a:prstGeom>
          <a:noFill/>
        </p:spPr>
        <p:txBody>
          <a:bodyPr wrap="square">
            <a:spAutoFit/>
          </a:bodyPr>
          <a:lstStyle/>
          <a:p>
            <a:pPr algn="l"/>
            <a:r>
              <a:rPr sz="1400" b="1" i="0">
                <a:solidFill>
                  <a:srgbClr val="3B82F6"/>
                </a:solidFill>
              </a:rPr>
              <a:t>MSP Multi-Tenant</a:t>
            </a:r>
          </a:p>
        </p:txBody>
      </p:sp>
      <p:sp>
        <p:nvSpPr>
          <p:cNvPr id="33" name="TextBox 32"/>
          <p:cNvSpPr txBox="1"/>
          <p:nvPr/>
        </p:nvSpPr>
        <p:spPr>
          <a:xfrm>
            <a:off x="411479" y="6702552"/>
            <a:ext cx="3337560" cy="1417320"/>
          </a:xfrm>
          <a:prstGeom prst="rect">
            <a:avLst/>
          </a:prstGeom>
          <a:noFill/>
        </p:spPr>
        <p:txBody>
          <a:bodyPr wrap="square">
            <a:spAutoFit/>
          </a:bodyPr>
          <a:lstStyle/>
          <a:p>
            <a:pPr algn="l"/>
            <a:r>
              <a:rPr sz="1100" b="0" i="0">
                <a:solidFill>
                  <a:srgbClr val="9999AA"/>
                </a:solidFill>
              </a:rPr>
              <a:t>Group accounts by client. Aggregate risk per customer. Bulk scan all clients. Separate findings and billing per group.</a:t>
            </a:r>
          </a:p>
        </p:txBody>
      </p:sp>
      <p:sp>
        <p:nvSpPr>
          <p:cNvPr id="34" name="Rectangle 33"/>
          <p:cNvSpPr/>
          <p:nvPr/>
        </p:nvSpPr>
        <p:spPr>
          <a:xfrm>
            <a:off x="4114800" y="6080760"/>
            <a:ext cx="3611880" cy="21945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251960" y="6172200"/>
            <a:ext cx="457200" cy="457200"/>
          </a:xfrm>
          <a:prstGeom prst="rect">
            <a:avLst/>
          </a:prstGeom>
          <a:noFill/>
        </p:spPr>
        <p:txBody>
          <a:bodyPr wrap="square">
            <a:spAutoFit/>
          </a:bodyPr>
          <a:lstStyle/>
          <a:p>
            <a:pPr algn="l"/>
            <a:r>
              <a:rPr sz="2000" b="0" i="0">
                <a:solidFill>
                  <a:srgbClr val="FFFFFF"/>
                </a:solidFill>
              </a:rPr>
              <a:t>⏰</a:t>
            </a:r>
          </a:p>
        </p:txBody>
      </p:sp>
      <p:sp>
        <p:nvSpPr>
          <p:cNvPr id="36" name="TextBox 35"/>
          <p:cNvSpPr txBox="1"/>
          <p:nvPr/>
        </p:nvSpPr>
        <p:spPr>
          <a:xfrm>
            <a:off x="4709160" y="6172200"/>
            <a:ext cx="2834640" cy="457200"/>
          </a:xfrm>
          <a:prstGeom prst="rect">
            <a:avLst/>
          </a:prstGeom>
          <a:noFill/>
        </p:spPr>
        <p:txBody>
          <a:bodyPr wrap="square">
            <a:spAutoFit/>
          </a:bodyPr>
          <a:lstStyle/>
          <a:p>
            <a:pPr algn="l"/>
            <a:r>
              <a:rPr sz="1400" b="1" i="0">
                <a:solidFill>
                  <a:srgbClr val="F59E0B"/>
                </a:solidFill>
              </a:rPr>
              <a:t>Scheduled Scans</a:t>
            </a:r>
          </a:p>
        </p:txBody>
      </p:sp>
      <p:sp>
        <p:nvSpPr>
          <p:cNvPr id="37" name="TextBox 36"/>
          <p:cNvSpPr txBox="1"/>
          <p:nvPr/>
        </p:nvSpPr>
        <p:spPr>
          <a:xfrm>
            <a:off x="4251960" y="6702552"/>
            <a:ext cx="3337560" cy="1417320"/>
          </a:xfrm>
          <a:prstGeom prst="rect">
            <a:avLst/>
          </a:prstGeom>
          <a:noFill/>
        </p:spPr>
        <p:txBody>
          <a:bodyPr wrap="square">
            <a:spAutoFit/>
          </a:bodyPr>
          <a:lstStyle/>
          <a:p>
            <a:pPr algn="l"/>
            <a:r>
              <a:rPr sz="1100" b="0" i="0">
                <a:solidFill>
                  <a:srgbClr val="9999AA"/>
                </a:solidFill>
              </a:rPr>
              <a:t>Daily or weekly automated scans. Instant email alert on new CRITICAL findings. Set it and forget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AI-Powered Analysis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Claude Haiku turns raw findings into executive-ready insights</a:t>
            </a:r>
          </a:p>
        </p:txBody>
      </p:sp>
      <p:sp>
        <p:nvSpPr>
          <p:cNvPr id="6" name="Rectangle 5"/>
          <p:cNvSpPr/>
          <p:nvPr/>
        </p:nvSpPr>
        <p:spPr>
          <a:xfrm>
            <a:off x="274320" y="1234440"/>
            <a:ext cx="2103120" cy="210312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71600"/>
            <a:ext cx="1920240" cy="822960"/>
          </a:xfrm>
          <a:prstGeom prst="rect">
            <a:avLst/>
          </a:prstGeom>
          <a:noFill/>
        </p:spPr>
        <p:txBody>
          <a:bodyPr wrap="square">
            <a:spAutoFit/>
          </a:bodyPr>
          <a:lstStyle/>
          <a:p>
            <a:pPr algn="ctr"/>
            <a:r>
              <a:rPr sz="1300" b="1" i="0">
                <a:solidFill>
                  <a:srgbClr val="3B82F6"/>
                </a:solidFill>
              </a:rPr>
              <a:t>Scan Completes</a:t>
            </a:r>
          </a:p>
        </p:txBody>
      </p:sp>
      <p:sp>
        <p:nvSpPr>
          <p:cNvPr id="8" name="TextBox 7"/>
          <p:cNvSpPr txBox="1"/>
          <p:nvPr/>
        </p:nvSpPr>
        <p:spPr>
          <a:xfrm>
            <a:off x="365760" y="2240280"/>
            <a:ext cx="1920240" cy="914400"/>
          </a:xfrm>
          <a:prstGeom prst="rect">
            <a:avLst/>
          </a:prstGeom>
          <a:noFill/>
        </p:spPr>
        <p:txBody>
          <a:bodyPr wrap="square">
            <a:spAutoFit/>
          </a:bodyPr>
          <a:lstStyle/>
          <a:p>
            <a:pPr algn="ctr"/>
            <a:r>
              <a:rPr sz="1100" b="0" i="0">
                <a:solidFill>
                  <a:srgbClr val="9999AA"/>
                </a:solidFill>
              </a:rPr>
              <a:t>10 checks run;
findings saved to DB</a:t>
            </a:r>
          </a:p>
        </p:txBody>
      </p:sp>
      <p:sp>
        <p:nvSpPr>
          <p:cNvPr id="9" name="TextBox 8"/>
          <p:cNvSpPr txBox="1"/>
          <p:nvPr/>
        </p:nvSpPr>
        <p:spPr>
          <a:xfrm>
            <a:off x="2450591" y="2011680"/>
            <a:ext cx="320040" cy="457200"/>
          </a:xfrm>
          <a:prstGeom prst="rect">
            <a:avLst/>
          </a:prstGeom>
          <a:noFill/>
        </p:spPr>
        <p:txBody>
          <a:bodyPr wrap="square">
            <a:spAutoFit/>
          </a:bodyPr>
          <a:lstStyle/>
          <a:p>
            <a:pPr algn="ctr"/>
            <a:r>
              <a:rPr sz="2000" b="0" i="0">
                <a:solidFill>
                  <a:srgbClr val="10B981"/>
                </a:solidFill>
              </a:rPr>
              <a:t>→</a:t>
            </a:r>
          </a:p>
        </p:txBody>
      </p:sp>
      <p:sp>
        <p:nvSpPr>
          <p:cNvPr id="10" name="Rectangle 9"/>
          <p:cNvSpPr/>
          <p:nvPr/>
        </p:nvSpPr>
        <p:spPr>
          <a:xfrm>
            <a:off x="2633472" y="1234440"/>
            <a:ext cx="2103120" cy="2103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24912" y="1371600"/>
            <a:ext cx="1920240" cy="822960"/>
          </a:xfrm>
          <a:prstGeom prst="rect">
            <a:avLst/>
          </a:prstGeom>
          <a:noFill/>
        </p:spPr>
        <p:txBody>
          <a:bodyPr wrap="square">
            <a:spAutoFit/>
          </a:bodyPr>
          <a:lstStyle/>
          <a:p>
            <a:pPr algn="ctr"/>
            <a:r>
              <a:rPr sz="1300" b="1" i="0">
                <a:solidFill>
                  <a:srgbClr val="10B981"/>
                </a:solidFill>
              </a:rPr>
              <a:t>User Clicks
'AI Analysis'</a:t>
            </a:r>
          </a:p>
        </p:txBody>
      </p:sp>
      <p:sp>
        <p:nvSpPr>
          <p:cNvPr id="12" name="TextBox 11"/>
          <p:cNvSpPr txBox="1"/>
          <p:nvPr/>
        </p:nvSpPr>
        <p:spPr>
          <a:xfrm>
            <a:off x="2724912" y="2240280"/>
            <a:ext cx="1920240" cy="914400"/>
          </a:xfrm>
          <a:prstGeom prst="rect">
            <a:avLst/>
          </a:prstGeom>
          <a:noFill/>
        </p:spPr>
        <p:txBody>
          <a:bodyPr wrap="square">
            <a:spAutoFit/>
          </a:bodyPr>
          <a:lstStyle/>
          <a:p>
            <a:pPr algn="ctr"/>
            <a:r>
              <a:rPr sz="1100" b="0" i="0">
                <a:solidFill>
                  <a:srgbClr val="9999AA"/>
                </a:solidFill>
              </a:rPr>
              <a:t>POST /scans/{id}/ai-analysis</a:t>
            </a:r>
          </a:p>
        </p:txBody>
      </p:sp>
      <p:sp>
        <p:nvSpPr>
          <p:cNvPr id="13" name="TextBox 12"/>
          <p:cNvSpPr txBox="1"/>
          <p:nvPr/>
        </p:nvSpPr>
        <p:spPr>
          <a:xfrm>
            <a:off x="4809744" y="2011680"/>
            <a:ext cx="320040" cy="457200"/>
          </a:xfrm>
          <a:prstGeom prst="rect">
            <a:avLst/>
          </a:prstGeom>
          <a:noFill/>
        </p:spPr>
        <p:txBody>
          <a:bodyPr wrap="square">
            <a:spAutoFit/>
          </a:bodyPr>
          <a:lstStyle/>
          <a:p>
            <a:pPr algn="ctr"/>
            <a:r>
              <a:rPr sz="2000" b="0" i="0">
                <a:solidFill>
                  <a:srgbClr val="10B981"/>
                </a:solidFill>
              </a:rPr>
              <a:t>→</a:t>
            </a:r>
          </a:p>
        </p:txBody>
      </p:sp>
      <p:sp>
        <p:nvSpPr>
          <p:cNvPr id="14" name="Rectangle 13"/>
          <p:cNvSpPr/>
          <p:nvPr/>
        </p:nvSpPr>
        <p:spPr>
          <a:xfrm>
            <a:off x="4992624" y="1234440"/>
            <a:ext cx="2103120" cy="210312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4064" y="1371600"/>
            <a:ext cx="1920240" cy="822960"/>
          </a:xfrm>
          <a:prstGeom prst="rect">
            <a:avLst/>
          </a:prstGeom>
          <a:noFill/>
        </p:spPr>
        <p:txBody>
          <a:bodyPr wrap="square">
            <a:spAutoFit/>
          </a:bodyPr>
          <a:lstStyle/>
          <a:p>
            <a:pPr algn="ctr"/>
            <a:r>
              <a:rPr sz="1300" b="1" i="0">
                <a:solidFill>
                  <a:srgbClr val="8B5CF6"/>
                </a:solidFill>
              </a:rPr>
              <a:t>Backend Builds
Prompt</a:t>
            </a:r>
          </a:p>
        </p:txBody>
      </p:sp>
      <p:sp>
        <p:nvSpPr>
          <p:cNvPr id="16" name="TextBox 15"/>
          <p:cNvSpPr txBox="1"/>
          <p:nvPr/>
        </p:nvSpPr>
        <p:spPr>
          <a:xfrm>
            <a:off x="5084064" y="2240280"/>
            <a:ext cx="1920240" cy="914400"/>
          </a:xfrm>
          <a:prstGeom prst="rect">
            <a:avLst/>
          </a:prstGeom>
          <a:noFill/>
        </p:spPr>
        <p:txBody>
          <a:bodyPr wrap="square">
            <a:spAutoFit/>
          </a:bodyPr>
          <a:lstStyle/>
          <a:p>
            <a:pPr algn="ctr"/>
            <a:r>
              <a:rPr sz="1100" b="0" i="0">
                <a:solidFill>
                  <a:srgbClr val="9999AA"/>
                </a:solidFill>
              </a:rPr>
              <a:t>Injects all findings,
severities, resources</a:t>
            </a:r>
          </a:p>
        </p:txBody>
      </p:sp>
      <p:sp>
        <p:nvSpPr>
          <p:cNvPr id="17" name="TextBox 16"/>
          <p:cNvSpPr txBox="1"/>
          <p:nvPr/>
        </p:nvSpPr>
        <p:spPr>
          <a:xfrm>
            <a:off x="7168896" y="2011680"/>
            <a:ext cx="320040" cy="457200"/>
          </a:xfrm>
          <a:prstGeom prst="rect">
            <a:avLst/>
          </a:prstGeom>
          <a:noFill/>
        </p:spPr>
        <p:txBody>
          <a:bodyPr wrap="square">
            <a:spAutoFit/>
          </a:bodyPr>
          <a:lstStyle/>
          <a:p>
            <a:pPr algn="ctr"/>
            <a:r>
              <a:rPr sz="2000" b="0" i="0">
                <a:solidFill>
                  <a:srgbClr val="10B981"/>
                </a:solidFill>
              </a:rPr>
              <a:t>→</a:t>
            </a:r>
          </a:p>
        </p:txBody>
      </p:sp>
      <p:sp>
        <p:nvSpPr>
          <p:cNvPr id="18" name="Rectangle 17"/>
          <p:cNvSpPr/>
          <p:nvPr/>
        </p:nvSpPr>
        <p:spPr>
          <a:xfrm>
            <a:off x="7351776" y="1234440"/>
            <a:ext cx="2103120" cy="210312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43216" y="1371600"/>
            <a:ext cx="1920240" cy="822960"/>
          </a:xfrm>
          <a:prstGeom prst="rect">
            <a:avLst/>
          </a:prstGeom>
          <a:noFill/>
        </p:spPr>
        <p:txBody>
          <a:bodyPr wrap="square">
            <a:spAutoFit/>
          </a:bodyPr>
          <a:lstStyle/>
          <a:p>
            <a:pPr algn="ctr"/>
            <a:r>
              <a:rPr sz="1300" b="1" i="0">
                <a:solidFill>
                  <a:srgbClr val="F59E0B"/>
                </a:solidFill>
              </a:rPr>
              <a:t>Claude Haiku
Processes</a:t>
            </a:r>
          </a:p>
        </p:txBody>
      </p:sp>
      <p:sp>
        <p:nvSpPr>
          <p:cNvPr id="20" name="TextBox 19"/>
          <p:cNvSpPr txBox="1"/>
          <p:nvPr/>
        </p:nvSpPr>
        <p:spPr>
          <a:xfrm>
            <a:off x="7443216" y="2240280"/>
            <a:ext cx="1920240" cy="914400"/>
          </a:xfrm>
          <a:prstGeom prst="rect">
            <a:avLst/>
          </a:prstGeom>
          <a:noFill/>
        </p:spPr>
        <p:txBody>
          <a:bodyPr wrap="square">
            <a:spAutoFit/>
          </a:bodyPr>
          <a:lstStyle/>
          <a:p>
            <a:pPr algn="ctr"/>
            <a:r>
              <a:rPr sz="1100" b="0" i="0">
                <a:solidFill>
                  <a:srgbClr val="9999AA"/>
                </a:solidFill>
              </a:rPr>
              <a:t>Anthropic API call
(ANTHROPIC_API_KEY)</a:t>
            </a:r>
          </a:p>
        </p:txBody>
      </p:sp>
      <p:sp>
        <p:nvSpPr>
          <p:cNvPr id="21" name="TextBox 20"/>
          <p:cNvSpPr txBox="1"/>
          <p:nvPr/>
        </p:nvSpPr>
        <p:spPr>
          <a:xfrm>
            <a:off x="9528048" y="2011680"/>
            <a:ext cx="320040" cy="457200"/>
          </a:xfrm>
          <a:prstGeom prst="rect">
            <a:avLst/>
          </a:prstGeom>
          <a:noFill/>
        </p:spPr>
        <p:txBody>
          <a:bodyPr wrap="square">
            <a:spAutoFit/>
          </a:bodyPr>
          <a:lstStyle/>
          <a:p>
            <a:pPr algn="ctr"/>
            <a:r>
              <a:rPr sz="2000" b="0" i="0">
                <a:solidFill>
                  <a:srgbClr val="10B981"/>
                </a:solidFill>
              </a:rPr>
              <a:t>→</a:t>
            </a:r>
          </a:p>
        </p:txBody>
      </p:sp>
      <p:sp>
        <p:nvSpPr>
          <p:cNvPr id="22" name="Rectangle 21"/>
          <p:cNvSpPr/>
          <p:nvPr/>
        </p:nvSpPr>
        <p:spPr>
          <a:xfrm>
            <a:off x="9710928" y="1234440"/>
            <a:ext cx="2103120" cy="21031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02368" y="1371600"/>
            <a:ext cx="1920240" cy="822960"/>
          </a:xfrm>
          <a:prstGeom prst="rect">
            <a:avLst/>
          </a:prstGeom>
          <a:noFill/>
        </p:spPr>
        <p:txBody>
          <a:bodyPr wrap="square">
            <a:spAutoFit/>
          </a:bodyPr>
          <a:lstStyle/>
          <a:p>
            <a:pPr algn="ctr"/>
            <a:r>
              <a:rPr sz="1300" b="1" i="0">
                <a:solidFill>
                  <a:srgbClr val="10B981"/>
                </a:solidFill>
              </a:rPr>
              <a:t>Executive
Summary</a:t>
            </a:r>
          </a:p>
        </p:txBody>
      </p:sp>
      <p:sp>
        <p:nvSpPr>
          <p:cNvPr id="24" name="TextBox 23"/>
          <p:cNvSpPr txBox="1"/>
          <p:nvPr/>
        </p:nvSpPr>
        <p:spPr>
          <a:xfrm>
            <a:off x="9802368" y="2240280"/>
            <a:ext cx="1920240" cy="914400"/>
          </a:xfrm>
          <a:prstGeom prst="rect">
            <a:avLst/>
          </a:prstGeom>
          <a:noFill/>
        </p:spPr>
        <p:txBody>
          <a:bodyPr wrap="square">
            <a:spAutoFit/>
          </a:bodyPr>
          <a:lstStyle/>
          <a:p>
            <a:pPr algn="ctr"/>
            <a:r>
              <a:rPr sz="1100" b="0" i="0">
                <a:solidFill>
                  <a:srgbClr val="9999AA"/>
                </a:solidFill>
              </a:rPr>
              <a:t>Shown in UI;
exportable to PDF</a:t>
            </a:r>
          </a:p>
        </p:txBody>
      </p:sp>
      <p:sp>
        <p:nvSpPr>
          <p:cNvPr id="25" name="Rectangle 24"/>
          <p:cNvSpPr/>
          <p:nvPr/>
        </p:nvSpPr>
        <p:spPr>
          <a:xfrm>
            <a:off x="274320" y="3566160"/>
            <a:ext cx="11567160" cy="274320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3703320"/>
            <a:ext cx="7315200" cy="365760"/>
          </a:xfrm>
          <a:prstGeom prst="rect">
            <a:avLst/>
          </a:prstGeom>
          <a:noFill/>
        </p:spPr>
        <p:txBody>
          <a:bodyPr wrap="square">
            <a:spAutoFit/>
          </a:bodyPr>
          <a:lstStyle/>
          <a:p>
            <a:pPr algn="l"/>
            <a:r>
              <a:rPr sz="1500" b="1" i="0">
                <a:solidFill>
                  <a:srgbClr val="8B5CF6"/>
                </a:solidFill>
              </a:rPr>
              <a:t>What the AI Summary Includes:</a:t>
            </a:r>
          </a:p>
        </p:txBody>
      </p:sp>
      <p:sp>
        <p:nvSpPr>
          <p:cNvPr id="27" name="TextBox 26"/>
          <p:cNvSpPr txBox="1"/>
          <p:nvPr/>
        </p:nvSpPr>
        <p:spPr>
          <a:xfrm>
            <a:off x="457200" y="4160520"/>
            <a:ext cx="2560320" cy="365760"/>
          </a:xfrm>
          <a:prstGeom prst="rect">
            <a:avLst/>
          </a:prstGeom>
          <a:noFill/>
        </p:spPr>
        <p:txBody>
          <a:bodyPr wrap="square">
            <a:spAutoFit/>
          </a:bodyPr>
          <a:lstStyle/>
          <a:p>
            <a:pPr algn="l"/>
            <a:r>
              <a:rPr sz="1300" b="1" i="0">
                <a:solidFill>
                  <a:srgbClr val="FFFFFF"/>
                </a:solidFill>
              </a:rPr>
              <a:t>📋 Executive Overview</a:t>
            </a:r>
          </a:p>
        </p:txBody>
      </p:sp>
      <p:sp>
        <p:nvSpPr>
          <p:cNvPr id="28" name="TextBox 27"/>
          <p:cNvSpPr txBox="1"/>
          <p:nvPr/>
        </p:nvSpPr>
        <p:spPr>
          <a:xfrm>
            <a:off x="457200" y="4507992"/>
            <a:ext cx="5486400" cy="548640"/>
          </a:xfrm>
          <a:prstGeom prst="rect">
            <a:avLst/>
          </a:prstGeom>
          <a:noFill/>
        </p:spPr>
        <p:txBody>
          <a:bodyPr wrap="square">
            <a:spAutoFit/>
          </a:bodyPr>
          <a:lstStyle/>
          <a:p>
            <a:pPr algn="l"/>
            <a:r>
              <a:rPr sz="1100" b="0" i="0">
                <a:solidFill>
                  <a:srgbClr val="9999AA"/>
                </a:solidFill>
              </a:rPr>
              <a:t>Non-technical explanation of overall security posture — suitable for a CTO, CFO, or board member</a:t>
            </a:r>
          </a:p>
        </p:txBody>
      </p:sp>
      <p:sp>
        <p:nvSpPr>
          <p:cNvPr id="29" name="TextBox 28"/>
          <p:cNvSpPr txBox="1"/>
          <p:nvPr/>
        </p:nvSpPr>
        <p:spPr>
          <a:xfrm>
            <a:off x="6217920" y="4160520"/>
            <a:ext cx="2560320" cy="365760"/>
          </a:xfrm>
          <a:prstGeom prst="rect">
            <a:avLst/>
          </a:prstGeom>
          <a:noFill/>
        </p:spPr>
        <p:txBody>
          <a:bodyPr wrap="square">
            <a:spAutoFit/>
          </a:bodyPr>
          <a:lstStyle/>
          <a:p>
            <a:pPr algn="l"/>
            <a:r>
              <a:rPr sz="1300" b="1" i="0">
                <a:solidFill>
                  <a:srgbClr val="FFFFFF"/>
                </a:solidFill>
              </a:rPr>
              <a:t>🎯 Top 3 Priority Fixes</a:t>
            </a:r>
          </a:p>
        </p:txBody>
      </p:sp>
      <p:sp>
        <p:nvSpPr>
          <p:cNvPr id="30" name="TextBox 29"/>
          <p:cNvSpPr txBox="1"/>
          <p:nvPr/>
        </p:nvSpPr>
        <p:spPr>
          <a:xfrm>
            <a:off x="6217920" y="4507992"/>
            <a:ext cx="5486400" cy="548640"/>
          </a:xfrm>
          <a:prstGeom prst="rect">
            <a:avLst/>
          </a:prstGeom>
          <a:noFill/>
        </p:spPr>
        <p:txBody>
          <a:bodyPr wrap="square">
            <a:spAutoFit/>
          </a:bodyPr>
          <a:lstStyle/>
          <a:p>
            <a:pPr algn="l"/>
            <a:r>
              <a:rPr sz="1100" b="0" i="0">
                <a:solidFill>
                  <a:srgbClr val="9999AA"/>
                </a:solidFill>
              </a:rPr>
              <a:t>Which issues to resolve first and why — ranked by business impact and exploitability</a:t>
            </a:r>
          </a:p>
        </p:txBody>
      </p:sp>
      <p:sp>
        <p:nvSpPr>
          <p:cNvPr id="31" name="TextBox 30"/>
          <p:cNvSpPr txBox="1"/>
          <p:nvPr/>
        </p:nvSpPr>
        <p:spPr>
          <a:xfrm>
            <a:off x="457200" y="5166360"/>
            <a:ext cx="2560320" cy="365760"/>
          </a:xfrm>
          <a:prstGeom prst="rect">
            <a:avLst/>
          </a:prstGeom>
          <a:noFill/>
        </p:spPr>
        <p:txBody>
          <a:bodyPr wrap="square">
            <a:spAutoFit/>
          </a:bodyPr>
          <a:lstStyle/>
          <a:p>
            <a:pPr algn="l"/>
            <a:r>
              <a:rPr sz="1300" b="1" i="0">
                <a:solidFill>
                  <a:srgbClr val="FFFFFF"/>
                </a:solidFill>
              </a:rPr>
              <a:t>⚖️ Compliance Impact</a:t>
            </a:r>
          </a:p>
        </p:txBody>
      </p:sp>
      <p:sp>
        <p:nvSpPr>
          <p:cNvPr id="32" name="TextBox 31"/>
          <p:cNvSpPr txBox="1"/>
          <p:nvPr/>
        </p:nvSpPr>
        <p:spPr>
          <a:xfrm>
            <a:off x="457200" y="5513832"/>
            <a:ext cx="5486400" cy="548640"/>
          </a:xfrm>
          <a:prstGeom prst="rect">
            <a:avLst/>
          </a:prstGeom>
          <a:noFill/>
        </p:spPr>
        <p:txBody>
          <a:bodyPr wrap="square">
            <a:spAutoFit/>
          </a:bodyPr>
          <a:lstStyle/>
          <a:p>
            <a:pPr algn="l"/>
            <a:r>
              <a:rPr sz="1100" b="0" i="0">
                <a:solidFill>
                  <a:srgbClr val="9999AA"/>
                </a:solidFill>
              </a:rPr>
              <a:t>Which SOC2 controls, ISO 27001 clauses, or PCI DSS requirements are at risk</a:t>
            </a:r>
          </a:p>
        </p:txBody>
      </p:sp>
      <p:sp>
        <p:nvSpPr>
          <p:cNvPr id="33" name="TextBox 32"/>
          <p:cNvSpPr txBox="1"/>
          <p:nvPr/>
        </p:nvSpPr>
        <p:spPr>
          <a:xfrm>
            <a:off x="6217920" y="5166360"/>
            <a:ext cx="2560320" cy="365760"/>
          </a:xfrm>
          <a:prstGeom prst="rect">
            <a:avLst/>
          </a:prstGeom>
          <a:noFill/>
        </p:spPr>
        <p:txBody>
          <a:bodyPr wrap="square">
            <a:spAutoFit/>
          </a:bodyPr>
          <a:lstStyle/>
          <a:p>
            <a:pPr algn="l"/>
            <a:r>
              <a:rPr sz="1300" b="1" i="0">
                <a:solidFill>
                  <a:srgbClr val="FFFFFF"/>
                </a:solidFill>
              </a:rPr>
              <a:t>🗓️ Suggested Timeline</a:t>
            </a:r>
          </a:p>
        </p:txBody>
      </p:sp>
      <p:sp>
        <p:nvSpPr>
          <p:cNvPr id="34" name="TextBox 33"/>
          <p:cNvSpPr txBox="1"/>
          <p:nvPr/>
        </p:nvSpPr>
        <p:spPr>
          <a:xfrm>
            <a:off x="6217920" y="5513832"/>
            <a:ext cx="5486400" cy="548640"/>
          </a:xfrm>
          <a:prstGeom prst="rect">
            <a:avLst/>
          </a:prstGeom>
          <a:noFill/>
        </p:spPr>
        <p:txBody>
          <a:bodyPr wrap="square">
            <a:spAutoFit/>
          </a:bodyPr>
          <a:lstStyle/>
          <a:p>
            <a:pPr algn="l"/>
            <a:r>
              <a:rPr sz="1100" b="0" i="0">
                <a:solidFill>
                  <a:srgbClr val="9999AA"/>
                </a:solidFill>
              </a:rPr>
              <a:t>Recommended remediation order with effort estimates (quick wins vs long-term projects)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Pricing Plans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Flat pricing — not per-finding; 2-week free trial on all plans</a:t>
            </a:r>
          </a:p>
        </p:txBody>
      </p:sp>
      <p:sp>
        <p:nvSpPr>
          <p:cNvPr id="6" name="Rectangle 5"/>
          <p:cNvSpPr/>
          <p:nvPr/>
        </p:nvSpPr>
        <p:spPr>
          <a:xfrm>
            <a:off x="3154680" y="1170432"/>
            <a:ext cx="2011680" cy="1280160"/>
          </a:xfrm>
          <a:prstGeom prst="rect">
            <a:avLst/>
          </a:prstGeom>
          <a:solidFill>
            <a:srgbClr val="10101A"/>
          </a:solidFill>
          <a:ln w="1905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1188720"/>
            <a:ext cx="2011680" cy="347472"/>
          </a:xfrm>
          <a:prstGeom prst="rect">
            <a:avLst/>
          </a:prstGeom>
          <a:noFill/>
        </p:spPr>
        <p:txBody>
          <a:bodyPr wrap="square">
            <a:spAutoFit/>
          </a:bodyPr>
          <a:lstStyle/>
          <a:p>
            <a:pPr algn="ctr"/>
            <a:r>
              <a:rPr sz="1500" b="1" i="0">
                <a:solidFill>
                  <a:srgbClr val="9999AA"/>
                </a:solidFill>
              </a:rPr>
              <a:t>Free</a:t>
            </a:r>
          </a:p>
        </p:txBody>
      </p:sp>
      <p:sp>
        <p:nvSpPr>
          <p:cNvPr id="8" name="TextBox 7"/>
          <p:cNvSpPr txBox="1"/>
          <p:nvPr/>
        </p:nvSpPr>
        <p:spPr>
          <a:xfrm>
            <a:off x="3154680" y="1508760"/>
            <a:ext cx="2011680" cy="384048"/>
          </a:xfrm>
          <a:prstGeom prst="rect">
            <a:avLst/>
          </a:prstGeom>
          <a:noFill/>
        </p:spPr>
        <p:txBody>
          <a:bodyPr wrap="square">
            <a:spAutoFit/>
          </a:bodyPr>
          <a:lstStyle/>
          <a:p>
            <a:pPr algn="ctr"/>
            <a:r>
              <a:rPr sz="2000" b="1" i="0">
                <a:solidFill>
                  <a:srgbClr val="FFFFFF"/>
                </a:solidFill>
              </a:rPr>
              <a:t>₹0</a:t>
            </a:r>
          </a:p>
        </p:txBody>
      </p:sp>
      <p:sp>
        <p:nvSpPr>
          <p:cNvPr id="9" name="TextBox 8"/>
          <p:cNvSpPr txBox="1"/>
          <p:nvPr/>
        </p:nvSpPr>
        <p:spPr>
          <a:xfrm>
            <a:off x="3154680" y="1901952"/>
            <a:ext cx="2011680" cy="320040"/>
          </a:xfrm>
          <a:prstGeom prst="rect">
            <a:avLst/>
          </a:prstGeom>
          <a:noFill/>
        </p:spPr>
        <p:txBody>
          <a:bodyPr wrap="square">
            <a:spAutoFit/>
          </a:bodyPr>
          <a:lstStyle/>
          <a:p>
            <a:pPr algn="ctr"/>
            <a:r>
              <a:rPr sz="1000" b="0" i="0">
                <a:solidFill>
                  <a:srgbClr val="9999AA"/>
                </a:solidFill>
              </a:rPr>
              <a:t>$0/mo  1 accts</a:t>
            </a:r>
          </a:p>
        </p:txBody>
      </p:sp>
      <p:sp>
        <p:nvSpPr>
          <p:cNvPr id="10" name="Rectangle 9"/>
          <p:cNvSpPr/>
          <p:nvPr/>
        </p:nvSpPr>
        <p:spPr>
          <a:xfrm>
            <a:off x="5257800" y="1170432"/>
            <a:ext cx="2011680" cy="1280160"/>
          </a:xfrm>
          <a:prstGeom prst="rect">
            <a:avLst/>
          </a:prstGeom>
          <a:solidFill>
            <a:srgbClr val="10101A"/>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57800" y="1188720"/>
            <a:ext cx="2011680" cy="347472"/>
          </a:xfrm>
          <a:prstGeom prst="rect">
            <a:avLst/>
          </a:prstGeom>
          <a:noFill/>
        </p:spPr>
        <p:txBody>
          <a:bodyPr wrap="square">
            <a:spAutoFit/>
          </a:bodyPr>
          <a:lstStyle/>
          <a:p>
            <a:pPr algn="ctr"/>
            <a:r>
              <a:rPr sz="1500" b="1" i="0">
                <a:solidFill>
                  <a:srgbClr val="3B82F6"/>
                </a:solidFill>
              </a:rPr>
              <a:t>Starter</a:t>
            </a:r>
          </a:p>
        </p:txBody>
      </p:sp>
      <p:sp>
        <p:nvSpPr>
          <p:cNvPr id="12" name="TextBox 11"/>
          <p:cNvSpPr txBox="1"/>
          <p:nvPr/>
        </p:nvSpPr>
        <p:spPr>
          <a:xfrm>
            <a:off x="5257800" y="1508760"/>
            <a:ext cx="2011680" cy="384048"/>
          </a:xfrm>
          <a:prstGeom prst="rect">
            <a:avLst/>
          </a:prstGeom>
          <a:noFill/>
        </p:spPr>
        <p:txBody>
          <a:bodyPr wrap="square">
            <a:spAutoFit/>
          </a:bodyPr>
          <a:lstStyle/>
          <a:p>
            <a:pPr algn="ctr"/>
            <a:r>
              <a:rPr sz="2000" b="1" i="0">
                <a:solidFill>
                  <a:srgbClr val="FFFFFF"/>
                </a:solidFill>
              </a:rPr>
              <a:t>₹8,299</a:t>
            </a:r>
          </a:p>
        </p:txBody>
      </p:sp>
      <p:sp>
        <p:nvSpPr>
          <p:cNvPr id="13" name="TextBox 12"/>
          <p:cNvSpPr txBox="1"/>
          <p:nvPr/>
        </p:nvSpPr>
        <p:spPr>
          <a:xfrm>
            <a:off x="5257800" y="1901952"/>
            <a:ext cx="2011680" cy="320040"/>
          </a:xfrm>
          <a:prstGeom prst="rect">
            <a:avLst/>
          </a:prstGeom>
          <a:noFill/>
        </p:spPr>
        <p:txBody>
          <a:bodyPr wrap="square">
            <a:spAutoFit/>
          </a:bodyPr>
          <a:lstStyle/>
          <a:p>
            <a:pPr algn="ctr"/>
            <a:r>
              <a:rPr sz="1000" b="0" i="0">
                <a:solidFill>
                  <a:srgbClr val="9999AA"/>
                </a:solidFill>
              </a:rPr>
              <a:t>~$99/mo  3 accts</a:t>
            </a:r>
          </a:p>
        </p:txBody>
      </p:sp>
      <p:sp>
        <p:nvSpPr>
          <p:cNvPr id="14" name="Rectangle 13"/>
          <p:cNvSpPr/>
          <p:nvPr/>
        </p:nvSpPr>
        <p:spPr>
          <a:xfrm>
            <a:off x="7360920" y="1170432"/>
            <a:ext cx="2011680" cy="1280160"/>
          </a:xfrm>
          <a:prstGeom prst="rect">
            <a:avLst/>
          </a:prstGeom>
          <a:solidFill>
            <a:srgbClr val="10101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60920" y="1188720"/>
            <a:ext cx="2011680" cy="347472"/>
          </a:xfrm>
          <a:prstGeom prst="rect">
            <a:avLst/>
          </a:prstGeom>
          <a:noFill/>
        </p:spPr>
        <p:txBody>
          <a:bodyPr wrap="square">
            <a:spAutoFit/>
          </a:bodyPr>
          <a:lstStyle/>
          <a:p>
            <a:pPr algn="ctr"/>
            <a:r>
              <a:rPr sz="1500" b="1" i="0">
                <a:solidFill>
                  <a:srgbClr val="10B981"/>
                </a:solidFill>
              </a:rPr>
              <a:t>Pro</a:t>
            </a:r>
          </a:p>
        </p:txBody>
      </p:sp>
      <p:sp>
        <p:nvSpPr>
          <p:cNvPr id="16" name="TextBox 15"/>
          <p:cNvSpPr txBox="1"/>
          <p:nvPr/>
        </p:nvSpPr>
        <p:spPr>
          <a:xfrm>
            <a:off x="7360920" y="1508760"/>
            <a:ext cx="2011680" cy="384048"/>
          </a:xfrm>
          <a:prstGeom prst="rect">
            <a:avLst/>
          </a:prstGeom>
          <a:noFill/>
        </p:spPr>
        <p:txBody>
          <a:bodyPr wrap="square">
            <a:spAutoFit/>
          </a:bodyPr>
          <a:lstStyle/>
          <a:p>
            <a:pPr algn="ctr"/>
            <a:r>
              <a:rPr sz="2000" b="1" i="0">
                <a:solidFill>
                  <a:srgbClr val="FFFFFF"/>
                </a:solidFill>
              </a:rPr>
              <a:t>₹24,999</a:t>
            </a:r>
          </a:p>
        </p:txBody>
      </p:sp>
      <p:sp>
        <p:nvSpPr>
          <p:cNvPr id="17" name="TextBox 16"/>
          <p:cNvSpPr txBox="1"/>
          <p:nvPr/>
        </p:nvSpPr>
        <p:spPr>
          <a:xfrm>
            <a:off x="7360920" y="1901952"/>
            <a:ext cx="2011680" cy="320040"/>
          </a:xfrm>
          <a:prstGeom prst="rect">
            <a:avLst/>
          </a:prstGeom>
          <a:noFill/>
        </p:spPr>
        <p:txBody>
          <a:bodyPr wrap="square">
            <a:spAutoFit/>
          </a:bodyPr>
          <a:lstStyle/>
          <a:p>
            <a:pPr algn="ctr"/>
            <a:r>
              <a:rPr sz="1000" b="0" i="0">
                <a:solidFill>
                  <a:srgbClr val="9999AA"/>
                </a:solidFill>
              </a:rPr>
              <a:t>~$299/mo  10 accts</a:t>
            </a:r>
          </a:p>
        </p:txBody>
      </p:sp>
      <p:sp>
        <p:nvSpPr>
          <p:cNvPr id="18" name="Rectangle 17"/>
          <p:cNvSpPr/>
          <p:nvPr/>
        </p:nvSpPr>
        <p:spPr>
          <a:xfrm>
            <a:off x="9464040" y="1170432"/>
            <a:ext cx="2011680" cy="1280160"/>
          </a:xfrm>
          <a:prstGeom prst="rect">
            <a:avLst/>
          </a:prstGeom>
          <a:solidFill>
            <a:srgbClr val="10101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1188720"/>
            <a:ext cx="2011680" cy="347472"/>
          </a:xfrm>
          <a:prstGeom prst="rect">
            <a:avLst/>
          </a:prstGeom>
          <a:noFill/>
        </p:spPr>
        <p:txBody>
          <a:bodyPr wrap="square">
            <a:spAutoFit/>
          </a:bodyPr>
          <a:lstStyle/>
          <a:p>
            <a:pPr algn="ctr"/>
            <a:r>
              <a:rPr sz="1500" b="1" i="0">
                <a:solidFill>
                  <a:srgbClr val="8B5CF6"/>
                </a:solidFill>
              </a:rPr>
              <a:t>MSP</a:t>
            </a:r>
          </a:p>
        </p:txBody>
      </p:sp>
      <p:sp>
        <p:nvSpPr>
          <p:cNvPr id="20" name="TextBox 19"/>
          <p:cNvSpPr txBox="1"/>
          <p:nvPr/>
        </p:nvSpPr>
        <p:spPr>
          <a:xfrm>
            <a:off x="9464040" y="1508760"/>
            <a:ext cx="2011680" cy="384048"/>
          </a:xfrm>
          <a:prstGeom prst="rect">
            <a:avLst/>
          </a:prstGeom>
          <a:noFill/>
        </p:spPr>
        <p:txBody>
          <a:bodyPr wrap="square">
            <a:spAutoFit/>
          </a:bodyPr>
          <a:lstStyle/>
          <a:p>
            <a:pPr algn="ctr"/>
            <a:r>
              <a:rPr sz="2000" b="1" i="0">
                <a:solidFill>
                  <a:srgbClr val="FFFFFF"/>
                </a:solidFill>
              </a:rPr>
              <a:t>₹83,499+</a:t>
            </a:r>
          </a:p>
        </p:txBody>
      </p:sp>
      <p:sp>
        <p:nvSpPr>
          <p:cNvPr id="21" name="TextBox 20"/>
          <p:cNvSpPr txBox="1"/>
          <p:nvPr/>
        </p:nvSpPr>
        <p:spPr>
          <a:xfrm>
            <a:off x="9464040" y="1901952"/>
            <a:ext cx="2011680" cy="320040"/>
          </a:xfrm>
          <a:prstGeom prst="rect">
            <a:avLst/>
          </a:prstGeom>
          <a:noFill/>
        </p:spPr>
        <p:txBody>
          <a:bodyPr wrap="square">
            <a:spAutoFit/>
          </a:bodyPr>
          <a:lstStyle/>
          <a:p>
            <a:pPr algn="ctr"/>
            <a:r>
              <a:rPr sz="1000" b="0" i="0">
                <a:solidFill>
                  <a:srgbClr val="9999AA"/>
                </a:solidFill>
              </a:rPr>
              <a:t>~$999+/mo  ∞ accts</a:t>
            </a:r>
          </a:p>
        </p:txBody>
      </p:sp>
      <p:sp>
        <p:nvSpPr>
          <p:cNvPr id="22" name="TextBox 21"/>
          <p:cNvSpPr txBox="1"/>
          <p:nvPr/>
        </p:nvSpPr>
        <p:spPr>
          <a:xfrm>
            <a:off x="320040" y="1188720"/>
            <a:ext cx="2651760" cy="1280160"/>
          </a:xfrm>
          <a:prstGeom prst="rect">
            <a:avLst/>
          </a:prstGeom>
          <a:noFill/>
        </p:spPr>
        <p:txBody>
          <a:bodyPr wrap="square">
            <a:spAutoFit/>
          </a:bodyPr>
          <a:lstStyle/>
          <a:p>
            <a:pPr algn="l"/>
            <a:r>
              <a:rPr sz="1300" b="1" i="0">
                <a:solidFill>
                  <a:srgbClr val="9999AA"/>
                </a:solidFill>
              </a:rPr>
              <a:t>Feature</a:t>
            </a:r>
          </a:p>
        </p:txBody>
      </p:sp>
      <p:sp>
        <p:nvSpPr>
          <p:cNvPr id="23" name="Rectangle 22"/>
          <p:cNvSpPr/>
          <p:nvPr/>
        </p:nvSpPr>
        <p:spPr>
          <a:xfrm>
            <a:off x="228600" y="2487168"/>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2523744"/>
            <a:ext cx="2697480" cy="274320"/>
          </a:xfrm>
          <a:prstGeom prst="rect">
            <a:avLst/>
          </a:prstGeom>
          <a:noFill/>
        </p:spPr>
        <p:txBody>
          <a:bodyPr wrap="square">
            <a:spAutoFit/>
          </a:bodyPr>
          <a:lstStyle/>
          <a:p>
            <a:pPr algn="l"/>
            <a:r>
              <a:rPr sz="1100" b="0" i="0">
                <a:solidFill>
                  <a:srgbClr val="9999AA"/>
                </a:solidFill>
              </a:rPr>
              <a:t>10 Security Checks</a:t>
            </a:r>
          </a:p>
        </p:txBody>
      </p:sp>
      <p:sp>
        <p:nvSpPr>
          <p:cNvPr id="25" name="Rectangle 24"/>
          <p:cNvSpPr/>
          <p:nvPr/>
        </p:nvSpPr>
        <p:spPr>
          <a:xfrm>
            <a:off x="315468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54680" y="2523744"/>
            <a:ext cx="2011680" cy="274320"/>
          </a:xfrm>
          <a:prstGeom prst="rect">
            <a:avLst/>
          </a:prstGeom>
          <a:noFill/>
        </p:spPr>
        <p:txBody>
          <a:bodyPr wrap="square">
            <a:spAutoFit/>
          </a:bodyPr>
          <a:lstStyle/>
          <a:p>
            <a:pPr algn="ctr"/>
            <a:r>
              <a:rPr sz="1100" b="1" i="0">
                <a:solidFill>
                  <a:srgbClr val="10B981"/>
                </a:solidFill>
              </a:rPr>
              <a:t>✓</a:t>
            </a:r>
          </a:p>
        </p:txBody>
      </p:sp>
      <p:sp>
        <p:nvSpPr>
          <p:cNvPr id="27" name="Rectangle 26"/>
          <p:cNvSpPr/>
          <p:nvPr/>
        </p:nvSpPr>
        <p:spPr>
          <a:xfrm>
            <a:off x="525780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257800" y="2523744"/>
            <a:ext cx="2011680" cy="274320"/>
          </a:xfrm>
          <a:prstGeom prst="rect">
            <a:avLst/>
          </a:prstGeom>
          <a:noFill/>
        </p:spPr>
        <p:txBody>
          <a:bodyPr wrap="square">
            <a:spAutoFit/>
          </a:bodyPr>
          <a:lstStyle/>
          <a:p>
            <a:pPr algn="ctr"/>
            <a:r>
              <a:rPr sz="1100" b="1" i="0">
                <a:solidFill>
                  <a:srgbClr val="10B981"/>
                </a:solidFill>
              </a:rPr>
              <a:t>✓</a:t>
            </a:r>
          </a:p>
        </p:txBody>
      </p:sp>
      <p:sp>
        <p:nvSpPr>
          <p:cNvPr id="29" name="Rectangle 28"/>
          <p:cNvSpPr/>
          <p:nvPr/>
        </p:nvSpPr>
        <p:spPr>
          <a:xfrm>
            <a:off x="736092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60920" y="2523744"/>
            <a:ext cx="2011680" cy="274320"/>
          </a:xfrm>
          <a:prstGeom prst="rect">
            <a:avLst/>
          </a:prstGeom>
          <a:noFill/>
        </p:spPr>
        <p:txBody>
          <a:bodyPr wrap="square">
            <a:spAutoFit/>
          </a:bodyPr>
          <a:lstStyle/>
          <a:p>
            <a:pPr algn="ctr"/>
            <a:r>
              <a:rPr sz="1100" b="1" i="0">
                <a:solidFill>
                  <a:srgbClr val="10B981"/>
                </a:solidFill>
              </a:rPr>
              <a:t>✓</a:t>
            </a:r>
          </a:p>
        </p:txBody>
      </p:sp>
      <p:sp>
        <p:nvSpPr>
          <p:cNvPr id="31" name="Rectangle 30"/>
          <p:cNvSpPr/>
          <p:nvPr/>
        </p:nvSpPr>
        <p:spPr>
          <a:xfrm>
            <a:off x="9464040" y="248716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64040" y="2523744"/>
            <a:ext cx="2011680" cy="274320"/>
          </a:xfrm>
          <a:prstGeom prst="rect">
            <a:avLst/>
          </a:prstGeom>
          <a:noFill/>
        </p:spPr>
        <p:txBody>
          <a:bodyPr wrap="square">
            <a:spAutoFit/>
          </a:bodyPr>
          <a:lstStyle/>
          <a:p>
            <a:pPr algn="ctr"/>
            <a:r>
              <a:rPr sz="1100" b="1" i="0">
                <a:solidFill>
                  <a:srgbClr val="10B981"/>
                </a:solidFill>
              </a:rPr>
              <a:t>✓</a:t>
            </a:r>
          </a:p>
        </p:txBody>
      </p:sp>
      <p:sp>
        <p:nvSpPr>
          <p:cNvPr id="33" name="Rectangle 32"/>
          <p:cNvSpPr/>
          <p:nvPr/>
        </p:nvSpPr>
        <p:spPr>
          <a:xfrm>
            <a:off x="228600" y="2825496"/>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 y="2862072"/>
            <a:ext cx="2697480" cy="274320"/>
          </a:xfrm>
          <a:prstGeom prst="rect">
            <a:avLst/>
          </a:prstGeom>
          <a:noFill/>
        </p:spPr>
        <p:txBody>
          <a:bodyPr wrap="square">
            <a:spAutoFit/>
          </a:bodyPr>
          <a:lstStyle/>
          <a:p>
            <a:pPr algn="l"/>
            <a:r>
              <a:rPr sz="1100" b="0" i="0">
                <a:solidFill>
                  <a:srgbClr val="9999AA"/>
                </a:solidFill>
              </a:rPr>
              <a:t>Fix Guidance (CLI/TF)</a:t>
            </a:r>
          </a:p>
        </p:txBody>
      </p:sp>
      <p:sp>
        <p:nvSpPr>
          <p:cNvPr id="35" name="Rectangle 34"/>
          <p:cNvSpPr/>
          <p:nvPr/>
        </p:nvSpPr>
        <p:spPr>
          <a:xfrm>
            <a:off x="315468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154680" y="2862072"/>
            <a:ext cx="2011680" cy="274320"/>
          </a:xfrm>
          <a:prstGeom prst="rect">
            <a:avLst/>
          </a:prstGeom>
          <a:noFill/>
        </p:spPr>
        <p:txBody>
          <a:bodyPr wrap="square">
            <a:spAutoFit/>
          </a:bodyPr>
          <a:lstStyle/>
          <a:p>
            <a:pPr algn="ctr"/>
            <a:r>
              <a:rPr sz="1100" b="1" i="0">
                <a:solidFill>
                  <a:srgbClr val="10B981"/>
                </a:solidFill>
              </a:rPr>
              <a:t>✓</a:t>
            </a:r>
          </a:p>
        </p:txBody>
      </p:sp>
      <p:sp>
        <p:nvSpPr>
          <p:cNvPr id="37" name="Rectangle 36"/>
          <p:cNvSpPr/>
          <p:nvPr/>
        </p:nvSpPr>
        <p:spPr>
          <a:xfrm>
            <a:off x="525780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257800" y="2862072"/>
            <a:ext cx="2011680" cy="274320"/>
          </a:xfrm>
          <a:prstGeom prst="rect">
            <a:avLst/>
          </a:prstGeom>
          <a:noFill/>
        </p:spPr>
        <p:txBody>
          <a:bodyPr wrap="square">
            <a:spAutoFit/>
          </a:bodyPr>
          <a:lstStyle/>
          <a:p>
            <a:pPr algn="ctr"/>
            <a:r>
              <a:rPr sz="1100" b="1" i="0">
                <a:solidFill>
                  <a:srgbClr val="10B981"/>
                </a:solidFill>
              </a:rPr>
              <a:t>✓</a:t>
            </a:r>
          </a:p>
        </p:txBody>
      </p:sp>
      <p:sp>
        <p:nvSpPr>
          <p:cNvPr id="39" name="Rectangle 38"/>
          <p:cNvSpPr/>
          <p:nvPr/>
        </p:nvSpPr>
        <p:spPr>
          <a:xfrm>
            <a:off x="736092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360920" y="2862072"/>
            <a:ext cx="2011680" cy="274320"/>
          </a:xfrm>
          <a:prstGeom prst="rect">
            <a:avLst/>
          </a:prstGeom>
          <a:noFill/>
        </p:spPr>
        <p:txBody>
          <a:bodyPr wrap="square">
            <a:spAutoFit/>
          </a:bodyPr>
          <a:lstStyle/>
          <a:p>
            <a:pPr algn="ctr"/>
            <a:r>
              <a:rPr sz="1100" b="1" i="0">
                <a:solidFill>
                  <a:srgbClr val="10B981"/>
                </a:solidFill>
              </a:rPr>
              <a:t>✓</a:t>
            </a:r>
          </a:p>
        </p:txBody>
      </p:sp>
      <p:sp>
        <p:nvSpPr>
          <p:cNvPr id="41" name="Rectangle 40"/>
          <p:cNvSpPr/>
          <p:nvPr/>
        </p:nvSpPr>
        <p:spPr>
          <a:xfrm>
            <a:off x="9464040" y="282549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464040" y="2862072"/>
            <a:ext cx="2011680" cy="274320"/>
          </a:xfrm>
          <a:prstGeom prst="rect">
            <a:avLst/>
          </a:prstGeom>
          <a:noFill/>
        </p:spPr>
        <p:txBody>
          <a:bodyPr wrap="square">
            <a:spAutoFit/>
          </a:bodyPr>
          <a:lstStyle/>
          <a:p>
            <a:pPr algn="ctr"/>
            <a:r>
              <a:rPr sz="1100" b="1" i="0">
                <a:solidFill>
                  <a:srgbClr val="10B981"/>
                </a:solidFill>
              </a:rPr>
              <a:t>✓</a:t>
            </a:r>
          </a:p>
        </p:txBody>
      </p:sp>
      <p:sp>
        <p:nvSpPr>
          <p:cNvPr id="43" name="Rectangle 42"/>
          <p:cNvSpPr/>
          <p:nvPr/>
        </p:nvSpPr>
        <p:spPr>
          <a:xfrm>
            <a:off x="228600" y="3163824"/>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0040" y="3200400"/>
            <a:ext cx="2697480" cy="274320"/>
          </a:xfrm>
          <a:prstGeom prst="rect">
            <a:avLst/>
          </a:prstGeom>
          <a:noFill/>
        </p:spPr>
        <p:txBody>
          <a:bodyPr wrap="square">
            <a:spAutoFit/>
          </a:bodyPr>
          <a:lstStyle/>
          <a:p>
            <a:pPr algn="l"/>
            <a:r>
              <a:rPr sz="1100" b="0" i="0">
                <a:solidFill>
                  <a:srgbClr val="9999AA"/>
                </a:solidFill>
              </a:rPr>
              <a:t>CSV / JSON / PDF Export</a:t>
            </a:r>
          </a:p>
        </p:txBody>
      </p:sp>
      <p:sp>
        <p:nvSpPr>
          <p:cNvPr id="45" name="Rectangle 44"/>
          <p:cNvSpPr/>
          <p:nvPr/>
        </p:nvSpPr>
        <p:spPr>
          <a:xfrm>
            <a:off x="315468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154680" y="3200400"/>
            <a:ext cx="2011680" cy="274320"/>
          </a:xfrm>
          <a:prstGeom prst="rect">
            <a:avLst/>
          </a:prstGeom>
          <a:noFill/>
        </p:spPr>
        <p:txBody>
          <a:bodyPr wrap="square">
            <a:spAutoFit/>
          </a:bodyPr>
          <a:lstStyle/>
          <a:p>
            <a:pPr algn="ctr"/>
            <a:r>
              <a:rPr sz="1100" b="1" i="0">
                <a:solidFill>
                  <a:srgbClr val="EF4444"/>
                </a:solidFill>
              </a:rPr>
              <a:t>✗</a:t>
            </a:r>
          </a:p>
        </p:txBody>
      </p:sp>
      <p:sp>
        <p:nvSpPr>
          <p:cNvPr id="47" name="Rectangle 46"/>
          <p:cNvSpPr/>
          <p:nvPr/>
        </p:nvSpPr>
        <p:spPr>
          <a:xfrm>
            <a:off x="525780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257800" y="3200400"/>
            <a:ext cx="2011680" cy="274320"/>
          </a:xfrm>
          <a:prstGeom prst="rect">
            <a:avLst/>
          </a:prstGeom>
          <a:noFill/>
        </p:spPr>
        <p:txBody>
          <a:bodyPr wrap="square">
            <a:spAutoFit/>
          </a:bodyPr>
          <a:lstStyle/>
          <a:p>
            <a:pPr algn="ctr"/>
            <a:r>
              <a:rPr sz="1100" b="1" i="0">
                <a:solidFill>
                  <a:srgbClr val="10B981"/>
                </a:solidFill>
              </a:rPr>
              <a:t>✓</a:t>
            </a:r>
          </a:p>
        </p:txBody>
      </p:sp>
      <p:sp>
        <p:nvSpPr>
          <p:cNvPr id="49" name="Rectangle 48"/>
          <p:cNvSpPr/>
          <p:nvPr/>
        </p:nvSpPr>
        <p:spPr>
          <a:xfrm>
            <a:off x="736092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60920" y="3200400"/>
            <a:ext cx="2011680" cy="274320"/>
          </a:xfrm>
          <a:prstGeom prst="rect">
            <a:avLst/>
          </a:prstGeom>
          <a:noFill/>
        </p:spPr>
        <p:txBody>
          <a:bodyPr wrap="square">
            <a:spAutoFit/>
          </a:bodyPr>
          <a:lstStyle/>
          <a:p>
            <a:pPr algn="ctr"/>
            <a:r>
              <a:rPr sz="1100" b="1" i="0">
                <a:solidFill>
                  <a:srgbClr val="10B981"/>
                </a:solidFill>
              </a:rPr>
              <a:t>✓</a:t>
            </a:r>
          </a:p>
        </p:txBody>
      </p:sp>
      <p:sp>
        <p:nvSpPr>
          <p:cNvPr id="51" name="Rectangle 50"/>
          <p:cNvSpPr/>
          <p:nvPr/>
        </p:nvSpPr>
        <p:spPr>
          <a:xfrm>
            <a:off x="9464040" y="316382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64040" y="3200400"/>
            <a:ext cx="2011680" cy="274320"/>
          </a:xfrm>
          <a:prstGeom prst="rect">
            <a:avLst/>
          </a:prstGeom>
          <a:noFill/>
        </p:spPr>
        <p:txBody>
          <a:bodyPr wrap="square">
            <a:spAutoFit/>
          </a:bodyPr>
          <a:lstStyle/>
          <a:p>
            <a:pPr algn="ctr"/>
            <a:r>
              <a:rPr sz="1100" b="1" i="0">
                <a:solidFill>
                  <a:srgbClr val="10B981"/>
                </a:solidFill>
              </a:rPr>
              <a:t>✓</a:t>
            </a:r>
          </a:p>
        </p:txBody>
      </p:sp>
      <p:sp>
        <p:nvSpPr>
          <p:cNvPr id="53" name="Rectangle 52"/>
          <p:cNvSpPr/>
          <p:nvPr/>
        </p:nvSpPr>
        <p:spPr>
          <a:xfrm>
            <a:off x="228600" y="3502152"/>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20040" y="3538728"/>
            <a:ext cx="2697480" cy="274320"/>
          </a:xfrm>
          <a:prstGeom prst="rect">
            <a:avLst/>
          </a:prstGeom>
          <a:noFill/>
        </p:spPr>
        <p:txBody>
          <a:bodyPr wrap="square">
            <a:spAutoFit/>
          </a:bodyPr>
          <a:lstStyle/>
          <a:p>
            <a:pPr algn="l"/>
            <a:r>
              <a:rPr sz="1100" b="0" i="0">
                <a:solidFill>
                  <a:srgbClr val="9999AA"/>
                </a:solidFill>
              </a:rPr>
              <a:t>AI Executive Summary</a:t>
            </a:r>
          </a:p>
        </p:txBody>
      </p:sp>
      <p:sp>
        <p:nvSpPr>
          <p:cNvPr id="55" name="Rectangle 54"/>
          <p:cNvSpPr/>
          <p:nvPr/>
        </p:nvSpPr>
        <p:spPr>
          <a:xfrm>
            <a:off x="315468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154680" y="3538728"/>
            <a:ext cx="2011680" cy="274320"/>
          </a:xfrm>
          <a:prstGeom prst="rect">
            <a:avLst/>
          </a:prstGeom>
          <a:noFill/>
        </p:spPr>
        <p:txBody>
          <a:bodyPr wrap="square">
            <a:spAutoFit/>
          </a:bodyPr>
          <a:lstStyle/>
          <a:p>
            <a:pPr algn="ctr"/>
            <a:r>
              <a:rPr sz="1100" b="1" i="0">
                <a:solidFill>
                  <a:srgbClr val="EF4444"/>
                </a:solidFill>
              </a:rPr>
              <a:t>✗</a:t>
            </a:r>
          </a:p>
        </p:txBody>
      </p:sp>
      <p:sp>
        <p:nvSpPr>
          <p:cNvPr id="57" name="Rectangle 56"/>
          <p:cNvSpPr/>
          <p:nvPr/>
        </p:nvSpPr>
        <p:spPr>
          <a:xfrm>
            <a:off x="525780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257800" y="3538728"/>
            <a:ext cx="2011680" cy="274320"/>
          </a:xfrm>
          <a:prstGeom prst="rect">
            <a:avLst/>
          </a:prstGeom>
          <a:noFill/>
        </p:spPr>
        <p:txBody>
          <a:bodyPr wrap="square">
            <a:spAutoFit/>
          </a:bodyPr>
          <a:lstStyle/>
          <a:p>
            <a:pPr algn="ctr"/>
            <a:r>
              <a:rPr sz="1100" b="1" i="0">
                <a:solidFill>
                  <a:srgbClr val="EF4444"/>
                </a:solidFill>
              </a:rPr>
              <a:t>✗</a:t>
            </a:r>
          </a:p>
        </p:txBody>
      </p:sp>
      <p:sp>
        <p:nvSpPr>
          <p:cNvPr id="59" name="Rectangle 58"/>
          <p:cNvSpPr/>
          <p:nvPr/>
        </p:nvSpPr>
        <p:spPr>
          <a:xfrm>
            <a:off x="736092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60920" y="3538728"/>
            <a:ext cx="2011680" cy="274320"/>
          </a:xfrm>
          <a:prstGeom prst="rect">
            <a:avLst/>
          </a:prstGeom>
          <a:noFill/>
        </p:spPr>
        <p:txBody>
          <a:bodyPr wrap="square">
            <a:spAutoFit/>
          </a:bodyPr>
          <a:lstStyle/>
          <a:p>
            <a:pPr algn="ctr"/>
            <a:r>
              <a:rPr sz="1100" b="1" i="0">
                <a:solidFill>
                  <a:srgbClr val="10B981"/>
                </a:solidFill>
              </a:rPr>
              <a:t>✓</a:t>
            </a:r>
          </a:p>
        </p:txBody>
      </p:sp>
      <p:sp>
        <p:nvSpPr>
          <p:cNvPr id="61" name="Rectangle 60"/>
          <p:cNvSpPr/>
          <p:nvPr/>
        </p:nvSpPr>
        <p:spPr>
          <a:xfrm>
            <a:off x="9464040" y="3502152"/>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64040" y="3538728"/>
            <a:ext cx="2011680" cy="274320"/>
          </a:xfrm>
          <a:prstGeom prst="rect">
            <a:avLst/>
          </a:prstGeom>
          <a:noFill/>
        </p:spPr>
        <p:txBody>
          <a:bodyPr wrap="square">
            <a:spAutoFit/>
          </a:bodyPr>
          <a:lstStyle/>
          <a:p>
            <a:pPr algn="ctr"/>
            <a:r>
              <a:rPr sz="1100" b="1" i="0">
                <a:solidFill>
                  <a:srgbClr val="10B981"/>
                </a:solidFill>
              </a:rPr>
              <a:t>✓</a:t>
            </a:r>
          </a:p>
        </p:txBody>
      </p:sp>
      <p:sp>
        <p:nvSpPr>
          <p:cNvPr id="63" name="Rectangle 62"/>
          <p:cNvSpPr/>
          <p:nvPr/>
        </p:nvSpPr>
        <p:spPr>
          <a:xfrm>
            <a:off x="228600" y="3840480"/>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20040" y="3877056"/>
            <a:ext cx="2697480" cy="274320"/>
          </a:xfrm>
          <a:prstGeom prst="rect">
            <a:avLst/>
          </a:prstGeom>
          <a:noFill/>
        </p:spPr>
        <p:txBody>
          <a:bodyPr wrap="square">
            <a:spAutoFit/>
          </a:bodyPr>
          <a:lstStyle/>
          <a:p>
            <a:pPr algn="l"/>
            <a:r>
              <a:rPr sz="1100" b="0" i="0">
                <a:solidFill>
                  <a:srgbClr val="9999AA"/>
                </a:solidFill>
              </a:rPr>
              <a:t>Scheduled Daily Scans</a:t>
            </a:r>
          </a:p>
        </p:txBody>
      </p:sp>
      <p:sp>
        <p:nvSpPr>
          <p:cNvPr id="65" name="Rectangle 64"/>
          <p:cNvSpPr/>
          <p:nvPr/>
        </p:nvSpPr>
        <p:spPr>
          <a:xfrm>
            <a:off x="315468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154680" y="3877056"/>
            <a:ext cx="2011680" cy="274320"/>
          </a:xfrm>
          <a:prstGeom prst="rect">
            <a:avLst/>
          </a:prstGeom>
          <a:noFill/>
        </p:spPr>
        <p:txBody>
          <a:bodyPr wrap="square">
            <a:spAutoFit/>
          </a:bodyPr>
          <a:lstStyle/>
          <a:p>
            <a:pPr algn="ctr"/>
            <a:r>
              <a:rPr sz="1100" b="1" i="0">
                <a:solidFill>
                  <a:srgbClr val="EF4444"/>
                </a:solidFill>
              </a:rPr>
              <a:t>✗</a:t>
            </a:r>
          </a:p>
        </p:txBody>
      </p:sp>
      <p:sp>
        <p:nvSpPr>
          <p:cNvPr id="67" name="Rectangle 66"/>
          <p:cNvSpPr/>
          <p:nvPr/>
        </p:nvSpPr>
        <p:spPr>
          <a:xfrm>
            <a:off x="525780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257800" y="3877056"/>
            <a:ext cx="2011680" cy="274320"/>
          </a:xfrm>
          <a:prstGeom prst="rect">
            <a:avLst/>
          </a:prstGeom>
          <a:noFill/>
        </p:spPr>
        <p:txBody>
          <a:bodyPr wrap="square">
            <a:spAutoFit/>
          </a:bodyPr>
          <a:lstStyle/>
          <a:p>
            <a:pPr algn="ctr"/>
            <a:r>
              <a:rPr sz="1100" b="1" i="0">
                <a:solidFill>
                  <a:srgbClr val="EF4444"/>
                </a:solidFill>
              </a:rPr>
              <a:t>✗</a:t>
            </a:r>
          </a:p>
        </p:txBody>
      </p:sp>
      <p:sp>
        <p:nvSpPr>
          <p:cNvPr id="69" name="Rectangle 68"/>
          <p:cNvSpPr/>
          <p:nvPr/>
        </p:nvSpPr>
        <p:spPr>
          <a:xfrm>
            <a:off x="736092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360920" y="3877056"/>
            <a:ext cx="2011680" cy="274320"/>
          </a:xfrm>
          <a:prstGeom prst="rect">
            <a:avLst/>
          </a:prstGeom>
          <a:noFill/>
        </p:spPr>
        <p:txBody>
          <a:bodyPr wrap="square">
            <a:spAutoFit/>
          </a:bodyPr>
          <a:lstStyle/>
          <a:p>
            <a:pPr algn="ctr"/>
            <a:r>
              <a:rPr sz="1100" b="1" i="0">
                <a:solidFill>
                  <a:srgbClr val="10B981"/>
                </a:solidFill>
              </a:rPr>
              <a:t>✓</a:t>
            </a:r>
          </a:p>
        </p:txBody>
      </p:sp>
      <p:sp>
        <p:nvSpPr>
          <p:cNvPr id="71" name="Rectangle 70"/>
          <p:cNvSpPr/>
          <p:nvPr/>
        </p:nvSpPr>
        <p:spPr>
          <a:xfrm>
            <a:off x="9464040" y="3840480"/>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464040" y="3877056"/>
            <a:ext cx="2011680" cy="274320"/>
          </a:xfrm>
          <a:prstGeom prst="rect">
            <a:avLst/>
          </a:prstGeom>
          <a:noFill/>
        </p:spPr>
        <p:txBody>
          <a:bodyPr wrap="square">
            <a:spAutoFit/>
          </a:bodyPr>
          <a:lstStyle/>
          <a:p>
            <a:pPr algn="ctr"/>
            <a:r>
              <a:rPr sz="1100" b="1" i="0">
                <a:solidFill>
                  <a:srgbClr val="10B981"/>
                </a:solidFill>
              </a:rPr>
              <a:t>✓</a:t>
            </a:r>
          </a:p>
        </p:txBody>
      </p:sp>
      <p:sp>
        <p:nvSpPr>
          <p:cNvPr id="73" name="Rectangle 72"/>
          <p:cNvSpPr/>
          <p:nvPr/>
        </p:nvSpPr>
        <p:spPr>
          <a:xfrm>
            <a:off x="228600" y="4178808"/>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20040" y="4215384"/>
            <a:ext cx="2697480" cy="274320"/>
          </a:xfrm>
          <a:prstGeom prst="rect">
            <a:avLst/>
          </a:prstGeom>
          <a:noFill/>
        </p:spPr>
        <p:txBody>
          <a:bodyPr wrap="square">
            <a:spAutoFit/>
          </a:bodyPr>
          <a:lstStyle/>
          <a:p>
            <a:pPr algn="l"/>
            <a:r>
              <a:rPr sz="1100" b="0" i="0">
                <a:solidFill>
                  <a:srgbClr val="9999AA"/>
                </a:solidFill>
              </a:rPr>
              <a:t>Drift Monitoring</a:t>
            </a:r>
          </a:p>
        </p:txBody>
      </p:sp>
      <p:sp>
        <p:nvSpPr>
          <p:cNvPr id="75" name="Rectangle 74"/>
          <p:cNvSpPr/>
          <p:nvPr/>
        </p:nvSpPr>
        <p:spPr>
          <a:xfrm>
            <a:off x="315468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154680" y="4215384"/>
            <a:ext cx="2011680" cy="274320"/>
          </a:xfrm>
          <a:prstGeom prst="rect">
            <a:avLst/>
          </a:prstGeom>
          <a:noFill/>
        </p:spPr>
        <p:txBody>
          <a:bodyPr wrap="square">
            <a:spAutoFit/>
          </a:bodyPr>
          <a:lstStyle/>
          <a:p>
            <a:pPr algn="ctr"/>
            <a:r>
              <a:rPr sz="1100" b="1" i="0">
                <a:solidFill>
                  <a:srgbClr val="10B981"/>
                </a:solidFill>
              </a:rPr>
              <a:t>✓</a:t>
            </a:r>
          </a:p>
        </p:txBody>
      </p:sp>
      <p:sp>
        <p:nvSpPr>
          <p:cNvPr id="77" name="Rectangle 76"/>
          <p:cNvSpPr/>
          <p:nvPr/>
        </p:nvSpPr>
        <p:spPr>
          <a:xfrm>
            <a:off x="525780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257800" y="4215384"/>
            <a:ext cx="2011680" cy="274320"/>
          </a:xfrm>
          <a:prstGeom prst="rect">
            <a:avLst/>
          </a:prstGeom>
          <a:noFill/>
        </p:spPr>
        <p:txBody>
          <a:bodyPr wrap="square">
            <a:spAutoFit/>
          </a:bodyPr>
          <a:lstStyle/>
          <a:p>
            <a:pPr algn="ctr"/>
            <a:r>
              <a:rPr sz="1100" b="1" i="0">
                <a:solidFill>
                  <a:srgbClr val="10B981"/>
                </a:solidFill>
              </a:rPr>
              <a:t>✓</a:t>
            </a:r>
          </a:p>
        </p:txBody>
      </p:sp>
      <p:sp>
        <p:nvSpPr>
          <p:cNvPr id="79" name="Rectangle 78"/>
          <p:cNvSpPr/>
          <p:nvPr/>
        </p:nvSpPr>
        <p:spPr>
          <a:xfrm>
            <a:off x="736092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360920" y="4215384"/>
            <a:ext cx="2011680" cy="274320"/>
          </a:xfrm>
          <a:prstGeom prst="rect">
            <a:avLst/>
          </a:prstGeom>
          <a:noFill/>
        </p:spPr>
        <p:txBody>
          <a:bodyPr wrap="square">
            <a:spAutoFit/>
          </a:bodyPr>
          <a:lstStyle/>
          <a:p>
            <a:pPr algn="ctr"/>
            <a:r>
              <a:rPr sz="1100" b="1" i="0">
                <a:solidFill>
                  <a:srgbClr val="10B981"/>
                </a:solidFill>
              </a:rPr>
              <a:t>✓</a:t>
            </a:r>
          </a:p>
        </p:txBody>
      </p:sp>
      <p:sp>
        <p:nvSpPr>
          <p:cNvPr id="81" name="Rectangle 80"/>
          <p:cNvSpPr/>
          <p:nvPr/>
        </p:nvSpPr>
        <p:spPr>
          <a:xfrm>
            <a:off x="9464040" y="4178808"/>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464040" y="4215384"/>
            <a:ext cx="2011680" cy="274320"/>
          </a:xfrm>
          <a:prstGeom prst="rect">
            <a:avLst/>
          </a:prstGeom>
          <a:noFill/>
        </p:spPr>
        <p:txBody>
          <a:bodyPr wrap="square">
            <a:spAutoFit/>
          </a:bodyPr>
          <a:lstStyle/>
          <a:p>
            <a:pPr algn="ctr"/>
            <a:r>
              <a:rPr sz="1100" b="1" i="0">
                <a:solidFill>
                  <a:srgbClr val="10B981"/>
                </a:solidFill>
              </a:rPr>
              <a:t>✓</a:t>
            </a:r>
          </a:p>
        </p:txBody>
      </p:sp>
      <p:sp>
        <p:nvSpPr>
          <p:cNvPr id="83" name="Rectangle 82"/>
          <p:cNvSpPr/>
          <p:nvPr/>
        </p:nvSpPr>
        <p:spPr>
          <a:xfrm>
            <a:off x="228600" y="4517136"/>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20040" y="4553712"/>
            <a:ext cx="2697480" cy="274320"/>
          </a:xfrm>
          <a:prstGeom prst="rect">
            <a:avLst/>
          </a:prstGeom>
          <a:noFill/>
        </p:spPr>
        <p:txBody>
          <a:bodyPr wrap="square">
            <a:spAutoFit/>
          </a:bodyPr>
          <a:lstStyle/>
          <a:p>
            <a:pPr algn="l"/>
            <a:r>
              <a:rPr sz="1100" b="0" i="0">
                <a:solidFill>
                  <a:srgbClr val="9999AA"/>
                </a:solidFill>
              </a:rPr>
              <a:t>Approval Workflows</a:t>
            </a:r>
          </a:p>
        </p:txBody>
      </p:sp>
      <p:sp>
        <p:nvSpPr>
          <p:cNvPr id="85" name="Rectangle 84"/>
          <p:cNvSpPr/>
          <p:nvPr/>
        </p:nvSpPr>
        <p:spPr>
          <a:xfrm>
            <a:off x="315468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154680" y="4553712"/>
            <a:ext cx="2011680" cy="274320"/>
          </a:xfrm>
          <a:prstGeom prst="rect">
            <a:avLst/>
          </a:prstGeom>
          <a:noFill/>
        </p:spPr>
        <p:txBody>
          <a:bodyPr wrap="square">
            <a:spAutoFit/>
          </a:bodyPr>
          <a:lstStyle/>
          <a:p>
            <a:pPr algn="ctr"/>
            <a:r>
              <a:rPr sz="1100" b="1" i="0">
                <a:solidFill>
                  <a:srgbClr val="EF4444"/>
                </a:solidFill>
              </a:rPr>
              <a:t>✗</a:t>
            </a:r>
          </a:p>
        </p:txBody>
      </p:sp>
      <p:sp>
        <p:nvSpPr>
          <p:cNvPr id="87" name="Rectangle 86"/>
          <p:cNvSpPr/>
          <p:nvPr/>
        </p:nvSpPr>
        <p:spPr>
          <a:xfrm>
            <a:off x="525780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257800" y="4553712"/>
            <a:ext cx="2011680" cy="274320"/>
          </a:xfrm>
          <a:prstGeom prst="rect">
            <a:avLst/>
          </a:prstGeom>
          <a:noFill/>
        </p:spPr>
        <p:txBody>
          <a:bodyPr wrap="square">
            <a:spAutoFit/>
          </a:bodyPr>
          <a:lstStyle/>
          <a:p>
            <a:pPr algn="ctr"/>
            <a:r>
              <a:rPr sz="1100" b="1" i="0">
                <a:solidFill>
                  <a:srgbClr val="EF4444"/>
                </a:solidFill>
              </a:rPr>
              <a:t>✗</a:t>
            </a:r>
          </a:p>
        </p:txBody>
      </p:sp>
      <p:sp>
        <p:nvSpPr>
          <p:cNvPr id="89" name="Rectangle 88"/>
          <p:cNvSpPr/>
          <p:nvPr/>
        </p:nvSpPr>
        <p:spPr>
          <a:xfrm>
            <a:off x="736092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360920" y="4553712"/>
            <a:ext cx="2011680" cy="274320"/>
          </a:xfrm>
          <a:prstGeom prst="rect">
            <a:avLst/>
          </a:prstGeom>
          <a:noFill/>
        </p:spPr>
        <p:txBody>
          <a:bodyPr wrap="square">
            <a:spAutoFit/>
          </a:bodyPr>
          <a:lstStyle/>
          <a:p>
            <a:pPr algn="ctr"/>
            <a:r>
              <a:rPr sz="1100" b="1" i="0">
                <a:solidFill>
                  <a:srgbClr val="10B981"/>
                </a:solidFill>
              </a:rPr>
              <a:t>✓</a:t>
            </a:r>
          </a:p>
        </p:txBody>
      </p:sp>
      <p:sp>
        <p:nvSpPr>
          <p:cNvPr id="91" name="Rectangle 90"/>
          <p:cNvSpPr/>
          <p:nvPr/>
        </p:nvSpPr>
        <p:spPr>
          <a:xfrm>
            <a:off x="9464040" y="4517136"/>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464040" y="4553712"/>
            <a:ext cx="2011680" cy="274320"/>
          </a:xfrm>
          <a:prstGeom prst="rect">
            <a:avLst/>
          </a:prstGeom>
          <a:noFill/>
        </p:spPr>
        <p:txBody>
          <a:bodyPr wrap="square">
            <a:spAutoFit/>
          </a:bodyPr>
          <a:lstStyle/>
          <a:p>
            <a:pPr algn="ctr"/>
            <a:r>
              <a:rPr sz="1100" b="1" i="0">
                <a:solidFill>
                  <a:srgbClr val="10B981"/>
                </a:solidFill>
              </a:rPr>
              <a:t>✓</a:t>
            </a:r>
          </a:p>
        </p:txBody>
      </p:sp>
      <p:sp>
        <p:nvSpPr>
          <p:cNvPr id="93" name="Rectangle 92"/>
          <p:cNvSpPr/>
          <p:nvPr/>
        </p:nvSpPr>
        <p:spPr>
          <a:xfrm>
            <a:off x="228600" y="4855464"/>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20040" y="4892040"/>
            <a:ext cx="2697480" cy="274320"/>
          </a:xfrm>
          <a:prstGeom prst="rect">
            <a:avLst/>
          </a:prstGeom>
          <a:noFill/>
        </p:spPr>
        <p:txBody>
          <a:bodyPr wrap="square">
            <a:spAutoFit/>
          </a:bodyPr>
          <a:lstStyle/>
          <a:p>
            <a:pPr algn="l"/>
            <a:r>
              <a:rPr sz="1100" b="0" i="0">
                <a:solidFill>
                  <a:srgbClr val="9999AA"/>
                </a:solidFill>
              </a:rPr>
              <a:t>Jira + GitHub Sync</a:t>
            </a:r>
          </a:p>
        </p:txBody>
      </p:sp>
      <p:sp>
        <p:nvSpPr>
          <p:cNvPr id="95" name="Rectangle 94"/>
          <p:cNvSpPr/>
          <p:nvPr/>
        </p:nvSpPr>
        <p:spPr>
          <a:xfrm>
            <a:off x="315468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3154680" y="4892040"/>
            <a:ext cx="2011680" cy="274320"/>
          </a:xfrm>
          <a:prstGeom prst="rect">
            <a:avLst/>
          </a:prstGeom>
          <a:noFill/>
        </p:spPr>
        <p:txBody>
          <a:bodyPr wrap="square">
            <a:spAutoFit/>
          </a:bodyPr>
          <a:lstStyle/>
          <a:p>
            <a:pPr algn="ctr"/>
            <a:r>
              <a:rPr sz="1100" b="1" i="0">
                <a:solidFill>
                  <a:srgbClr val="EF4444"/>
                </a:solidFill>
              </a:rPr>
              <a:t>✗</a:t>
            </a:r>
          </a:p>
        </p:txBody>
      </p:sp>
      <p:sp>
        <p:nvSpPr>
          <p:cNvPr id="97" name="Rectangle 96"/>
          <p:cNvSpPr/>
          <p:nvPr/>
        </p:nvSpPr>
        <p:spPr>
          <a:xfrm>
            <a:off x="525780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257800" y="4892040"/>
            <a:ext cx="2011680" cy="274320"/>
          </a:xfrm>
          <a:prstGeom prst="rect">
            <a:avLst/>
          </a:prstGeom>
          <a:noFill/>
        </p:spPr>
        <p:txBody>
          <a:bodyPr wrap="square">
            <a:spAutoFit/>
          </a:bodyPr>
          <a:lstStyle/>
          <a:p>
            <a:pPr algn="ctr"/>
            <a:r>
              <a:rPr sz="1100" b="1" i="0">
                <a:solidFill>
                  <a:srgbClr val="EF4444"/>
                </a:solidFill>
              </a:rPr>
              <a:t>✗</a:t>
            </a:r>
          </a:p>
        </p:txBody>
      </p:sp>
      <p:sp>
        <p:nvSpPr>
          <p:cNvPr id="99" name="Rectangle 98"/>
          <p:cNvSpPr/>
          <p:nvPr/>
        </p:nvSpPr>
        <p:spPr>
          <a:xfrm>
            <a:off x="736092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7360920" y="4892040"/>
            <a:ext cx="2011680" cy="274320"/>
          </a:xfrm>
          <a:prstGeom prst="rect">
            <a:avLst/>
          </a:prstGeom>
          <a:noFill/>
        </p:spPr>
        <p:txBody>
          <a:bodyPr wrap="square">
            <a:spAutoFit/>
          </a:bodyPr>
          <a:lstStyle/>
          <a:p>
            <a:pPr algn="ctr"/>
            <a:r>
              <a:rPr sz="1100" b="1" i="0">
                <a:solidFill>
                  <a:srgbClr val="10B981"/>
                </a:solidFill>
              </a:rPr>
              <a:t>✓</a:t>
            </a:r>
          </a:p>
        </p:txBody>
      </p:sp>
      <p:sp>
        <p:nvSpPr>
          <p:cNvPr id="101" name="Rectangle 100"/>
          <p:cNvSpPr/>
          <p:nvPr/>
        </p:nvSpPr>
        <p:spPr>
          <a:xfrm>
            <a:off x="9464040" y="4855464"/>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9464040" y="4892040"/>
            <a:ext cx="2011680" cy="274320"/>
          </a:xfrm>
          <a:prstGeom prst="rect">
            <a:avLst/>
          </a:prstGeom>
          <a:noFill/>
        </p:spPr>
        <p:txBody>
          <a:bodyPr wrap="square">
            <a:spAutoFit/>
          </a:bodyPr>
          <a:lstStyle/>
          <a:p>
            <a:pPr algn="ctr"/>
            <a:r>
              <a:rPr sz="1100" b="1" i="0">
                <a:solidFill>
                  <a:srgbClr val="10B981"/>
                </a:solidFill>
              </a:rPr>
              <a:t>✓</a:t>
            </a:r>
          </a:p>
        </p:txBody>
      </p:sp>
      <p:sp>
        <p:nvSpPr>
          <p:cNvPr id="103" name="Rectangle 102"/>
          <p:cNvSpPr/>
          <p:nvPr/>
        </p:nvSpPr>
        <p:spPr>
          <a:xfrm>
            <a:off x="228600" y="5193792"/>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20040" y="5230368"/>
            <a:ext cx="2697480" cy="274320"/>
          </a:xfrm>
          <a:prstGeom prst="rect">
            <a:avLst/>
          </a:prstGeom>
          <a:noFill/>
        </p:spPr>
        <p:txBody>
          <a:bodyPr wrap="square">
            <a:spAutoFit/>
          </a:bodyPr>
          <a:lstStyle/>
          <a:p>
            <a:pPr algn="l"/>
            <a:r>
              <a:rPr sz="1100" b="0" i="0">
                <a:solidFill>
                  <a:srgbClr val="9999AA"/>
                </a:solidFill>
              </a:rPr>
              <a:t>Slack / Teams Alerts</a:t>
            </a:r>
          </a:p>
        </p:txBody>
      </p:sp>
      <p:sp>
        <p:nvSpPr>
          <p:cNvPr id="105" name="Rectangle 104"/>
          <p:cNvSpPr/>
          <p:nvPr/>
        </p:nvSpPr>
        <p:spPr>
          <a:xfrm>
            <a:off x="315468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3154680" y="5230368"/>
            <a:ext cx="2011680" cy="274320"/>
          </a:xfrm>
          <a:prstGeom prst="rect">
            <a:avLst/>
          </a:prstGeom>
          <a:noFill/>
        </p:spPr>
        <p:txBody>
          <a:bodyPr wrap="square">
            <a:spAutoFit/>
          </a:bodyPr>
          <a:lstStyle/>
          <a:p>
            <a:pPr algn="ctr"/>
            <a:r>
              <a:rPr sz="1100" b="1" i="0">
                <a:solidFill>
                  <a:srgbClr val="EF4444"/>
                </a:solidFill>
              </a:rPr>
              <a:t>✗</a:t>
            </a:r>
          </a:p>
        </p:txBody>
      </p:sp>
      <p:sp>
        <p:nvSpPr>
          <p:cNvPr id="107" name="Rectangle 106"/>
          <p:cNvSpPr/>
          <p:nvPr/>
        </p:nvSpPr>
        <p:spPr>
          <a:xfrm>
            <a:off x="525780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257800" y="5230368"/>
            <a:ext cx="2011680" cy="274320"/>
          </a:xfrm>
          <a:prstGeom prst="rect">
            <a:avLst/>
          </a:prstGeom>
          <a:noFill/>
        </p:spPr>
        <p:txBody>
          <a:bodyPr wrap="square">
            <a:spAutoFit/>
          </a:bodyPr>
          <a:lstStyle/>
          <a:p>
            <a:pPr algn="ctr"/>
            <a:r>
              <a:rPr sz="1100" b="1" i="0">
                <a:solidFill>
                  <a:srgbClr val="EF4444"/>
                </a:solidFill>
              </a:rPr>
              <a:t>✗</a:t>
            </a:r>
          </a:p>
        </p:txBody>
      </p:sp>
      <p:sp>
        <p:nvSpPr>
          <p:cNvPr id="109" name="Rectangle 108"/>
          <p:cNvSpPr/>
          <p:nvPr/>
        </p:nvSpPr>
        <p:spPr>
          <a:xfrm>
            <a:off x="736092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7360920" y="5230368"/>
            <a:ext cx="2011680" cy="274320"/>
          </a:xfrm>
          <a:prstGeom prst="rect">
            <a:avLst/>
          </a:prstGeom>
          <a:noFill/>
        </p:spPr>
        <p:txBody>
          <a:bodyPr wrap="square">
            <a:spAutoFit/>
          </a:bodyPr>
          <a:lstStyle/>
          <a:p>
            <a:pPr algn="ctr"/>
            <a:r>
              <a:rPr sz="1100" b="1" i="0">
                <a:solidFill>
                  <a:srgbClr val="10B981"/>
                </a:solidFill>
              </a:rPr>
              <a:t>✓</a:t>
            </a:r>
          </a:p>
        </p:txBody>
      </p:sp>
      <p:sp>
        <p:nvSpPr>
          <p:cNvPr id="111" name="Rectangle 110"/>
          <p:cNvSpPr/>
          <p:nvPr/>
        </p:nvSpPr>
        <p:spPr>
          <a:xfrm>
            <a:off x="9464040" y="5193792"/>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9464040" y="5230368"/>
            <a:ext cx="2011680" cy="274320"/>
          </a:xfrm>
          <a:prstGeom prst="rect">
            <a:avLst/>
          </a:prstGeom>
          <a:noFill/>
        </p:spPr>
        <p:txBody>
          <a:bodyPr wrap="square">
            <a:spAutoFit/>
          </a:bodyPr>
          <a:lstStyle/>
          <a:p>
            <a:pPr algn="ctr"/>
            <a:r>
              <a:rPr sz="1100" b="1" i="0">
                <a:solidFill>
                  <a:srgbClr val="10B981"/>
                </a:solidFill>
              </a:rPr>
              <a:t>✓</a:t>
            </a:r>
          </a:p>
        </p:txBody>
      </p:sp>
      <p:sp>
        <p:nvSpPr>
          <p:cNvPr id="113" name="Rectangle 112"/>
          <p:cNvSpPr/>
          <p:nvPr/>
        </p:nvSpPr>
        <p:spPr>
          <a:xfrm>
            <a:off x="228600" y="5532120"/>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20040" y="5568696"/>
            <a:ext cx="2697480" cy="274320"/>
          </a:xfrm>
          <a:prstGeom prst="rect">
            <a:avLst/>
          </a:prstGeom>
          <a:noFill/>
        </p:spPr>
        <p:txBody>
          <a:bodyPr wrap="square">
            <a:spAutoFit/>
          </a:bodyPr>
          <a:lstStyle/>
          <a:p>
            <a:pPr algn="l"/>
            <a:r>
              <a:rPr sz="1100" b="0" i="0">
                <a:solidFill>
                  <a:srgbClr val="9999AA"/>
                </a:solidFill>
              </a:rPr>
              <a:t>Multi-Tenant (MSP)</a:t>
            </a:r>
          </a:p>
        </p:txBody>
      </p:sp>
      <p:sp>
        <p:nvSpPr>
          <p:cNvPr id="115" name="Rectangle 114"/>
          <p:cNvSpPr/>
          <p:nvPr/>
        </p:nvSpPr>
        <p:spPr>
          <a:xfrm>
            <a:off x="315468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3154680" y="5568696"/>
            <a:ext cx="2011680" cy="274320"/>
          </a:xfrm>
          <a:prstGeom prst="rect">
            <a:avLst/>
          </a:prstGeom>
          <a:noFill/>
        </p:spPr>
        <p:txBody>
          <a:bodyPr wrap="square">
            <a:spAutoFit/>
          </a:bodyPr>
          <a:lstStyle/>
          <a:p>
            <a:pPr algn="ctr"/>
            <a:r>
              <a:rPr sz="1100" b="1" i="0">
                <a:solidFill>
                  <a:srgbClr val="EF4444"/>
                </a:solidFill>
              </a:rPr>
              <a:t>✗</a:t>
            </a:r>
          </a:p>
        </p:txBody>
      </p:sp>
      <p:sp>
        <p:nvSpPr>
          <p:cNvPr id="117" name="Rectangle 116"/>
          <p:cNvSpPr/>
          <p:nvPr/>
        </p:nvSpPr>
        <p:spPr>
          <a:xfrm>
            <a:off x="525780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257800" y="5568696"/>
            <a:ext cx="2011680" cy="274320"/>
          </a:xfrm>
          <a:prstGeom prst="rect">
            <a:avLst/>
          </a:prstGeom>
          <a:noFill/>
        </p:spPr>
        <p:txBody>
          <a:bodyPr wrap="square">
            <a:spAutoFit/>
          </a:bodyPr>
          <a:lstStyle/>
          <a:p>
            <a:pPr algn="ctr"/>
            <a:r>
              <a:rPr sz="1100" b="1" i="0">
                <a:solidFill>
                  <a:srgbClr val="EF4444"/>
                </a:solidFill>
              </a:rPr>
              <a:t>✗</a:t>
            </a:r>
          </a:p>
        </p:txBody>
      </p:sp>
      <p:sp>
        <p:nvSpPr>
          <p:cNvPr id="119" name="Rectangle 118"/>
          <p:cNvSpPr/>
          <p:nvPr/>
        </p:nvSpPr>
        <p:spPr>
          <a:xfrm>
            <a:off x="736092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7360920" y="5568696"/>
            <a:ext cx="2011680" cy="274320"/>
          </a:xfrm>
          <a:prstGeom prst="rect">
            <a:avLst/>
          </a:prstGeom>
          <a:noFill/>
        </p:spPr>
        <p:txBody>
          <a:bodyPr wrap="square">
            <a:spAutoFit/>
          </a:bodyPr>
          <a:lstStyle/>
          <a:p>
            <a:pPr algn="ctr"/>
            <a:r>
              <a:rPr sz="1100" b="1" i="0">
                <a:solidFill>
                  <a:srgbClr val="EF4444"/>
                </a:solidFill>
              </a:rPr>
              <a:t>✗</a:t>
            </a:r>
          </a:p>
        </p:txBody>
      </p:sp>
      <p:sp>
        <p:nvSpPr>
          <p:cNvPr id="121" name="Rectangle 120"/>
          <p:cNvSpPr/>
          <p:nvPr/>
        </p:nvSpPr>
        <p:spPr>
          <a:xfrm>
            <a:off x="9464040" y="5532120"/>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TextBox 121"/>
          <p:cNvSpPr txBox="1"/>
          <p:nvPr/>
        </p:nvSpPr>
        <p:spPr>
          <a:xfrm>
            <a:off x="9464040" y="5568696"/>
            <a:ext cx="2011680" cy="274320"/>
          </a:xfrm>
          <a:prstGeom prst="rect">
            <a:avLst/>
          </a:prstGeom>
          <a:noFill/>
        </p:spPr>
        <p:txBody>
          <a:bodyPr wrap="square">
            <a:spAutoFit/>
          </a:bodyPr>
          <a:lstStyle/>
          <a:p>
            <a:pPr algn="ctr"/>
            <a:r>
              <a:rPr sz="1100" b="1" i="0">
                <a:solidFill>
                  <a:srgbClr val="10B981"/>
                </a:solidFill>
              </a:rPr>
              <a:t>✓</a:t>
            </a:r>
          </a:p>
        </p:txBody>
      </p:sp>
      <p:sp>
        <p:nvSpPr>
          <p:cNvPr id="123" name="Rectangle 122"/>
          <p:cNvSpPr/>
          <p:nvPr/>
        </p:nvSpPr>
        <p:spPr>
          <a:xfrm>
            <a:off x="228600" y="5870448"/>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320040" y="5907024"/>
            <a:ext cx="2697480" cy="274320"/>
          </a:xfrm>
          <a:prstGeom prst="rect">
            <a:avLst/>
          </a:prstGeom>
          <a:noFill/>
        </p:spPr>
        <p:txBody>
          <a:bodyPr wrap="square">
            <a:spAutoFit/>
          </a:bodyPr>
          <a:lstStyle/>
          <a:p>
            <a:pPr algn="l"/>
            <a:r>
              <a:rPr sz="1100" b="0" i="0">
                <a:solidFill>
                  <a:srgbClr val="9999AA"/>
                </a:solidFill>
              </a:rPr>
              <a:t>Developer REST API</a:t>
            </a:r>
          </a:p>
        </p:txBody>
      </p:sp>
      <p:sp>
        <p:nvSpPr>
          <p:cNvPr id="125" name="Rectangle 124"/>
          <p:cNvSpPr/>
          <p:nvPr/>
        </p:nvSpPr>
        <p:spPr>
          <a:xfrm>
            <a:off x="315468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3154680" y="5907024"/>
            <a:ext cx="2011680" cy="274320"/>
          </a:xfrm>
          <a:prstGeom prst="rect">
            <a:avLst/>
          </a:prstGeom>
          <a:noFill/>
        </p:spPr>
        <p:txBody>
          <a:bodyPr wrap="square">
            <a:spAutoFit/>
          </a:bodyPr>
          <a:lstStyle/>
          <a:p>
            <a:pPr algn="ctr"/>
            <a:r>
              <a:rPr sz="1100" b="1" i="0">
                <a:solidFill>
                  <a:srgbClr val="EF4444"/>
                </a:solidFill>
              </a:rPr>
              <a:t>✗</a:t>
            </a:r>
          </a:p>
        </p:txBody>
      </p:sp>
      <p:sp>
        <p:nvSpPr>
          <p:cNvPr id="127" name="Rectangle 126"/>
          <p:cNvSpPr/>
          <p:nvPr/>
        </p:nvSpPr>
        <p:spPr>
          <a:xfrm>
            <a:off x="525780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5257800" y="5907024"/>
            <a:ext cx="2011680" cy="274320"/>
          </a:xfrm>
          <a:prstGeom prst="rect">
            <a:avLst/>
          </a:prstGeom>
          <a:noFill/>
        </p:spPr>
        <p:txBody>
          <a:bodyPr wrap="square">
            <a:spAutoFit/>
          </a:bodyPr>
          <a:lstStyle/>
          <a:p>
            <a:pPr algn="ctr"/>
            <a:r>
              <a:rPr sz="1100" b="1" i="0">
                <a:solidFill>
                  <a:srgbClr val="EF4444"/>
                </a:solidFill>
              </a:rPr>
              <a:t>✗</a:t>
            </a:r>
          </a:p>
        </p:txBody>
      </p:sp>
      <p:sp>
        <p:nvSpPr>
          <p:cNvPr id="129" name="Rectangle 128"/>
          <p:cNvSpPr/>
          <p:nvPr/>
        </p:nvSpPr>
        <p:spPr>
          <a:xfrm>
            <a:off x="736092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7360920" y="5907024"/>
            <a:ext cx="2011680" cy="274320"/>
          </a:xfrm>
          <a:prstGeom prst="rect">
            <a:avLst/>
          </a:prstGeom>
          <a:noFill/>
        </p:spPr>
        <p:txBody>
          <a:bodyPr wrap="square">
            <a:spAutoFit/>
          </a:bodyPr>
          <a:lstStyle/>
          <a:p>
            <a:pPr algn="ctr"/>
            <a:r>
              <a:rPr sz="1100" b="0" i="0">
                <a:solidFill>
                  <a:srgbClr val="F59E0B"/>
                </a:solidFill>
              </a:rPr>
              <a:t>Limited</a:t>
            </a:r>
          </a:p>
        </p:txBody>
      </p:sp>
      <p:sp>
        <p:nvSpPr>
          <p:cNvPr id="131" name="Rectangle 130"/>
          <p:cNvSpPr/>
          <p:nvPr/>
        </p:nvSpPr>
        <p:spPr>
          <a:xfrm>
            <a:off x="9464040" y="5870448"/>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TextBox 131"/>
          <p:cNvSpPr txBox="1"/>
          <p:nvPr/>
        </p:nvSpPr>
        <p:spPr>
          <a:xfrm>
            <a:off x="9464040" y="5907024"/>
            <a:ext cx="2011680" cy="274320"/>
          </a:xfrm>
          <a:prstGeom prst="rect">
            <a:avLst/>
          </a:prstGeom>
          <a:noFill/>
        </p:spPr>
        <p:txBody>
          <a:bodyPr wrap="square">
            <a:spAutoFit/>
          </a:bodyPr>
          <a:lstStyle/>
          <a:p>
            <a:pPr algn="ctr"/>
            <a:r>
              <a:rPr sz="1100" b="1" i="0">
                <a:solidFill>
                  <a:srgbClr val="10B981"/>
                </a:solidFill>
              </a:rPr>
              <a:t>✓</a:t>
            </a:r>
          </a:p>
        </p:txBody>
      </p:sp>
      <p:sp>
        <p:nvSpPr>
          <p:cNvPr id="133" name="Rectangle 132"/>
          <p:cNvSpPr/>
          <p:nvPr/>
        </p:nvSpPr>
        <p:spPr>
          <a:xfrm>
            <a:off x="228600" y="6208776"/>
            <a:ext cx="283464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133"/>
          <p:cNvSpPr txBox="1"/>
          <p:nvPr/>
        </p:nvSpPr>
        <p:spPr>
          <a:xfrm>
            <a:off x="320040" y="6245352"/>
            <a:ext cx="2697480" cy="274320"/>
          </a:xfrm>
          <a:prstGeom prst="rect">
            <a:avLst/>
          </a:prstGeom>
          <a:noFill/>
        </p:spPr>
        <p:txBody>
          <a:bodyPr wrap="square">
            <a:spAutoFit/>
          </a:bodyPr>
          <a:lstStyle/>
          <a:p>
            <a:pPr algn="l"/>
            <a:r>
              <a:rPr sz="1100" b="0" i="0">
                <a:solidFill>
                  <a:srgbClr val="9999AA"/>
                </a:solidFill>
              </a:rPr>
              <a:t>Support</a:t>
            </a:r>
          </a:p>
        </p:txBody>
      </p:sp>
      <p:sp>
        <p:nvSpPr>
          <p:cNvPr id="135" name="Rectangle 134"/>
          <p:cNvSpPr/>
          <p:nvPr/>
        </p:nvSpPr>
        <p:spPr>
          <a:xfrm>
            <a:off x="315468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135"/>
          <p:cNvSpPr txBox="1"/>
          <p:nvPr/>
        </p:nvSpPr>
        <p:spPr>
          <a:xfrm>
            <a:off x="3154680" y="6245352"/>
            <a:ext cx="2011680" cy="274320"/>
          </a:xfrm>
          <a:prstGeom prst="rect">
            <a:avLst/>
          </a:prstGeom>
          <a:noFill/>
        </p:spPr>
        <p:txBody>
          <a:bodyPr wrap="square">
            <a:spAutoFit/>
          </a:bodyPr>
          <a:lstStyle/>
          <a:p>
            <a:pPr algn="ctr"/>
            <a:r>
              <a:rPr sz="1100" b="0" i="0">
                <a:solidFill>
                  <a:srgbClr val="F59E0B"/>
                </a:solidFill>
              </a:rPr>
              <a:t>Email</a:t>
            </a:r>
          </a:p>
        </p:txBody>
      </p:sp>
      <p:sp>
        <p:nvSpPr>
          <p:cNvPr id="137" name="Rectangle 136"/>
          <p:cNvSpPr/>
          <p:nvPr/>
        </p:nvSpPr>
        <p:spPr>
          <a:xfrm>
            <a:off x="525780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5257800" y="6245352"/>
            <a:ext cx="2011680" cy="274320"/>
          </a:xfrm>
          <a:prstGeom prst="rect">
            <a:avLst/>
          </a:prstGeom>
          <a:noFill/>
        </p:spPr>
        <p:txBody>
          <a:bodyPr wrap="square">
            <a:spAutoFit/>
          </a:bodyPr>
          <a:lstStyle/>
          <a:p>
            <a:pPr algn="ctr"/>
            <a:r>
              <a:rPr sz="1100" b="0" i="0">
                <a:solidFill>
                  <a:srgbClr val="F59E0B"/>
                </a:solidFill>
              </a:rPr>
              <a:t>Email</a:t>
            </a:r>
          </a:p>
        </p:txBody>
      </p:sp>
      <p:sp>
        <p:nvSpPr>
          <p:cNvPr id="139" name="Rectangle 138"/>
          <p:cNvSpPr/>
          <p:nvPr/>
        </p:nvSpPr>
        <p:spPr>
          <a:xfrm>
            <a:off x="736092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p:cNvSpPr txBox="1"/>
          <p:nvPr/>
        </p:nvSpPr>
        <p:spPr>
          <a:xfrm>
            <a:off x="7360920" y="6245352"/>
            <a:ext cx="2011680" cy="274320"/>
          </a:xfrm>
          <a:prstGeom prst="rect">
            <a:avLst/>
          </a:prstGeom>
          <a:noFill/>
        </p:spPr>
        <p:txBody>
          <a:bodyPr wrap="square">
            <a:spAutoFit/>
          </a:bodyPr>
          <a:lstStyle/>
          <a:p>
            <a:pPr algn="ctr"/>
            <a:r>
              <a:rPr sz="1100" b="0" i="0">
                <a:solidFill>
                  <a:srgbClr val="F59E0B"/>
                </a:solidFill>
              </a:rPr>
              <a:t>Email</a:t>
            </a:r>
          </a:p>
        </p:txBody>
      </p:sp>
      <p:sp>
        <p:nvSpPr>
          <p:cNvPr id="141" name="Rectangle 140"/>
          <p:cNvSpPr/>
          <p:nvPr/>
        </p:nvSpPr>
        <p:spPr>
          <a:xfrm>
            <a:off x="9464040" y="6208776"/>
            <a:ext cx="2011680" cy="329184"/>
          </a:xfrm>
          <a:prstGeom prst="rect">
            <a:avLst/>
          </a:prstGeom>
          <a:solidFill>
            <a:srgbClr val="14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9464040" y="6245352"/>
            <a:ext cx="2011680" cy="274320"/>
          </a:xfrm>
          <a:prstGeom prst="rect">
            <a:avLst/>
          </a:prstGeom>
          <a:noFill/>
        </p:spPr>
        <p:txBody>
          <a:bodyPr wrap="square">
            <a:spAutoFit/>
          </a:bodyPr>
          <a:lstStyle/>
          <a:p>
            <a:pPr algn="ctr"/>
            <a:r>
              <a:rPr sz="1100" b="0" i="0">
                <a:solidFill>
                  <a:srgbClr val="F59E0B"/>
                </a:solidFill>
              </a:rPr>
              <a:t>Priority</a:t>
            </a:r>
          </a:p>
        </p:txBody>
      </p:sp>
      <p:sp>
        <p:nvSpPr>
          <p:cNvPr id="143" name="Rectangle 142"/>
          <p:cNvSpPr/>
          <p:nvPr/>
        </p:nvSpPr>
        <p:spPr>
          <a:xfrm>
            <a:off x="228600" y="6547104"/>
            <a:ext cx="283464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TextBox 143"/>
          <p:cNvSpPr txBox="1"/>
          <p:nvPr/>
        </p:nvSpPr>
        <p:spPr>
          <a:xfrm>
            <a:off x="320040" y="6583680"/>
            <a:ext cx="2697480" cy="274320"/>
          </a:xfrm>
          <a:prstGeom prst="rect">
            <a:avLst/>
          </a:prstGeom>
          <a:noFill/>
        </p:spPr>
        <p:txBody>
          <a:bodyPr wrap="square">
            <a:spAutoFit/>
          </a:bodyPr>
          <a:lstStyle/>
          <a:p>
            <a:pPr algn="l"/>
            <a:r>
              <a:rPr sz="1100" b="0" i="0">
                <a:solidFill>
                  <a:srgbClr val="9999AA"/>
                </a:solidFill>
              </a:rPr>
              <a:t>Free Trial</a:t>
            </a:r>
          </a:p>
        </p:txBody>
      </p:sp>
      <p:sp>
        <p:nvSpPr>
          <p:cNvPr id="145" name="Rectangle 144"/>
          <p:cNvSpPr/>
          <p:nvPr/>
        </p:nvSpPr>
        <p:spPr>
          <a:xfrm>
            <a:off x="315468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TextBox 145"/>
          <p:cNvSpPr txBox="1"/>
          <p:nvPr/>
        </p:nvSpPr>
        <p:spPr>
          <a:xfrm>
            <a:off x="3154680" y="6583680"/>
            <a:ext cx="2011680" cy="274320"/>
          </a:xfrm>
          <a:prstGeom prst="rect">
            <a:avLst/>
          </a:prstGeom>
          <a:noFill/>
        </p:spPr>
        <p:txBody>
          <a:bodyPr wrap="square">
            <a:spAutoFit/>
          </a:bodyPr>
          <a:lstStyle/>
          <a:p>
            <a:pPr algn="ctr"/>
            <a:r>
              <a:rPr sz="1100" b="0" i="0">
                <a:solidFill>
                  <a:srgbClr val="F59E0B"/>
                </a:solidFill>
              </a:rPr>
              <a:t>2 wk</a:t>
            </a:r>
          </a:p>
        </p:txBody>
      </p:sp>
      <p:sp>
        <p:nvSpPr>
          <p:cNvPr id="147" name="Rectangle 146"/>
          <p:cNvSpPr/>
          <p:nvPr/>
        </p:nvSpPr>
        <p:spPr>
          <a:xfrm>
            <a:off x="525780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5257800" y="6583680"/>
            <a:ext cx="2011680" cy="274320"/>
          </a:xfrm>
          <a:prstGeom prst="rect">
            <a:avLst/>
          </a:prstGeom>
          <a:noFill/>
        </p:spPr>
        <p:txBody>
          <a:bodyPr wrap="square">
            <a:spAutoFit/>
          </a:bodyPr>
          <a:lstStyle/>
          <a:p>
            <a:pPr algn="ctr"/>
            <a:r>
              <a:rPr sz="1100" b="0" i="0">
                <a:solidFill>
                  <a:srgbClr val="F59E0B"/>
                </a:solidFill>
              </a:rPr>
              <a:t>2 wk</a:t>
            </a:r>
          </a:p>
        </p:txBody>
      </p:sp>
      <p:sp>
        <p:nvSpPr>
          <p:cNvPr id="149" name="Rectangle 148"/>
          <p:cNvSpPr/>
          <p:nvPr/>
        </p:nvSpPr>
        <p:spPr>
          <a:xfrm>
            <a:off x="736092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p:cNvSpPr txBox="1"/>
          <p:nvPr/>
        </p:nvSpPr>
        <p:spPr>
          <a:xfrm>
            <a:off x="7360920" y="6583680"/>
            <a:ext cx="2011680" cy="274320"/>
          </a:xfrm>
          <a:prstGeom prst="rect">
            <a:avLst/>
          </a:prstGeom>
          <a:noFill/>
        </p:spPr>
        <p:txBody>
          <a:bodyPr wrap="square">
            <a:spAutoFit/>
          </a:bodyPr>
          <a:lstStyle/>
          <a:p>
            <a:pPr algn="ctr"/>
            <a:r>
              <a:rPr sz="1100" b="0" i="0">
                <a:solidFill>
                  <a:srgbClr val="F59E0B"/>
                </a:solidFill>
              </a:rPr>
              <a:t>2 wk</a:t>
            </a:r>
          </a:p>
        </p:txBody>
      </p:sp>
      <p:sp>
        <p:nvSpPr>
          <p:cNvPr id="151" name="Rectangle 150"/>
          <p:cNvSpPr/>
          <p:nvPr/>
        </p:nvSpPr>
        <p:spPr>
          <a:xfrm>
            <a:off x="9464040" y="6547104"/>
            <a:ext cx="2011680" cy="329184"/>
          </a:xfrm>
          <a:prstGeom prst="rect">
            <a:avLst/>
          </a:prstGeom>
          <a:solidFill>
            <a:srgbClr val="101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TextBox 151"/>
          <p:cNvSpPr txBox="1"/>
          <p:nvPr/>
        </p:nvSpPr>
        <p:spPr>
          <a:xfrm>
            <a:off x="9464040" y="6583680"/>
            <a:ext cx="2011680" cy="274320"/>
          </a:xfrm>
          <a:prstGeom prst="rect">
            <a:avLst/>
          </a:prstGeom>
          <a:noFill/>
        </p:spPr>
        <p:txBody>
          <a:bodyPr wrap="square">
            <a:spAutoFit/>
          </a:bodyPr>
          <a:lstStyle/>
          <a:p>
            <a:pPr algn="ctr"/>
            <a:r>
              <a:rPr sz="1100" b="0" i="0">
                <a:solidFill>
                  <a:srgbClr val="F59E0B"/>
                </a:solidFill>
              </a:rPr>
              <a:t>2 wk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Competitive Positioning</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VigiliCloud wins on speed, simplicity, and SMB pricing</a:t>
            </a:r>
          </a:p>
        </p:txBody>
      </p:sp>
      <p:sp>
        <p:nvSpPr>
          <p:cNvPr id="6" name="Rectangle 5"/>
          <p:cNvSpPr/>
          <p:nvPr/>
        </p:nvSpPr>
        <p:spPr>
          <a:xfrm>
            <a:off x="274320" y="1280160"/>
            <a:ext cx="11567160" cy="91440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280160"/>
            <a:ext cx="164592" cy="914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353312"/>
            <a:ext cx="2743200" cy="411480"/>
          </a:xfrm>
          <a:prstGeom prst="rect">
            <a:avLst/>
          </a:prstGeom>
          <a:noFill/>
        </p:spPr>
        <p:txBody>
          <a:bodyPr wrap="square">
            <a:spAutoFit/>
          </a:bodyPr>
          <a:lstStyle/>
          <a:p>
            <a:pPr algn="l"/>
            <a:r>
              <a:rPr sz="1400" b="1" i="0">
                <a:solidFill>
                  <a:srgbClr val="10B981"/>
                </a:solidFill>
              </a:rPr>
              <a:t>VigiliCloud</a:t>
            </a:r>
          </a:p>
        </p:txBody>
      </p:sp>
      <p:sp>
        <p:nvSpPr>
          <p:cNvPr id="9" name="TextBox 8"/>
          <p:cNvSpPr txBox="1"/>
          <p:nvPr/>
        </p:nvSpPr>
        <p:spPr>
          <a:xfrm>
            <a:off x="548640" y="1755648"/>
            <a:ext cx="10972800" cy="384048"/>
          </a:xfrm>
          <a:prstGeom prst="rect">
            <a:avLst/>
          </a:prstGeom>
          <a:noFill/>
        </p:spPr>
        <p:txBody>
          <a:bodyPr wrap="square">
            <a:spAutoFit/>
          </a:bodyPr>
          <a:lstStyle/>
          <a:p>
            <a:pPr algn="l"/>
            <a:r>
              <a:rPr sz="1200" b="0" i="0">
                <a:solidFill>
                  <a:srgbClr val="9999AA"/>
                </a:solidFill>
              </a:rPr>
              <a:t>5 min setup · 2 min scan · $99/mo · AI analysis · fix guidance</a:t>
            </a:r>
          </a:p>
        </p:txBody>
      </p:sp>
      <p:sp>
        <p:nvSpPr>
          <p:cNvPr id="10" name="Rectangle 9"/>
          <p:cNvSpPr/>
          <p:nvPr/>
        </p:nvSpPr>
        <p:spPr>
          <a:xfrm>
            <a:off x="274320" y="2286000"/>
            <a:ext cx="11567160" cy="914400"/>
          </a:xfrm>
          <a:prstGeom prst="rect">
            <a:avLst/>
          </a:prstGeom>
          <a:solidFill>
            <a:srgbClr val="10101A"/>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2359152"/>
            <a:ext cx="2743200" cy="411480"/>
          </a:xfrm>
          <a:prstGeom prst="rect">
            <a:avLst/>
          </a:prstGeom>
          <a:noFill/>
        </p:spPr>
        <p:txBody>
          <a:bodyPr wrap="square">
            <a:spAutoFit/>
          </a:bodyPr>
          <a:lstStyle/>
          <a:p>
            <a:pPr algn="l"/>
            <a:r>
              <a:rPr sz="1400" b="1" i="0">
                <a:solidFill>
                  <a:srgbClr val="EF4444"/>
                </a:solidFill>
              </a:rPr>
              <a:t>AWS Security Hub</a:t>
            </a:r>
          </a:p>
        </p:txBody>
      </p:sp>
      <p:sp>
        <p:nvSpPr>
          <p:cNvPr id="12" name="TextBox 11"/>
          <p:cNvSpPr txBox="1"/>
          <p:nvPr/>
        </p:nvSpPr>
        <p:spPr>
          <a:xfrm>
            <a:off x="548640" y="2761488"/>
            <a:ext cx="10972800" cy="384048"/>
          </a:xfrm>
          <a:prstGeom prst="rect">
            <a:avLst/>
          </a:prstGeom>
          <a:noFill/>
        </p:spPr>
        <p:txBody>
          <a:bodyPr wrap="square">
            <a:spAutoFit/>
          </a:bodyPr>
          <a:lstStyle/>
          <a:p>
            <a:pPr algn="l"/>
            <a:r>
              <a:rPr sz="1200" b="0" i="0">
                <a:solidFill>
                  <a:srgbClr val="9999AA"/>
                </a:solidFill>
              </a:rPr>
              <a:t>Complex setup (weeks) · no fix guidance · per-finding cost model · no AI</a:t>
            </a:r>
          </a:p>
        </p:txBody>
      </p:sp>
      <p:sp>
        <p:nvSpPr>
          <p:cNvPr id="13" name="Rectangle 12"/>
          <p:cNvSpPr/>
          <p:nvPr/>
        </p:nvSpPr>
        <p:spPr>
          <a:xfrm>
            <a:off x="274320" y="3291840"/>
            <a:ext cx="11567160" cy="91440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364992"/>
            <a:ext cx="2743200" cy="411480"/>
          </a:xfrm>
          <a:prstGeom prst="rect">
            <a:avLst/>
          </a:prstGeom>
          <a:noFill/>
        </p:spPr>
        <p:txBody>
          <a:bodyPr wrap="square">
            <a:spAutoFit/>
          </a:bodyPr>
          <a:lstStyle/>
          <a:p>
            <a:pPr algn="l"/>
            <a:r>
              <a:rPr sz="1400" b="1" i="0">
                <a:solidFill>
                  <a:srgbClr val="F59E0B"/>
                </a:solidFill>
              </a:rPr>
              <a:t>Prowler (OSS)</a:t>
            </a:r>
          </a:p>
        </p:txBody>
      </p:sp>
      <p:sp>
        <p:nvSpPr>
          <p:cNvPr id="15" name="TextBox 14"/>
          <p:cNvSpPr txBox="1"/>
          <p:nvPr/>
        </p:nvSpPr>
        <p:spPr>
          <a:xfrm>
            <a:off x="548640" y="3767328"/>
            <a:ext cx="10972800" cy="384048"/>
          </a:xfrm>
          <a:prstGeom prst="rect">
            <a:avLst/>
          </a:prstGeom>
          <a:noFill/>
        </p:spPr>
        <p:txBody>
          <a:bodyPr wrap="square">
            <a:spAutoFit/>
          </a:bodyPr>
          <a:lstStyle/>
          <a:p>
            <a:pPr algn="l"/>
            <a:r>
              <a:rPr sz="1200" b="0" i="0">
                <a:solidFill>
                  <a:srgbClr val="9999AA"/>
                </a:solidFill>
              </a:rPr>
              <a:t>Self-hosted CLI only · no UI · no scheduled scans · no billing · no AI</a:t>
            </a:r>
          </a:p>
        </p:txBody>
      </p:sp>
      <p:sp>
        <p:nvSpPr>
          <p:cNvPr id="16" name="Rectangle 15"/>
          <p:cNvSpPr/>
          <p:nvPr/>
        </p:nvSpPr>
        <p:spPr>
          <a:xfrm>
            <a:off x="274320" y="4297680"/>
            <a:ext cx="11567160" cy="91440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4370832"/>
            <a:ext cx="2743200" cy="411480"/>
          </a:xfrm>
          <a:prstGeom prst="rect">
            <a:avLst/>
          </a:prstGeom>
          <a:noFill/>
        </p:spPr>
        <p:txBody>
          <a:bodyPr wrap="square">
            <a:spAutoFit/>
          </a:bodyPr>
          <a:lstStyle/>
          <a:p>
            <a:pPr algn="l"/>
            <a:r>
              <a:rPr sz="1400" b="1" i="0">
                <a:solidFill>
                  <a:srgbClr val="3B82F6"/>
                </a:solidFill>
              </a:rPr>
              <a:t>Lacework / Orca</a:t>
            </a:r>
          </a:p>
        </p:txBody>
      </p:sp>
      <p:sp>
        <p:nvSpPr>
          <p:cNvPr id="18" name="TextBox 17"/>
          <p:cNvSpPr txBox="1"/>
          <p:nvPr/>
        </p:nvSpPr>
        <p:spPr>
          <a:xfrm>
            <a:off x="548640" y="4773168"/>
            <a:ext cx="10972800" cy="384048"/>
          </a:xfrm>
          <a:prstGeom prst="rect">
            <a:avLst/>
          </a:prstGeom>
          <a:noFill/>
        </p:spPr>
        <p:txBody>
          <a:bodyPr wrap="square">
            <a:spAutoFit/>
          </a:bodyPr>
          <a:lstStyle/>
          <a:p>
            <a:pPr algn="l"/>
            <a:r>
              <a:rPr sz="1200" b="0" i="0">
                <a:solidFill>
                  <a:srgbClr val="9999AA"/>
                </a:solidFill>
              </a:rPr>
              <a:t>$50,000+/yr · enterprise POC takes weeks · no SMB plan · no fix guidance</a:t>
            </a:r>
          </a:p>
        </p:txBody>
      </p:sp>
      <p:sp>
        <p:nvSpPr>
          <p:cNvPr id="19" name="Rectangle 18"/>
          <p:cNvSpPr/>
          <p:nvPr/>
        </p:nvSpPr>
        <p:spPr>
          <a:xfrm>
            <a:off x="274320" y="5303520"/>
            <a:ext cx="11567160" cy="91440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5376672"/>
            <a:ext cx="2743200" cy="411480"/>
          </a:xfrm>
          <a:prstGeom prst="rect">
            <a:avLst/>
          </a:prstGeom>
          <a:noFill/>
        </p:spPr>
        <p:txBody>
          <a:bodyPr wrap="square">
            <a:spAutoFit/>
          </a:bodyPr>
          <a:lstStyle/>
          <a:p>
            <a:pPr algn="l"/>
            <a:r>
              <a:rPr sz="1400" b="1" i="0">
                <a:solidFill>
                  <a:srgbClr val="8B5CF6"/>
                </a:solidFill>
              </a:rPr>
              <a:t>Manual Audit</a:t>
            </a:r>
          </a:p>
        </p:txBody>
      </p:sp>
      <p:sp>
        <p:nvSpPr>
          <p:cNvPr id="21" name="TextBox 20"/>
          <p:cNvSpPr txBox="1"/>
          <p:nvPr/>
        </p:nvSpPr>
        <p:spPr>
          <a:xfrm>
            <a:off x="548640" y="5779008"/>
            <a:ext cx="10972800" cy="384048"/>
          </a:xfrm>
          <a:prstGeom prst="rect">
            <a:avLst/>
          </a:prstGeom>
          <a:noFill/>
        </p:spPr>
        <p:txBody>
          <a:bodyPr wrap="square">
            <a:spAutoFit/>
          </a:bodyPr>
          <a:lstStyle/>
          <a:p>
            <a:pPr algn="l"/>
            <a:r>
              <a:rPr sz="1200" b="0" i="0">
                <a:solidFill>
                  <a:srgbClr val="9999AA"/>
                </a:solidFill>
              </a:rPr>
              <a:t>2–3 days of engineer time · $5,000–$20,000 per engagement · stale PDF output</a:t>
            </a:r>
          </a:p>
        </p:txBody>
      </p:sp>
      <p:sp>
        <p:nvSpPr>
          <p:cNvPr id="22" name="TextBox 21"/>
          <p:cNvSpPr txBox="1"/>
          <p:nvPr/>
        </p:nvSpPr>
        <p:spPr>
          <a:xfrm>
            <a:off x="274320" y="6400800"/>
            <a:ext cx="4572000" cy="320040"/>
          </a:xfrm>
          <a:prstGeom prst="rect">
            <a:avLst/>
          </a:prstGeom>
          <a:noFill/>
        </p:spPr>
        <p:txBody>
          <a:bodyPr wrap="square">
            <a:spAutoFit/>
          </a:bodyPr>
          <a:lstStyle/>
          <a:p>
            <a:pPr algn="l"/>
            <a:r>
              <a:rPr sz="1300" b="1" i="0">
                <a:solidFill>
                  <a:srgbClr val="10B981"/>
                </a:solidFill>
              </a:rPr>
              <a:t>Our Three Unfair Advantages:</a:t>
            </a:r>
          </a:p>
        </p:txBody>
      </p:sp>
      <p:sp>
        <p:nvSpPr>
          <p:cNvPr id="23" name="TextBox 22"/>
          <p:cNvSpPr txBox="1"/>
          <p:nvPr/>
        </p:nvSpPr>
        <p:spPr>
          <a:xfrm>
            <a:off x="274320" y="6556248"/>
            <a:ext cx="11567160" cy="640080"/>
          </a:xfrm>
          <a:prstGeom prst="rect">
            <a:avLst/>
          </a:prstGeom>
          <a:noFill/>
        </p:spPr>
        <p:txBody>
          <a:bodyPr wrap="square">
            <a:spAutoFit/>
          </a:bodyPr>
          <a:lstStyle/>
          <a:p>
            <a:pPr algn="l"/>
            <a:r>
              <a:rPr sz="1100" b="0" i="0">
                <a:solidFill>
                  <a:srgbClr val="9999AA"/>
                </a:solidFill>
              </a:rPr>
              <a:t>1. Fix Guidance — competitors scan and report; we tell you exactly how to fix every issue.
2. AI Summaries — instant executive reports from Claude; no other SMB tool has this.
3. 5-Minute Onboarding — no agents, no enterprise POC, one CloudFormation click.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Deployment &amp; Infrastructure</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Production on Render · Auto-deploys from main branch</a:t>
            </a:r>
          </a:p>
        </p:txBody>
      </p:sp>
      <p:sp>
        <p:nvSpPr>
          <p:cNvPr id="6" name="Rectangle 5"/>
          <p:cNvSpPr/>
          <p:nvPr/>
        </p:nvSpPr>
        <p:spPr>
          <a:xfrm>
            <a:off x="274320" y="1234440"/>
            <a:ext cx="5669280" cy="53492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5303520" cy="365760"/>
          </a:xfrm>
          <a:prstGeom prst="rect">
            <a:avLst/>
          </a:prstGeom>
          <a:noFill/>
        </p:spPr>
        <p:txBody>
          <a:bodyPr wrap="square">
            <a:spAutoFit/>
          </a:bodyPr>
          <a:lstStyle/>
          <a:p>
            <a:pPr algn="l"/>
            <a:r>
              <a:rPr sz="1400" b="1" i="0">
                <a:solidFill>
                  <a:srgbClr val="3B82F6"/>
                </a:solidFill>
              </a:rPr>
              <a:t>Production Deployment</a:t>
            </a:r>
          </a:p>
        </p:txBody>
      </p:sp>
      <p:sp>
        <p:nvSpPr>
          <p:cNvPr id="8" name="TextBox 7"/>
          <p:cNvSpPr txBox="1"/>
          <p:nvPr/>
        </p:nvSpPr>
        <p:spPr>
          <a:xfrm>
            <a:off x="457200" y="1828800"/>
            <a:ext cx="2011680" cy="411480"/>
          </a:xfrm>
          <a:prstGeom prst="rect">
            <a:avLst/>
          </a:prstGeom>
          <a:noFill/>
        </p:spPr>
        <p:txBody>
          <a:bodyPr wrap="square">
            <a:spAutoFit/>
          </a:bodyPr>
          <a:lstStyle/>
          <a:p>
            <a:pPr algn="l"/>
            <a:r>
              <a:rPr sz="1300" b="1" i="0">
                <a:solidFill>
                  <a:srgbClr val="10B981"/>
                </a:solidFill>
              </a:rPr>
              <a:t>🌐 Frontend</a:t>
            </a:r>
          </a:p>
        </p:txBody>
      </p:sp>
      <p:sp>
        <p:nvSpPr>
          <p:cNvPr id="9" name="TextBox 8"/>
          <p:cNvSpPr txBox="1"/>
          <p:nvPr/>
        </p:nvSpPr>
        <p:spPr>
          <a:xfrm>
            <a:off x="457200" y="2176272"/>
            <a:ext cx="5212080" cy="347472"/>
          </a:xfrm>
          <a:prstGeom prst="rect">
            <a:avLst/>
          </a:prstGeom>
          <a:noFill/>
        </p:spPr>
        <p:txBody>
          <a:bodyPr wrap="square">
            <a:spAutoFit/>
          </a:bodyPr>
          <a:lstStyle/>
          <a:p>
            <a:pPr algn="l"/>
            <a:r>
              <a:rPr sz="1100" b="0" i="0">
                <a:solidFill>
                  <a:srgbClr val="9999AA"/>
                </a:solidFill>
              </a:rPr>
              <a:t>Next.js · vigilicloud-ui.onrender.com</a:t>
            </a:r>
          </a:p>
        </p:txBody>
      </p:sp>
      <p:sp>
        <p:nvSpPr>
          <p:cNvPr id="10" name="TextBox 9"/>
          <p:cNvSpPr txBox="1"/>
          <p:nvPr/>
        </p:nvSpPr>
        <p:spPr>
          <a:xfrm>
            <a:off x="457200" y="2578608"/>
            <a:ext cx="2011680" cy="411480"/>
          </a:xfrm>
          <a:prstGeom prst="rect">
            <a:avLst/>
          </a:prstGeom>
          <a:noFill/>
        </p:spPr>
        <p:txBody>
          <a:bodyPr wrap="square">
            <a:spAutoFit/>
          </a:bodyPr>
          <a:lstStyle/>
          <a:p>
            <a:pPr algn="l"/>
            <a:r>
              <a:rPr sz="1300" b="1" i="0">
                <a:solidFill>
                  <a:srgbClr val="3B82F6"/>
                </a:solidFill>
              </a:rPr>
              <a:t>⚙️ Backend API</a:t>
            </a:r>
          </a:p>
        </p:txBody>
      </p:sp>
      <p:sp>
        <p:nvSpPr>
          <p:cNvPr id="11" name="TextBox 10"/>
          <p:cNvSpPr txBox="1"/>
          <p:nvPr/>
        </p:nvSpPr>
        <p:spPr>
          <a:xfrm>
            <a:off x="457200" y="2926079"/>
            <a:ext cx="5212080" cy="347472"/>
          </a:xfrm>
          <a:prstGeom prst="rect">
            <a:avLst/>
          </a:prstGeom>
          <a:noFill/>
        </p:spPr>
        <p:txBody>
          <a:bodyPr wrap="square">
            <a:spAutoFit/>
          </a:bodyPr>
          <a:lstStyle/>
          <a:p>
            <a:pPr algn="l"/>
            <a:r>
              <a:rPr sz="1100" b="0" i="0">
                <a:solidFill>
                  <a:srgbClr val="9999AA"/>
                </a:solidFill>
              </a:rPr>
              <a:t>FastAPI · vigilicloud-api.onrender.com</a:t>
            </a:r>
          </a:p>
        </p:txBody>
      </p:sp>
      <p:sp>
        <p:nvSpPr>
          <p:cNvPr id="12" name="TextBox 11"/>
          <p:cNvSpPr txBox="1"/>
          <p:nvPr/>
        </p:nvSpPr>
        <p:spPr>
          <a:xfrm>
            <a:off x="457200" y="3328415"/>
            <a:ext cx="2011680" cy="411480"/>
          </a:xfrm>
          <a:prstGeom prst="rect">
            <a:avLst/>
          </a:prstGeom>
          <a:noFill/>
        </p:spPr>
        <p:txBody>
          <a:bodyPr wrap="square">
            <a:spAutoFit/>
          </a:bodyPr>
          <a:lstStyle/>
          <a:p>
            <a:pPr algn="l"/>
            <a:r>
              <a:rPr sz="1300" b="1" i="0">
                <a:solidFill>
                  <a:srgbClr val="F59E0B"/>
                </a:solidFill>
              </a:rPr>
              <a:t>🗄️ Database</a:t>
            </a:r>
          </a:p>
        </p:txBody>
      </p:sp>
      <p:sp>
        <p:nvSpPr>
          <p:cNvPr id="13" name="TextBox 12"/>
          <p:cNvSpPr txBox="1"/>
          <p:nvPr/>
        </p:nvSpPr>
        <p:spPr>
          <a:xfrm>
            <a:off x="457200" y="3675887"/>
            <a:ext cx="5212080" cy="347472"/>
          </a:xfrm>
          <a:prstGeom prst="rect">
            <a:avLst/>
          </a:prstGeom>
          <a:noFill/>
        </p:spPr>
        <p:txBody>
          <a:bodyPr wrap="square">
            <a:spAutoFit/>
          </a:bodyPr>
          <a:lstStyle/>
          <a:p>
            <a:pPr algn="l"/>
            <a:r>
              <a:rPr sz="1100" b="0" i="0">
                <a:solidFill>
                  <a:srgbClr val="9999AA"/>
                </a:solidFill>
              </a:rPr>
              <a:t>PostgreSQL · vigilicloud-db2 · expires 2026-06-03</a:t>
            </a:r>
          </a:p>
        </p:txBody>
      </p:sp>
      <p:sp>
        <p:nvSpPr>
          <p:cNvPr id="14" name="TextBox 13"/>
          <p:cNvSpPr txBox="1"/>
          <p:nvPr/>
        </p:nvSpPr>
        <p:spPr>
          <a:xfrm>
            <a:off x="457200" y="4078224"/>
            <a:ext cx="2011680" cy="411480"/>
          </a:xfrm>
          <a:prstGeom prst="rect">
            <a:avLst/>
          </a:prstGeom>
          <a:noFill/>
        </p:spPr>
        <p:txBody>
          <a:bodyPr wrap="square">
            <a:spAutoFit/>
          </a:bodyPr>
          <a:lstStyle/>
          <a:p>
            <a:pPr algn="l"/>
            <a:r>
              <a:rPr sz="1300" b="1" i="0">
                <a:solidFill>
                  <a:srgbClr val="9999AA"/>
                </a:solidFill>
              </a:rPr>
              <a:t>🔁 CI/CD</a:t>
            </a:r>
          </a:p>
        </p:txBody>
      </p:sp>
      <p:sp>
        <p:nvSpPr>
          <p:cNvPr id="15" name="TextBox 14"/>
          <p:cNvSpPr txBox="1"/>
          <p:nvPr/>
        </p:nvSpPr>
        <p:spPr>
          <a:xfrm>
            <a:off x="457200" y="4425696"/>
            <a:ext cx="5212080" cy="347472"/>
          </a:xfrm>
          <a:prstGeom prst="rect">
            <a:avLst/>
          </a:prstGeom>
          <a:noFill/>
        </p:spPr>
        <p:txBody>
          <a:bodyPr wrap="square">
            <a:spAutoFit/>
          </a:bodyPr>
          <a:lstStyle/>
          <a:p>
            <a:pPr algn="l"/>
            <a:r>
              <a:rPr sz="1100" b="0" i="0">
                <a:solidFill>
                  <a:srgbClr val="9999AA"/>
                </a:solidFill>
              </a:rPr>
              <a:t>Auto-deploy on push to main branch</a:t>
            </a:r>
          </a:p>
        </p:txBody>
      </p:sp>
      <p:sp>
        <p:nvSpPr>
          <p:cNvPr id="16" name="TextBox 15"/>
          <p:cNvSpPr txBox="1"/>
          <p:nvPr/>
        </p:nvSpPr>
        <p:spPr>
          <a:xfrm>
            <a:off x="457200" y="4828031"/>
            <a:ext cx="2011680" cy="411480"/>
          </a:xfrm>
          <a:prstGeom prst="rect">
            <a:avLst/>
          </a:prstGeom>
          <a:noFill/>
        </p:spPr>
        <p:txBody>
          <a:bodyPr wrap="square">
            <a:spAutoFit/>
          </a:bodyPr>
          <a:lstStyle/>
          <a:p>
            <a:pPr algn="l"/>
            <a:r>
              <a:rPr sz="1300" b="1" i="0">
                <a:solidFill>
                  <a:srgbClr val="8B5CF6"/>
                </a:solidFill>
              </a:rPr>
              <a:t>💳 Payments</a:t>
            </a:r>
          </a:p>
        </p:txBody>
      </p:sp>
      <p:sp>
        <p:nvSpPr>
          <p:cNvPr id="17" name="TextBox 16"/>
          <p:cNvSpPr txBox="1"/>
          <p:nvPr/>
        </p:nvSpPr>
        <p:spPr>
          <a:xfrm>
            <a:off x="457200" y="5175503"/>
            <a:ext cx="5212080" cy="347472"/>
          </a:xfrm>
          <a:prstGeom prst="rect">
            <a:avLst/>
          </a:prstGeom>
          <a:noFill/>
        </p:spPr>
        <p:txBody>
          <a:bodyPr wrap="square">
            <a:spAutoFit/>
          </a:bodyPr>
          <a:lstStyle/>
          <a:p>
            <a:pPr algn="l"/>
            <a:r>
              <a:rPr sz="1100" b="0" i="0">
                <a:solidFill>
                  <a:srgbClr val="9999AA"/>
                </a:solidFill>
              </a:rPr>
              <a:t>Razorpay webhooks → billing router</a:t>
            </a:r>
          </a:p>
        </p:txBody>
      </p:sp>
      <p:sp>
        <p:nvSpPr>
          <p:cNvPr id="18" name="TextBox 17"/>
          <p:cNvSpPr txBox="1"/>
          <p:nvPr/>
        </p:nvSpPr>
        <p:spPr>
          <a:xfrm>
            <a:off x="457200" y="5577840"/>
            <a:ext cx="2011680" cy="411480"/>
          </a:xfrm>
          <a:prstGeom prst="rect">
            <a:avLst/>
          </a:prstGeom>
          <a:noFill/>
        </p:spPr>
        <p:txBody>
          <a:bodyPr wrap="square">
            <a:spAutoFit/>
          </a:bodyPr>
          <a:lstStyle/>
          <a:p>
            <a:pPr algn="l"/>
            <a:r>
              <a:rPr sz="1300" b="1" i="0">
                <a:solidFill>
                  <a:srgbClr val="10B981"/>
                </a:solidFill>
              </a:rPr>
              <a:t>🤖 AI</a:t>
            </a:r>
          </a:p>
        </p:txBody>
      </p:sp>
      <p:sp>
        <p:nvSpPr>
          <p:cNvPr id="19" name="TextBox 18"/>
          <p:cNvSpPr txBox="1"/>
          <p:nvPr/>
        </p:nvSpPr>
        <p:spPr>
          <a:xfrm>
            <a:off x="457200" y="5925312"/>
            <a:ext cx="5212080" cy="347472"/>
          </a:xfrm>
          <a:prstGeom prst="rect">
            <a:avLst/>
          </a:prstGeom>
          <a:noFill/>
        </p:spPr>
        <p:txBody>
          <a:bodyPr wrap="square">
            <a:spAutoFit/>
          </a:bodyPr>
          <a:lstStyle/>
          <a:p>
            <a:pPr algn="l"/>
            <a:r>
              <a:rPr sz="1100" b="0" i="0">
                <a:solidFill>
                  <a:srgbClr val="9999AA"/>
                </a:solidFill>
              </a:rPr>
              <a:t>Anthropic API (ANTHROPIC_API_KEY env var)</a:t>
            </a:r>
          </a:p>
        </p:txBody>
      </p:sp>
      <p:sp>
        <p:nvSpPr>
          <p:cNvPr id="20" name="Rectangle 19"/>
          <p:cNvSpPr/>
          <p:nvPr/>
        </p:nvSpPr>
        <p:spPr>
          <a:xfrm>
            <a:off x="6126480" y="1234440"/>
            <a:ext cx="5669280" cy="246888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1371600"/>
            <a:ext cx="5303520" cy="365760"/>
          </a:xfrm>
          <a:prstGeom prst="rect">
            <a:avLst/>
          </a:prstGeom>
          <a:noFill/>
        </p:spPr>
        <p:txBody>
          <a:bodyPr wrap="square">
            <a:spAutoFit/>
          </a:bodyPr>
          <a:lstStyle/>
          <a:p>
            <a:pPr algn="l"/>
            <a:r>
              <a:rPr sz="1400" b="1" i="0">
                <a:solidFill>
                  <a:srgbClr val="10B981"/>
                </a:solidFill>
              </a:rPr>
              <a:t>Local Development</a:t>
            </a:r>
          </a:p>
        </p:txBody>
      </p:sp>
      <p:sp>
        <p:nvSpPr>
          <p:cNvPr id="22" name="TextBox 21"/>
          <p:cNvSpPr txBox="1"/>
          <p:nvPr/>
        </p:nvSpPr>
        <p:spPr>
          <a:xfrm>
            <a:off x="6309360" y="1783080"/>
            <a:ext cx="5303520" cy="1828800"/>
          </a:xfrm>
          <a:prstGeom prst="rect">
            <a:avLst/>
          </a:prstGeom>
          <a:noFill/>
        </p:spPr>
        <p:txBody>
          <a:bodyPr wrap="square">
            <a:spAutoFit/>
          </a:bodyPr>
          <a:lstStyle/>
          <a:p>
            <a:pPr algn="l"/>
            <a:r>
              <a:rPr sz="1300" b="1">
                <a:solidFill>
                  <a:srgbClr val="10B981"/>
                </a:solidFill>
              </a:rPr>
              <a:t>docker compose up --build</a:t>
            </a:r>
          </a:p>
          <a:p>
            <a:pPr algn="l"/>
            <a:endParaRPr sz="1300" b="1">
              <a:solidFill>
                <a:srgbClr val="10B981"/>
              </a:solidFill>
            </a:endParaRPr>
          </a:p>
          <a:p>
            <a:pPr algn="l"/>
            <a:r>
              <a:rPr sz="1200" b="0">
                <a:solidFill>
                  <a:srgbClr val="9999AA"/>
                </a:solidFill>
              </a:rPr>
              <a:t>Starts:</a:t>
            </a:r>
          </a:p>
          <a:p>
            <a:pPr algn="l"/>
            <a:r>
              <a:rPr sz="1200" b="0">
                <a:solidFill>
                  <a:srgbClr val="9999AA"/>
                </a:solidFill>
              </a:rPr>
              <a:t>  DB        → port 5432</a:t>
            </a:r>
          </a:p>
          <a:p>
            <a:pPr algn="l"/>
            <a:r>
              <a:rPr sz="1200" b="0">
                <a:solidFill>
                  <a:srgbClr val="9999AA"/>
                </a:solidFill>
              </a:rPr>
              <a:t>  Backend   → port 8000</a:t>
            </a:r>
          </a:p>
          <a:p>
            <a:pPr algn="l"/>
            <a:r>
              <a:rPr sz="1200" b="0">
                <a:solidFill>
                  <a:srgbClr val="9999AA"/>
                </a:solidFill>
              </a:rPr>
              <a:t>  UI        → port 3000</a:t>
            </a:r>
          </a:p>
          <a:p>
            <a:pPr algn="l"/>
            <a:endParaRPr sz="1200" b="0">
              <a:solidFill>
                <a:srgbClr val="9999AA"/>
              </a:solidFill>
            </a:endParaRPr>
          </a:p>
          <a:p>
            <a:pPr algn="l"/>
            <a:r>
              <a:rPr sz="1200" b="0">
                <a:solidFill>
                  <a:srgbClr val="9999AA"/>
                </a:solidFill>
              </a:rPr>
              <a:t>Default admin:</a:t>
            </a:r>
          </a:p>
          <a:p>
            <a:pPr algn="l"/>
            <a:r>
              <a:rPr sz="1200" b="1">
                <a:solidFill>
                  <a:srgbClr val="F59E0B"/>
                </a:solidFill>
              </a:rPr>
              <a:t>  admin@compliance.local</a:t>
            </a:r>
          </a:p>
          <a:p>
            <a:pPr algn="l"/>
            <a:r>
              <a:rPr sz="1200" b="1">
                <a:solidFill>
                  <a:srgbClr val="F59E0B"/>
                </a:solidFill>
              </a:rPr>
              <a:t>  admin123</a:t>
            </a:r>
          </a:p>
        </p:txBody>
      </p:sp>
      <p:sp>
        <p:nvSpPr>
          <p:cNvPr id="23" name="Rectangle 22"/>
          <p:cNvSpPr/>
          <p:nvPr/>
        </p:nvSpPr>
        <p:spPr>
          <a:xfrm>
            <a:off x="6126480" y="3840480"/>
            <a:ext cx="5669280" cy="260604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0" y="3977639"/>
            <a:ext cx="5303520" cy="365760"/>
          </a:xfrm>
          <a:prstGeom prst="rect">
            <a:avLst/>
          </a:prstGeom>
          <a:noFill/>
        </p:spPr>
        <p:txBody>
          <a:bodyPr wrap="square">
            <a:spAutoFit/>
          </a:bodyPr>
          <a:lstStyle/>
          <a:p>
            <a:pPr algn="l"/>
            <a:r>
              <a:rPr sz="1300" b="1" i="0">
                <a:solidFill>
                  <a:srgbClr val="8B5CF6"/>
                </a:solidFill>
              </a:rPr>
              <a:t>Customer IAM Setup (CloudFormation)</a:t>
            </a:r>
          </a:p>
        </p:txBody>
      </p:sp>
      <p:sp>
        <p:nvSpPr>
          <p:cNvPr id="25" name="TextBox 24"/>
          <p:cNvSpPr txBox="1"/>
          <p:nvPr/>
        </p:nvSpPr>
        <p:spPr>
          <a:xfrm>
            <a:off x="6309360" y="4389120"/>
            <a:ext cx="5303520" cy="1920240"/>
          </a:xfrm>
          <a:prstGeom prst="rect">
            <a:avLst/>
          </a:prstGeom>
          <a:noFill/>
        </p:spPr>
        <p:txBody>
          <a:bodyPr wrap="square">
            <a:spAutoFit/>
          </a:bodyPr>
          <a:lstStyle/>
          <a:p>
            <a:pPr algn="l"/>
            <a:r>
              <a:rPr sz="1300" b="1">
                <a:solidFill>
                  <a:srgbClr val="8B5CF6"/>
                </a:solidFill>
              </a:rPr>
              <a:t>infra/cfn/customer-role.yaml</a:t>
            </a:r>
          </a:p>
          <a:p>
            <a:pPr algn="l"/>
            <a:endParaRPr sz="1300" b="1">
              <a:solidFill>
                <a:srgbClr val="8B5CF6"/>
              </a:solidFill>
            </a:endParaRPr>
          </a:p>
          <a:p>
            <a:pPr algn="l"/>
            <a:r>
              <a:rPr sz="1200" b="0">
                <a:solidFill>
                  <a:srgbClr val="9999AA"/>
                </a:solidFill>
              </a:rPr>
              <a:t>→ Creates read-only IAM role</a:t>
            </a:r>
          </a:p>
          <a:p>
            <a:pPr algn="l"/>
            <a:r>
              <a:rPr sz="1200" b="0">
                <a:solidFill>
                  <a:srgbClr val="9999AA"/>
                </a:solidFill>
              </a:rPr>
              <a:t>→ Trusts VigiliCloud AWS account</a:t>
            </a:r>
          </a:p>
          <a:p>
            <a:pPr algn="l"/>
            <a:r>
              <a:rPr sz="1200" b="0">
                <a:solidFill>
                  <a:srgbClr val="9999AA"/>
                </a:solidFill>
              </a:rPr>
              <a:t>→ Supports External ID for security</a:t>
            </a:r>
          </a:p>
          <a:p>
            <a:pPr algn="l"/>
            <a:r>
              <a:rPr sz="1200" b="0">
                <a:solidFill>
                  <a:srgbClr val="9999AA"/>
                </a:solidFill>
              </a:rPr>
              <a:t>→ No write permissions — ever</a:t>
            </a:r>
          </a:p>
          <a:p>
            <a:pPr algn="l"/>
            <a:r>
              <a:rPr sz="1200" b="0">
                <a:solidFill>
                  <a:srgbClr val="9999AA"/>
                </a:solidFill>
              </a:rPr>
              <a:t>→ STS session tokens expire in 1h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Roadmap &amp; Vision</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Phase 1 live · Phase 2 in progress · Phase 3 is the big bet</a:t>
            </a:r>
          </a:p>
        </p:txBody>
      </p:sp>
      <p:sp>
        <p:nvSpPr>
          <p:cNvPr id="6" name="Rectangle 5"/>
          <p:cNvSpPr/>
          <p:nvPr/>
        </p:nvSpPr>
        <p:spPr>
          <a:xfrm>
            <a:off x="274320" y="1234440"/>
            <a:ext cx="3749039" cy="53949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274320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325880"/>
            <a:ext cx="2743200" cy="457200"/>
          </a:xfrm>
          <a:prstGeom prst="rect">
            <a:avLst/>
          </a:prstGeom>
          <a:noFill/>
        </p:spPr>
        <p:txBody>
          <a:bodyPr wrap="square">
            <a:spAutoFit/>
          </a:bodyPr>
          <a:lstStyle/>
          <a:p>
            <a:pPr algn="ctr"/>
            <a:r>
              <a:rPr sz="1300" b="1" i="0">
                <a:solidFill>
                  <a:srgbClr val="0A0A0F"/>
                </a:solidFill>
              </a:rPr>
              <a:t>Phase 1
(Live Now)</a:t>
            </a:r>
          </a:p>
        </p:txBody>
      </p:sp>
      <p:sp>
        <p:nvSpPr>
          <p:cNvPr id="9" name="Rectangle 8"/>
          <p:cNvSpPr/>
          <p:nvPr/>
        </p:nvSpPr>
        <p:spPr>
          <a:xfrm>
            <a:off x="320040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0" y="1353312"/>
            <a:ext cx="685800" cy="384048"/>
          </a:xfrm>
          <a:prstGeom prst="rect">
            <a:avLst/>
          </a:prstGeom>
          <a:noFill/>
        </p:spPr>
        <p:txBody>
          <a:bodyPr wrap="square">
            <a:spAutoFit/>
          </a:bodyPr>
          <a:lstStyle/>
          <a:p>
            <a:pPr algn="ctr"/>
            <a:r>
              <a:rPr sz="1000" b="1" i="0">
                <a:solidFill>
                  <a:srgbClr val="10B981"/>
                </a:solidFill>
              </a:rPr>
              <a:t>NOW</a:t>
            </a:r>
          </a:p>
        </p:txBody>
      </p:sp>
      <p:sp>
        <p:nvSpPr>
          <p:cNvPr id="11" name="TextBox 10"/>
          <p:cNvSpPr txBox="1"/>
          <p:nvPr/>
        </p:nvSpPr>
        <p:spPr>
          <a:xfrm>
            <a:off x="411479" y="1874519"/>
            <a:ext cx="3474720" cy="329184"/>
          </a:xfrm>
          <a:prstGeom prst="rect">
            <a:avLst/>
          </a:prstGeom>
          <a:noFill/>
        </p:spPr>
        <p:txBody>
          <a:bodyPr wrap="square">
            <a:spAutoFit/>
          </a:bodyPr>
          <a:lstStyle/>
          <a:p>
            <a:pPr algn="l"/>
            <a:r>
              <a:rPr sz="1100" b="0" i="0">
                <a:solidFill>
                  <a:srgbClr val="9999AA"/>
                </a:solidFill>
              </a:rPr>
              <a:t>✓ 10 CIS AWS Benchmark checks</a:t>
            </a:r>
          </a:p>
        </p:txBody>
      </p:sp>
      <p:sp>
        <p:nvSpPr>
          <p:cNvPr id="12" name="TextBox 11"/>
          <p:cNvSpPr txBox="1"/>
          <p:nvPr/>
        </p:nvSpPr>
        <p:spPr>
          <a:xfrm>
            <a:off x="411479" y="2221991"/>
            <a:ext cx="3474720" cy="329184"/>
          </a:xfrm>
          <a:prstGeom prst="rect">
            <a:avLst/>
          </a:prstGeom>
          <a:noFill/>
        </p:spPr>
        <p:txBody>
          <a:bodyPr wrap="square">
            <a:spAutoFit/>
          </a:bodyPr>
          <a:lstStyle/>
          <a:p>
            <a:pPr algn="l"/>
            <a:r>
              <a:rPr sz="1100" b="0" i="0">
                <a:solidFill>
                  <a:srgbClr val="9999AA"/>
                </a:solidFill>
              </a:rPr>
              <a:t>✓ Fix guidance (CLI + Terraform)</a:t>
            </a:r>
          </a:p>
        </p:txBody>
      </p:sp>
      <p:sp>
        <p:nvSpPr>
          <p:cNvPr id="13" name="TextBox 12"/>
          <p:cNvSpPr txBox="1"/>
          <p:nvPr/>
        </p:nvSpPr>
        <p:spPr>
          <a:xfrm>
            <a:off x="411479" y="2569463"/>
            <a:ext cx="3474720" cy="329184"/>
          </a:xfrm>
          <a:prstGeom prst="rect">
            <a:avLst/>
          </a:prstGeom>
          <a:noFill/>
        </p:spPr>
        <p:txBody>
          <a:bodyPr wrap="square">
            <a:spAutoFit/>
          </a:bodyPr>
          <a:lstStyle/>
          <a:p>
            <a:pPr algn="l"/>
            <a:r>
              <a:rPr sz="1100" b="0" i="0">
                <a:solidFill>
                  <a:srgbClr val="9999AA"/>
                </a:solidFill>
              </a:rPr>
              <a:t>✓ AI executive summaries (Claude)</a:t>
            </a:r>
          </a:p>
        </p:txBody>
      </p:sp>
      <p:sp>
        <p:nvSpPr>
          <p:cNvPr id="14" name="TextBox 13"/>
          <p:cNvSpPr txBox="1"/>
          <p:nvPr/>
        </p:nvSpPr>
        <p:spPr>
          <a:xfrm>
            <a:off x="411479" y="2916936"/>
            <a:ext cx="3474720" cy="329184"/>
          </a:xfrm>
          <a:prstGeom prst="rect">
            <a:avLst/>
          </a:prstGeom>
          <a:noFill/>
        </p:spPr>
        <p:txBody>
          <a:bodyPr wrap="square">
            <a:spAutoFit/>
          </a:bodyPr>
          <a:lstStyle/>
          <a:p>
            <a:pPr algn="l"/>
            <a:r>
              <a:rPr sz="1100" b="0" i="0">
                <a:solidFill>
                  <a:srgbClr val="9999AA"/>
                </a:solidFill>
              </a:rPr>
              <a:t>✓ Drift monitoring &amp; timeline</a:t>
            </a:r>
          </a:p>
        </p:txBody>
      </p:sp>
      <p:sp>
        <p:nvSpPr>
          <p:cNvPr id="15" name="TextBox 14"/>
          <p:cNvSpPr txBox="1"/>
          <p:nvPr/>
        </p:nvSpPr>
        <p:spPr>
          <a:xfrm>
            <a:off x="411479" y="3264408"/>
            <a:ext cx="3474720" cy="329184"/>
          </a:xfrm>
          <a:prstGeom prst="rect">
            <a:avLst/>
          </a:prstGeom>
          <a:noFill/>
        </p:spPr>
        <p:txBody>
          <a:bodyPr wrap="square">
            <a:spAutoFit/>
          </a:bodyPr>
          <a:lstStyle/>
          <a:p>
            <a:pPr algn="l"/>
            <a:r>
              <a:rPr sz="1100" b="0" i="0">
                <a:solidFill>
                  <a:srgbClr val="9999AA"/>
                </a:solidFill>
              </a:rPr>
              <a:t>✓ Multi-account management</a:t>
            </a:r>
          </a:p>
        </p:txBody>
      </p:sp>
      <p:sp>
        <p:nvSpPr>
          <p:cNvPr id="16" name="TextBox 15"/>
          <p:cNvSpPr txBox="1"/>
          <p:nvPr/>
        </p:nvSpPr>
        <p:spPr>
          <a:xfrm>
            <a:off x="411479" y="3611879"/>
            <a:ext cx="3474720" cy="329184"/>
          </a:xfrm>
          <a:prstGeom prst="rect">
            <a:avLst/>
          </a:prstGeom>
          <a:noFill/>
        </p:spPr>
        <p:txBody>
          <a:bodyPr wrap="square">
            <a:spAutoFit/>
          </a:bodyPr>
          <a:lstStyle/>
          <a:p>
            <a:pPr algn="l"/>
            <a:r>
              <a:rPr sz="1100" b="0" i="0">
                <a:solidFill>
                  <a:srgbClr val="9999AA"/>
                </a:solidFill>
              </a:rPr>
              <a:t>✓ Razorpay billing (3 plans)</a:t>
            </a:r>
          </a:p>
        </p:txBody>
      </p:sp>
      <p:sp>
        <p:nvSpPr>
          <p:cNvPr id="17" name="TextBox 16"/>
          <p:cNvSpPr txBox="1"/>
          <p:nvPr/>
        </p:nvSpPr>
        <p:spPr>
          <a:xfrm>
            <a:off x="411479" y="3959352"/>
            <a:ext cx="3474720" cy="329184"/>
          </a:xfrm>
          <a:prstGeom prst="rect">
            <a:avLst/>
          </a:prstGeom>
          <a:noFill/>
        </p:spPr>
        <p:txBody>
          <a:bodyPr wrap="square">
            <a:spAutoFit/>
          </a:bodyPr>
          <a:lstStyle/>
          <a:p>
            <a:pPr algn="l"/>
            <a:r>
              <a:rPr sz="1100" b="0" i="0">
                <a:solidFill>
                  <a:srgbClr val="9999AA"/>
                </a:solidFill>
              </a:rPr>
              <a:t>✓ Scheduled daily scans</a:t>
            </a:r>
          </a:p>
        </p:txBody>
      </p:sp>
      <p:sp>
        <p:nvSpPr>
          <p:cNvPr id="18" name="TextBox 17"/>
          <p:cNvSpPr txBox="1"/>
          <p:nvPr/>
        </p:nvSpPr>
        <p:spPr>
          <a:xfrm>
            <a:off x="411479" y="4306824"/>
            <a:ext cx="3474720" cy="329184"/>
          </a:xfrm>
          <a:prstGeom prst="rect">
            <a:avLst/>
          </a:prstGeom>
          <a:noFill/>
        </p:spPr>
        <p:txBody>
          <a:bodyPr wrap="square">
            <a:spAutoFit/>
          </a:bodyPr>
          <a:lstStyle/>
          <a:p>
            <a:pPr algn="l"/>
            <a:r>
              <a:rPr sz="1100" b="0" i="0">
                <a:solidFill>
                  <a:srgbClr val="9999AA"/>
                </a:solidFill>
              </a:rPr>
              <a:t>✓ MSP multi-tenant mode</a:t>
            </a:r>
          </a:p>
        </p:txBody>
      </p:sp>
      <p:sp>
        <p:nvSpPr>
          <p:cNvPr id="19" name="TextBox 18"/>
          <p:cNvSpPr txBox="1"/>
          <p:nvPr/>
        </p:nvSpPr>
        <p:spPr>
          <a:xfrm>
            <a:off x="411479" y="4654296"/>
            <a:ext cx="3474720" cy="329184"/>
          </a:xfrm>
          <a:prstGeom prst="rect">
            <a:avLst/>
          </a:prstGeom>
          <a:noFill/>
        </p:spPr>
        <p:txBody>
          <a:bodyPr wrap="square">
            <a:spAutoFit/>
          </a:bodyPr>
          <a:lstStyle/>
          <a:p>
            <a:pPr algn="l"/>
            <a:r>
              <a:rPr sz="1100" b="0" i="0">
                <a:solidFill>
                  <a:srgbClr val="9999AA"/>
                </a:solidFill>
              </a:rPr>
              <a:t>✓ Approval workflows</a:t>
            </a:r>
          </a:p>
        </p:txBody>
      </p:sp>
      <p:sp>
        <p:nvSpPr>
          <p:cNvPr id="20" name="TextBox 19"/>
          <p:cNvSpPr txBox="1"/>
          <p:nvPr/>
        </p:nvSpPr>
        <p:spPr>
          <a:xfrm>
            <a:off x="411479" y="5001768"/>
            <a:ext cx="3474720" cy="329184"/>
          </a:xfrm>
          <a:prstGeom prst="rect">
            <a:avLst/>
          </a:prstGeom>
          <a:noFill/>
        </p:spPr>
        <p:txBody>
          <a:bodyPr wrap="square">
            <a:spAutoFit/>
          </a:bodyPr>
          <a:lstStyle/>
          <a:p>
            <a:pPr algn="l"/>
            <a:r>
              <a:rPr sz="1100" b="0" i="0">
                <a:solidFill>
                  <a:srgbClr val="9999AA"/>
                </a:solidFill>
              </a:rPr>
              <a:t>✓ Jira + GitHub + Slack</a:t>
            </a:r>
          </a:p>
        </p:txBody>
      </p:sp>
      <p:sp>
        <p:nvSpPr>
          <p:cNvPr id="21" name="TextBox 20"/>
          <p:cNvSpPr txBox="1"/>
          <p:nvPr/>
        </p:nvSpPr>
        <p:spPr>
          <a:xfrm>
            <a:off x="411479" y="5349240"/>
            <a:ext cx="3474720" cy="329184"/>
          </a:xfrm>
          <a:prstGeom prst="rect">
            <a:avLst/>
          </a:prstGeom>
          <a:noFill/>
        </p:spPr>
        <p:txBody>
          <a:bodyPr wrap="square">
            <a:spAutoFit/>
          </a:bodyPr>
          <a:lstStyle/>
          <a:p>
            <a:pPr algn="l"/>
            <a:r>
              <a:rPr sz="1100" b="0" i="0">
                <a:solidFill>
                  <a:srgbClr val="9999AA"/>
                </a:solidFill>
              </a:rPr>
              <a:t>✓ REST API + API keys</a:t>
            </a:r>
          </a:p>
        </p:txBody>
      </p:sp>
      <p:sp>
        <p:nvSpPr>
          <p:cNvPr id="22" name="Rectangle 21"/>
          <p:cNvSpPr/>
          <p:nvPr/>
        </p:nvSpPr>
        <p:spPr>
          <a:xfrm>
            <a:off x="4251959" y="1234440"/>
            <a:ext cx="3749039" cy="53949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43399" y="1325880"/>
            <a:ext cx="274320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399" y="1325880"/>
            <a:ext cx="2743200" cy="457200"/>
          </a:xfrm>
          <a:prstGeom prst="rect">
            <a:avLst/>
          </a:prstGeom>
          <a:noFill/>
        </p:spPr>
        <p:txBody>
          <a:bodyPr wrap="square">
            <a:spAutoFit/>
          </a:bodyPr>
          <a:lstStyle/>
          <a:p>
            <a:pPr algn="ctr"/>
            <a:r>
              <a:rPr sz="1300" b="1" i="0">
                <a:solidFill>
                  <a:srgbClr val="0A0A0F"/>
                </a:solidFill>
              </a:rPr>
              <a:t>Phase 2
(2026 H2)</a:t>
            </a:r>
          </a:p>
        </p:txBody>
      </p:sp>
      <p:sp>
        <p:nvSpPr>
          <p:cNvPr id="25" name="Rectangle 24"/>
          <p:cNvSpPr/>
          <p:nvPr/>
        </p:nvSpPr>
        <p:spPr>
          <a:xfrm>
            <a:off x="717804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78040" y="1353312"/>
            <a:ext cx="685800" cy="384048"/>
          </a:xfrm>
          <a:prstGeom prst="rect">
            <a:avLst/>
          </a:prstGeom>
          <a:noFill/>
        </p:spPr>
        <p:txBody>
          <a:bodyPr wrap="square">
            <a:spAutoFit/>
          </a:bodyPr>
          <a:lstStyle/>
          <a:p>
            <a:pPr algn="ctr"/>
            <a:r>
              <a:rPr sz="1000" b="1" i="0">
                <a:solidFill>
                  <a:srgbClr val="3B82F6"/>
                </a:solidFill>
              </a:rPr>
              <a:t>6 MO</a:t>
            </a:r>
          </a:p>
        </p:txBody>
      </p:sp>
      <p:sp>
        <p:nvSpPr>
          <p:cNvPr id="27" name="TextBox 26"/>
          <p:cNvSpPr txBox="1"/>
          <p:nvPr/>
        </p:nvSpPr>
        <p:spPr>
          <a:xfrm>
            <a:off x="4389120" y="1874519"/>
            <a:ext cx="3474720" cy="329184"/>
          </a:xfrm>
          <a:prstGeom prst="rect">
            <a:avLst/>
          </a:prstGeom>
          <a:noFill/>
        </p:spPr>
        <p:txBody>
          <a:bodyPr wrap="square">
            <a:spAutoFit/>
          </a:bodyPr>
          <a:lstStyle/>
          <a:p>
            <a:pPr algn="l"/>
            <a:r>
              <a:rPr sz="1100" b="0" i="0">
                <a:solidFill>
                  <a:srgbClr val="9999AA"/>
                </a:solidFill>
              </a:rPr>
              <a:t>→ Azure CIS Benchmark checks</a:t>
            </a:r>
          </a:p>
        </p:txBody>
      </p:sp>
      <p:sp>
        <p:nvSpPr>
          <p:cNvPr id="28" name="TextBox 27"/>
          <p:cNvSpPr txBox="1"/>
          <p:nvPr/>
        </p:nvSpPr>
        <p:spPr>
          <a:xfrm>
            <a:off x="4389120" y="2221991"/>
            <a:ext cx="3474720" cy="329184"/>
          </a:xfrm>
          <a:prstGeom prst="rect">
            <a:avLst/>
          </a:prstGeom>
          <a:noFill/>
        </p:spPr>
        <p:txBody>
          <a:bodyPr wrap="square">
            <a:spAutoFit/>
          </a:bodyPr>
          <a:lstStyle/>
          <a:p>
            <a:pPr algn="l"/>
            <a:r>
              <a:rPr sz="1100" b="0" i="0">
                <a:solidFill>
                  <a:srgbClr val="9999AA"/>
                </a:solidFill>
              </a:rPr>
              <a:t>→ GCP security scanning</a:t>
            </a:r>
          </a:p>
        </p:txBody>
      </p:sp>
      <p:sp>
        <p:nvSpPr>
          <p:cNvPr id="29" name="TextBox 28"/>
          <p:cNvSpPr txBox="1"/>
          <p:nvPr/>
        </p:nvSpPr>
        <p:spPr>
          <a:xfrm>
            <a:off x="4389120" y="2569463"/>
            <a:ext cx="3474720" cy="329184"/>
          </a:xfrm>
          <a:prstGeom prst="rect">
            <a:avLst/>
          </a:prstGeom>
          <a:noFill/>
        </p:spPr>
        <p:txBody>
          <a:bodyPr wrap="square">
            <a:spAutoFit/>
          </a:bodyPr>
          <a:lstStyle/>
          <a:p>
            <a:pPr algn="l"/>
            <a:r>
              <a:rPr sz="1100" b="0" i="0">
                <a:solidFill>
                  <a:srgbClr val="9999AA"/>
                </a:solidFill>
              </a:rPr>
              <a:t>→ HIPAA + PCI custom frameworks</a:t>
            </a:r>
          </a:p>
        </p:txBody>
      </p:sp>
      <p:sp>
        <p:nvSpPr>
          <p:cNvPr id="30" name="TextBox 29"/>
          <p:cNvSpPr txBox="1"/>
          <p:nvPr/>
        </p:nvSpPr>
        <p:spPr>
          <a:xfrm>
            <a:off x="4389120" y="2916936"/>
            <a:ext cx="3474720" cy="329184"/>
          </a:xfrm>
          <a:prstGeom prst="rect">
            <a:avLst/>
          </a:prstGeom>
          <a:noFill/>
        </p:spPr>
        <p:txBody>
          <a:bodyPr wrap="square">
            <a:spAutoFit/>
          </a:bodyPr>
          <a:lstStyle/>
          <a:p>
            <a:pPr algn="l"/>
            <a:r>
              <a:rPr sz="1100" b="0" i="0">
                <a:solidFill>
                  <a:srgbClr val="9999AA"/>
                </a:solidFill>
              </a:rPr>
              <a:t>→ SOC2 questionnaire autofill</a:t>
            </a:r>
          </a:p>
        </p:txBody>
      </p:sp>
      <p:sp>
        <p:nvSpPr>
          <p:cNvPr id="31" name="TextBox 30"/>
          <p:cNvSpPr txBox="1"/>
          <p:nvPr/>
        </p:nvSpPr>
        <p:spPr>
          <a:xfrm>
            <a:off x="4389120" y="3264408"/>
            <a:ext cx="3474720" cy="329184"/>
          </a:xfrm>
          <a:prstGeom prst="rect">
            <a:avLst/>
          </a:prstGeom>
          <a:noFill/>
        </p:spPr>
        <p:txBody>
          <a:bodyPr wrap="square">
            <a:spAutoFit/>
          </a:bodyPr>
          <a:lstStyle/>
          <a:p>
            <a:pPr algn="l"/>
            <a:r>
              <a:rPr sz="1100" b="0" i="0">
                <a:solidFill>
                  <a:srgbClr val="9999AA"/>
                </a:solidFill>
              </a:rPr>
              <a:t>→ SIEM integrations (Splunk, DD)</a:t>
            </a:r>
          </a:p>
        </p:txBody>
      </p:sp>
      <p:sp>
        <p:nvSpPr>
          <p:cNvPr id="32" name="TextBox 31"/>
          <p:cNvSpPr txBox="1"/>
          <p:nvPr/>
        </p:nvSpPr>
        <p:spPr>
          <a:xfrm>
            <a:off x="4389120" y="3611879"/>
            <a:ext cx="3474720" cy="329184"/>
          </a:xfrm>
          <a:prstGeom prst="rect">
            <a:avLst/>
          </a:prstGeom>
          <a:noFill/>
        </p:spPr>
        <p:txBody>
          <a:bodyPr wrap="square">
            <a:spAutoFit/>
          </a:bodyPr>
          <a:lstStyle/>
          <a:p>
            <a:pPr algn="l"/>
            <a:r>
              <a:rPr sz="1100" b="0" i="0">
                <a:solidFill>
                  <a:srgbClr val="9999AA"/>
                </a:solidFill>
              </a:rPr>
              <a:t>→ Real-time CloudTrail monitoring</a:t>
            </a:r>
          </a:p>
        </p:txBody>
      </p:sp>
      <p:sp>
        <p:nvSpPr>
          <p:cNvPr id="33" name="TextBox 32"/>
          <p:cNvSpPr txBox="1"/>
          <p:nvPr/>
        </p:nvSpPr>
        <p:spPr>
          <a:xfrm>
            <a:off x="4389120" y="3959352"/>
            <a:ext cx="3474720" cy="329184"/>
          </a:xfrm>
          <a:prstGeom prst="rect">
            <a:avLst/>
          </a:prstGeom>
          <a:noFill/>
        </p:spPr>
        <p:txBody>
          <a:bodyPr wrap="square">
            <a:spAutoFit/>
          </a:bodyPr>
          <a:lstStyle/>
          <a:p>
            <a:pPr algn="l"/>
            <a:r>
              <a:rPr sz="1100" b="0" i="0">
                <a:solidFill>
                  <a:srgbClr val="9999AA"/>
                </a:solidFill>
              </a:rPr>
              <a:t>→ White-label MSP branding</a:t>
            </a:r>
          </a:p>
        </p:txBody>
      </p:sp>
      <p:sp>
        <p:nvSpPr>
          <p:cNvPr id="34" name="TextBox 33"/>
          <p:cNvSpPr txBox="1"/>
          <p:nvPr/>
        </p:nvSpPr>
        <p:spPr>
          <a:xfrm>
            <a:off x="4389120" y="4306824"/>
            <a:ext cx="3474720" cy="329184"/>
          </a:xfrm>
          <a:prstGeom prst="rect">
            <a:avLst/>
          </a:prstGeom>
          <a:noFill/>
        </p:spPr>
        <p:txBody>
          <a:bodyPr wrap="square">
            <a:spAutoFit/>
          </a:bodyPr>
          <a:lstStyle/>
          <a:p>
            <a:pPr algn="l"/>
            <a:r>
              <a:rPr sz="1100" b="0" i="0">
                <a:solidFill>
                  <a:srgbClr val="9999AA"/>
                </a:solidFill>
              </a:rPr>
              <a:t>→ Upgrade DB (Render → RDS)</a:t>
            </a:r>
          </a:p>
        </p:txBody>
      </p:sp>
      <p:sp>
        <p:nvSpPr>
          <p:cNvPr id="35" name="TextBox 34"/>
          <p:cNvSpPr txBox="1"/>
          <p:nvPr/>
        </p:nvSpPr>
        <p:spPr>
          <a:xfrm>
            <a:off x="4389120" y="4654296"/>
            <a:ext cx="3474720" cy="329184"/>
          </a:xfrm>
          <a:prstGeom prst="rect">
            <a:avLst/>
          </a:prstGeom>
          <a:noFill/>
        </p:spPr>
        <p:txBody>
          <a:bodyPr wrap="square">
            <a:spAutoFit/>
          </a:bodyPr>
          <a:lstStyle/>
          <a:p>
            <a:pPr algn="l"/>
            <a:r>
              <a:rPr sz="1100" b="0" i="0">
                <a:solidFill>
                  <a:srgbClr val="9999AA"/>
                </a:solidFill>
              </a:rPr>
              <a:t>→ Backend router split (&gt;2000 LOC)</a:t>
            </a:r>
          </a:p>
        </p:txBody>
      </p:sp>
      <p:sp>
        <p:nvSpPr>
          <p:cNvPr id="36" name="Rectangle 35"/>
          <p:cNvSpPr/>
          <p:nvPr/>
        </p:nvSpPr>
        <p:spPr>
          <a:xfrm>
            <a:off x="8229600" y="1234440"/>
            <a:ext cx="3749039" cy="53949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321040" y="1325880"/>
            <a:ext cx="2743200" cy="4572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21040" y="1325880"/>
            <a:ext cx="2743200" cy="457200"/>
          </a:xfrm>
          <a:prstGeom prst="rect">
            <a:avLst/>
          </a:prstGeom>
          <a:noFill/>
        </p:spPr>
        <p:txBody>
          <a:bodyPr wrap="square">
            <a:spAutoFit/>
          </a:bodyPr>
          <a:lstStyle/>
          <a:p>
            <a:pPr algn="ctr"/>
            <a:r>
              <a:rPr sz="1300" b="1" i="0">
                <a:solidFill>
                  <a:srgbClr val="0A0A0F"/>
                </a:solidFill>
              </a:rPr>
              <a:t>Phase 3
(2027+)</a:t>
            </a:r>
          </a:p>
        </p:txBody>
      </p:sp>
      <p:sp>
        <p:nvSpPr>
          <p:cNvPr id="39" name="Rectangle 38"/>
          <p:cNvSpPr/>
          <p:nvPr/>
        </p:nvSpPr>
        <p:spPr>
          <a:xfrm>
            <a:off x="11155680" y="1353312"/>
            <a:ext cx="68580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155680" y="1353312"/>
            <a:ext cx="685800" cy="384048"/>
          </a:xfrm>
          <a:prstGeom prst="rect">
            <a:avLst/>
          </a:prstGeom>
          <a:noFill/>
        </p:spPr>
        <p:txBody>
          <a:bodyPr wrap="square">
            <a:spAutoFit/>
          </a:bodyPr>
          <a:lstStyle/>
          <a:p>
            <a:pPr algn="ctr"/>
            <a:r>
              <a:rPr sz="1000" b="1" i="0">
                <a:solidFill>
                  <a:srgbClr val="8B5CF6"/>
                </a:solidFill>
              </a:rPr>
              <a:t>FUTURE</a:t>
            </a:r>
          </a:p>
        </p:txBody>
      </p:sp>
      <p:sp>
        <p:nvSpPr>
          <p:cNvPr id="41" name="TextBox 40"/>
          <p:cNvSpPr txBox="1"/>
          <p:nvPr/>
        </p:nvSpPr>
        <p:spPr>
          <a:xfrm>
            <a:off x="8366760" y="1874519"/>
            <a:ext cx="3474720" cy="329184"/>
          </a:xfrm>
          <a:prstGeom prst="rect">
            <a:avLst/>
          </a:prstGeom>
          <a:noFill/>
        </p:spPr>
        <p:txBody>
          <a:bodyPr wrap="square">
            <a:spAutoFit/>
          </a:bodyPr>
          <a:lstStyle/>
          <a:p>
            <a:pPr algn="l"/>
            <a:r>
              <a:rPr sz="1100" b="1" i="0">
                <a:solidFill>
                  <a:srgbClr val="FFFFFF"/>
                </a:solidFill>
              </a:rPr>
              <a:t>★ MCP Execution Engine</a:t>
            </a:r>
          </a:p>
        </p:txBody>
      </p:sp>
      <p:sp>
        <p:nvSpPr>
          <p:cNvPr id="42" name="TextBox 41"/>
          <p:cNvSpPr txBox="1"/>
          <p:nvPr/>
        </p:nvSpPr>
        <p:spPr>
          <a:xfrm>
            <a:off x="8366760" y="2221991"/>
            <a:ext cx="3474720" cy="329184"/>
          </a:xfrm>
          <a:prstGeom prst="rect">
            <a:avLst/>
          </a:prstGeom>
          <a:noFill/>
        </p:spPr>
        <p:txBody>
          <a:bodyPr wrap="square">
            <a:spAutoFit/>
          </a:bodyPr>
          <a:lstStyle/>
          <a:p>
            <a:pPr algn="l"/>
            <a:r>
              <a:rPr sz="1100" b="0" i="0">
                <a:solidFill>
                  <a:srgbClr val="9999AA"/>
                </a:solidFill>
              </a:rPr>
              <a:t>   Claude-powered safe remediation</a:t>
            </a:r>
          </a:p>
        </p:txBody>
      </p:sp>
      <p:sp>
        <p:nvSpPr>
          <p:cNvPr id="43" name="TextBox 42"/>
          <p:cNvSpPr txBox="1"/>
          <p:nvPr/>
        </p:nvSpPr>
        <p:spPr>
          <a:xfrm>
            <a:off x="8366760" y="2569463"/>
            <a:ext cx="3474720" cy="329184"/>
          </a:xfrm>
          <a:prstGeom prst="rect">
            <a:avLst/>
          </a:prstGeom>
          <a:noFill/>
        </p:spPr>
        <p:txBody>
          <a:bodyPr wrap="square">
            <a:spAutoFit/>
          </a:bodyPr>
          <a:lstStyle/>
          <a:p>
            <a:pPr algn="l"/>
            <a:r>
              <a:rPr sz="1100" b="0" i="0">
                <a:solidFill>
                  <a:srgbClr val="9999AA"/>
                </a:solidFill>
              </a:rPr>
              <a:t>   detect → propose → approve → fix</a:t>
            </a:r>
          </a:p>
        </p:txBody>
      </p:sp>
      <p:sp>
        <p:nvSpPr>
          <p:cNvPr id="44" name="TextBox 43"/>
          <p:cNvSpPr txBox="1"/>
          <p:nvPr/>
        </p:nvSpPr>
        <p:spPr>
          <a:xfrm>
            <a:off x="8366760" y="2916936"/>
            <a:ext cx="3474720" cy="329184"/>
          </a:xfrm>
          <a:prstGeom prst="rect">
            <a:avLst/>
          </a:prstGeom>
          <a:noFill/>
        </p:spPr>
        <p:txBody>
          <a:bodyPr wrap="square">
            <a:spAutoFit/>
          </a:bodyPr>
          <a:lstStyle/>
          <a:p>
            <a:pPr algn="l"/>
            <a:endParaRPr/>
          </a:p>
        </p:txBody>
      </p:sp>
      <p:sp>
        <p:nvSpPr>
          <p:cNvPr id="45" name="TextBox 44"/>
          <p:cNvSpPr txBox="1"/>
          <p:nvPr/>
        </p:nvSpPr>
        <p:spPr>
          <a:xfrm>
            <a:off x="8366760" y="3264408"/>
            <a:ext cx="3474720" cy="329184"/>
          </a:xfrm>
          <a:prstGeom prst="rect">
            <a:avLst/>
          </a:prstGeom>
          <a:noFill/>
        </p:spPr>
        <p:txBody>
          <a:bodyPr wrap="square">
            <a:spAutoFit/>
          </a:bodyPr>
          <a:lstStyle/>
          <a:p>
            <a:pPr algn="l"/>
            <a:r>
              <a:rPr sz="1100" b="1" i="0">
                <a:solidFill>
                  <a:srgbClr val="FFFFFF"/>
                </a:solidFill>
              </a:rPr>
              <a:t>★ Multi-Cloud Unified Dashboard</a:t>
            </a:r>
          </a:p>
        </p:txBody>
      </p:sp>
      <p:sp>
        <p:nvSpPr>
          <p:cNvPr id="46" name="TextBox 45"/>
          <p:cNvSpPr txBox="1"/>
          <p:nvPr/>
        </p:nvSpPr>
        <p:spPr>
          <a:xfrm>
            <a:off x="8366760" y="3611879"/>
            <a:ext cx="3474720" cy="329184"/>
          </a:xfrm>
          <a:prstGeom prst="rect">
            <a:avLst/>
          </a:prstGeom>
          <a:noFill/>
        </p:spPr>
        <p:txBody>
          <a:bodyPr wrap="square">
            <a:spAutoFit/>
          </a:bodyPr>
          <a:lstStyle/>
          <a:p>
            <a:pPr algn="l"/>
            <a:r>
              <a:rPr sz="1100" b="0" i="0">
                <a:solidFill>
                  <a:srgbClr val="9999AA"/>
                </a:solidFill>
              </a:rPr>
              <a:t>   AWS + Azure + GCP in one view</a:t>
            </a:r>
          </a:p>
        </p:txBody>
      </p:sp>
      <p:sp>
        <p:nvSpPr>
          <p:cNvPr id="47" name="TextBox 46"/>
          <p:cNvSpPr txBox="1"/>
          <p:nvPr/>
        </p:nvSpPr>
        <p:spPr>
          <a:xfrm>
            <a:off x="8366760" y="3959352"/>
            <a:ext cx="3474720" cy="329184"/>
          </a:xfrm>
          <a:prstGeom prst="rect">
            <a:avLst/>
          </a:prstGeom>
          <a:noFill/>
        </p:spPr>
        <p:txBody>
          <a:bodyPr wrap="square">
            <a:spAutoFit/>
          </a:bodyPr>
          <a:lstStyle/>
          <a:p>
            <a:pPr algn="l"/>
            <a:endParaRPr/>
          </a:p>
        </p:txBody>
      </p:sp>
      <p:sp>
        <p:nvSpPr>
          <p:cNvPr id="48" name="TextBox 47"/>
          <p:cNvSpPr txBox="1"/>
          <p:nvPr/>
        </p:nvSpPr>
        <p:spPr>
          <a:xfrm>
            <a:off x="8366760" y="4306824"/>
            <a:ext cx="3474720" cy="329184"/>
          </a:xfrm>
          <a:prstGeom prst="rect">
            <a:avLst/>
          </a:prstGeom>
          <a:noFill/>
        </p:spPr>
        <p:txBody>
          <a:bodyPr wrap="square">
            <a:spAutoFit/>
          </a:bodyPr>
          <a:lstStyle/>
          <a:p>
            <a:pPr algn="l"/>
            <a:r>
              <a:rPr sz="1100" b="1" i="0">
                <a:solidFill>
                  <a:srgbClr val="FFFFFF"/>
                </a:solidFill>
              </a:rPr>
              <a:t>★ Enterprise RBAC + Audit Trails</a:t>
            </a:r>
          </a:p>
        </p:txBody>
      </p:sp>
      <p:sp>
        <p:nvSpPr>
          <p:cNvPr id="49" name="TextBox 48"/>
          <p:cNvSpPr txBox="1"/>
          <p:nvPr/>
        </p:nvSpPr>
        <p:spPr>
          <a:xfrm>
            <a:off x="8366760" y="4654296"/>
            <a:ext cx="3474720" cy="329184"/>
          </a:xfrm>
          <a:prstGeom prst="rect">
            <a:avLst/>
          </a:prstGeom>
          <a:noFill/>
        </p:spPr>
        <p:txBody>
          <a:bodyPr wrap="square">
            <a:spAutoFit/>
          </a:bodyPr>
          <a:lstStyle/>
          <a:p>
            <a:pPr algn="l"/>
            <a:endParaRPr/>
          </a:p>
        </p:txBody>
      </p:sp>
      <p:sp>
        <p:nvSpPr>
          <p:cNvPr id="50" name="TextBox 49"/>
          <p:cNvSpPr txBox="1"/>
          <p:nvPr/>
        </p:nvSpPr>
        <p:spPr>
          <a:xfrm>
            <a:off x="8366760" y="5001768"/>
            <a:ext cx="3474720" cy="329184"/>
          </a:xfrm>
          <a:prstGeom prst="rect">
            <a:avLst/>
          </a:prstGeom>
          <a:noFill/>
        </p:spPr>
        <p:txBody>
          <a:bodyPr wrap="square">
            <a:spAutoFit/>
          </a:bodyPr>
          <a:lstStyle/>
          <a:p>
            <a:pPr algn="l"/>
            <a:r>
              <a:rPr sz="1100" b="1" i="0">
                <a:solidFill>
                  <a:srgbClr val="FFFFFF"/>
                </a:solidFill>
              </a:rPr>
              <a:t>★ 24/7 Continuous Monitoring</a:t>
            </a:r>
          </a:p>
        </p:txBody>
      </p:sp>
      <p:sp>
        <p:nvSpPr>
          <p:cNvPr id="51" name="TextBox 50"/>
          <p:cNvSpPr txBox="1"/>
          <p:nvPr/>
        </p:nvSpPr>
        <p:spPr>
          <a:xfrm>
            <a:off x="8366760" y="5349240"/>
            <a:ext cx="3474720" cy="329184"/>
          </a:xfrm>
          <a:prstGeom prst="rect">
            <a:avLst/>
          </a:prstGeom>
          <a:noFill/>
        </p:spPr>
        <p:txBody>
          <a:bodyPr wrap="square">
            <a:spAutoFit/>
          </a:bodyPr>
          <a:lstStyle/>
          <a:p>
            <a:pPr algn="l"/>
            <a:r>
              <a:rPr sz="1100" b="0" i="0">
                <a:solidFill>
                  <a:srgbClr val="9999AA"/>
                </a:solidFill>
              </a:rPr>
              <a:t>   Real-time event-driven alerts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Live Demo Walkthrough</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What to show in 5–7 minutes</a:t>
            </a:r>
          </a:p>
        </p:txBody>
      </p:sp>
      <p:sp>
        <p:nvSpPr>
          <p:cNvPr id="6" name="Rectangle 5"/>
          <p:cNvSpPr/>
          <p:nvPr/>
        </p:nvSpPr>
        <p:spPr>
          <a:xfrm>
            <a:off x="274320" y="1261872"/>
            <a:ext cx="57607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4048" y="1353312"/>
            <a:ext cx="457200" cy="457200"/>
          </a:xfrm>
          <a:prstGeom prst="rect">
            <a:avLst/>
          </a:prstGeom>
          <a:noFill/>
        </p:spPr>
        <p:txBody>
          <a:bodyPr wrap="square">
            <a:spAutoFit/>
          </a:bodyPr>
          <a:lstStyle/>
          <a:p>
            <a:pPr algn="l"/>
            <a:r>
              <a:rPr sz="2200" b="1" i="0">
                <a:solidFill>
                  <a:srgbClr val="10B981"/>
                </a:solidFill>
              </a:rPr>
              <a:t>1</a:t>
            </a:r>
          </a:p>
        </p:txBody>
      </p:sp>
      <p:sp>
        <p:nvSpPr>
          <p:cNvPr id="8" name="TextBox 7"/>
          <p:cNvSpPr txBox="1"/>
          <p:nvPr/>
        </p:nvSpPr>
        <p:spPr>
          <a:xfrm>
            <a:off x="868680" y="1353312"/>
            <a:ext cx="5029200" cy="411480"/>
          </a:xfrm>
          <a:prstGeom prst="rect">
            <a:avLst/>
          </a:prstGeom>
          <a:noFill/>
        </p:spPr>
        <p:txBody>
          <a:bodyPr wrap="square">
            <a:spAutoFit/>
          </a:bodyPr>
          <a:lstStyle/>
          <a:p>
            <a:pPr algn="l"/>
            <a:r>
              <a:rPr sz="1400" b="1" i="0">
                <a:solidFill>
                  <a:srgbClr val="FFFFFF"/>
                </a:solidFill>
              </a:rPr>
              <a:t>Sign In</a:t>
            </a:r>
          </a:p>
        </p:txBody>
      </p:sp>
      <p:sp>
        <p:nvSpPr>
          <p:cNvPr id="9" name="TextBox 8"/>
          <p:cNvSpPr txBox="1"/>
          <p:nvPr/>
        </p:nvSpPr>
        <p:spPr>
          <a:xfrm>
            <a:off x="868680" y="1810512"/>
            <a:ext cx="5029200" cy="658368"/>
          </a:xfrm>
          <a:prstGeom prst="rect">
            <a:avLst/>
          </a:prstGeom>
          <a:noFill/>
        </p:spPr>
        <p:txBody>
          <a:bodyPr wrap="square">
            <a:spAutoFit/>
          </a:bodyPr>
          <a:lstStyle/>
          <a:p>
            <a:pPr algn="l"/>
            <a:r>
              <a:rPr sz="1100" b="0" i="0">
                <a:solidFill>
                  <a:srgbClr val="9999AA"/>
                </a:solidFill>
              </a:rPr>
              <a:t>Go to app.vigilicloud.com
Use: admin@compliance.local / admin123</a:t>
            </a:r>
          </a:p>
        </p:txBody>
      </p:sp>
      <p:sp>
        <p:nvSpPr>
          <p:cNvPr id="10" name="Rectangle 9"/>
          <p:cNvSpPr/>
          <p:nvPr/>
        </p:nvSpPr>
        <p:spPr>
          <a:xfrm>
            <a:off x="6263640" y="1261872"/>
            <a:ext cx="5760720" cy="12801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73368" y="1353312"/>
            <a:ext cx="457200" cy="457200"/>
          </a:xfrm>
          <a:prstGeom prst="rect">
            <a:avLst/>
          </a:prstGeom>
          <a:noFill/>
        </p:spPr>
        <p:txBody>
          <a:bodyPr wrap="square">
            <a:spAutoFit/>
          </a:bodyPr>
          <a:lstStyle/>
          <a:p>
            <a:pPr algn="l"/>
            <a:r>
              <a:rPr sz="2200" b="1" i="0">
                <a:solidFill>
                  <a:srgbClr val="3B82F6"/>
                </a:solidFill>
              </a:rPr>
              <a:t>2</a:t>
            </a:r>
          </a:p>
        </p:txBody>
      </p:sp>
      <p:sp>
        <p:nvSpPr>
          <p:cNvPr id="12" name="TextBox 11"/>
          <p:cNvSpPr txBox="1"/>
          <p:nvPr/>
        </p:nvSpPr>
        <p:spPr>
          <a:xfrm>
            <a:off x="6858000" y="1353312"/>
            <a:ext cx="5029200" cy="411480"/>
          </a:xfrm>
          <a:prstGeom prst="rect">
            <a:avLst/>
          </a:prstGeom>
          <a:noFill/>
        </p:spPr>
        <p:txBody>
          <a:bodyPr wrap="square">
            <a:spAutoFit/>
          </a:bodyPr>
          <a:lstStyle/>
          <a:p>
            <a:pPr algn="l"/>
            <a:r>
              <a:rPr sz="1400" b="1" i="0">
                <a:solidFill>
                  <a:srgbClr val="FFFFFF"/>
                </a:solidFill>
              </a:rPr>
              <a:t>Connect Account</a:t>
            </a:r>
          </a:p>
        </p:txBody>
      </p:sp>
      <p:sp>
        <p:nvSpPr>
          <p:cNvPr id="13" name="TextBox 12"/>
          <p:cNvSpPr txBox="1"/>
          <p:nvPr/>
        </p:nvSpPr>
        <p:spPr>
          <a:xfrm>
            <a:off x="6858000" y="1810512"/>
            <a:ext cx="5029200" cy="658368"/>
          </a:xfrm>
          <a:prstGeom prst="rect">
            <a:avLst/>
          </a:prstGeom>
          <a:noFill/>
        </p:spPr>
        <p:txBody>
          <a:bodyPr wrap="square">
            <a:spAutoFit/>
          </a:bodyPr>
          <a:lstStyle/>
          <a:p>
            <a:pPr algn="l"/>
            <a:r>
              <a:rPr sz="1100" b="0" i="0">
                <a:solidFill>
                  <a:srgbClr val="9999AA"/>
                </a:solidFill>
              </a:rPr>
              <a:t>/accounts → 'Add Account'
Paste a role ARN (or show existing connected account)</a:t>
            </a:r>
          </a:p>
        </p:txBody>
      </p:sp>
      <p:sp>
        <p:nvSpPr>
          <p:cNvPr id="14" name="Rectangle 13"/>
          <p:cNvSpPr/>
          <p:nvPr/>
        </p:nvSpPr>
        <p:spPr>
          <a:xfrm>
            <a:off x="274320" y="2633472"/>
            <a:ext cx="5760720" cy="12801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2724912"/>
            <a:ext cx="457200" cy="457200"/>
          </a:xfrm>
          <a:prstGeom prst="rect">
            <a:avLst/>
          </a:prstGeom>
          <a:noFill/>
        </p:spPr>
        <p:txBody>
          <a:bodyPr wrap="square">
            <a:spAutoFit/>
          </a:bodyPr>
          <a:lstStyle/>
          <a:p>
            <a:pPr algn="l"/>
            <a:r>
              <a:rPr sz="2200" b="1" i="0">
                <a:solidFill>
                  <a:srgbClr val="8B5CF6"/>
                </a:solidFill>
              </a:rPr>
              <a:t>3</a:t>
            </a:r>
          </a:p>
        </p:txBody>
      </p:sp>
      <p:sp>
        <p:nvSpPr>
          <p:cNvPr id="16" name="TextBox 15"/>
          <p:cNvSpPr txBox="1"/>
          <p:nvPr/>
        </p:nvSpPr>
        <p:spPr>
          <a:xfrm>
            <a:off x="868680" y="2724912"/>
            <a:ext cx="5029200" cy="411480"/>
          </a:xfrm>
          <a:prstGeom prst="rect">
            <a:avLst/>
          </a:prstGeom>
          <a:noFill/>
        </p:spPr>
        <p:txBody>
          <a:bodyPr wrap="square">
            <a:spAutoFit/>
          </a:bodyPr>
          <a:lstStyle/>
          <a:p>
            <a:pPr algn="l"/>
            <a:r>
              <a:rPr sz="1400" b="1" i="0">
                <a:solidFill>
                  <a:srgbClr val="FFFFFF"/>
                </a:solidFill>
              </a:rPr>
              <a:t>Run Scan</a:t>
            </a:r>
          </a:p>
        </p:txBody>
      </p:sp>
      <p:sp>
        <p:nvSpPr>
          <p:cNvPr id="17" name="TextBox 16"/>
          <p:cNvSpPr txBox="1"/>
          <p:nvPr/>
        </p:nvSpPr>
        <p:spPr>
          <a:xfrm>
            <a:off x="868680" y="3182112"/>
            <a:ext cx="5029200" cy="658368"/>
          </a:xfrm>
          <a:prstGeom prst="rect">
            <a:avLst/>
          </a:prstGeom>
          <a:noFill/>
        </p:spPr>
        <p:txBody>
          <a:bodyPr wrap="square">
            <a:spAutoFit/>
          </a:bodyPr>
          <a:lstStyle/>
          <a:p>
            <a:pPr algn="l"/>
            <a:r>
              <a:rPr sz="1100" b="0" i="0">
                <a:solidFill>
                  <a:srgbClr val="9999AA"/>
                </a:solidFill>
              </a:rPr>
              <a:t>/scans → 'Run Scan'
Point out: 'Watch — 2-minute countdown'</a:t>
            </a:r>
          </a:p>
        </p:txBody>
      </p:sp>
      <p:sp>
        <p:nvSpPr>
          <p:cNvPr id="18" name="Rectangle 17"/>
          <p:cNvSpPr/>
          <p:nvPr/>
        </p:nvSpPr>
        <p:spPr>
          <a:xfrm>
            <a:off x="6263640" y="2633472"/>
            <a:ext cx="5760720" cy="1280160"/>
          </a:xfrm>
          <a:prstGeom prst="rect">
            <a:avLst/>
          </a:prstGeom>
          <a:solidFill>
            <a:srgbClr val="10101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73368" y="2724912"/>
            <a:ext cx="457200" cy="457200"/>
          </a:xfrm>
          <a:prstGeom prst="rect">
            <a:avLst/>
          </a:prstGeom>
          <a:noFill/>
        </p:spPr>
        <p:txBody>
          <a:bodyPr wrap="square">
            <a:spAutoFit/>
          </a:bodyPr>
          <a:lstStyle/>
          <a:p>
            <a:pPr algn="l"/>
            <a:r>
              <a:rPr sz="2200" b="1" i="0">
                <a:solidFill>
                  <a:srgbClr val="F59E0B"/>
                </a:solidFill>
              </a:rPr>
              <a:t>4</a:t>
            </a:r>
          </a:p>
        </p:txBody>
      </p:sp>
      <p:sp>
        <p:nvSpPr>
          <p:cNvPr id="20" name="TextBox 19"/>
          <p:cNvSpPr txBox="1"/>
          <p:nvPr/>
        </p:nvSpPr>
        <p:spPr>
          <a:xfrm>
            <a:off x="6858000" y="2724912"/>
            <a:ext cx="5029200" cy="411480"/>
          </a:xfrm>
          <a:prstGeom prst="rect">
            <a:avLst/>
          </a:prstGeom>
          <a:noFill/>
        </p:spPr>
        <p:txBody>
          <a:bodyPr wrap="square">
            <a:spAutoFit/>
          </a:bodyPr>
          <a:lstStyle/>
          <a:p>
            <a:pPr algn="l"/>
            <a:r>
              <a:rPr sz="1400" b="1" i="0">
                <a:solidFill>
                  <a:srgbClr val="FFFFFF"/>
                </a:solidFill>
              </a:rPr>
              <a:t>Review Findings</a:t>
            </a:r>
          </a:p>
        </p:txBody>
      </p:sp>
      <p:sp>
        <p:nvSpPr>
          <p:cNvPr id="21" name="TextBox 20"/>
          <p:cNvSpPr txBox="1"/>
          <p:nvPr/>
        </p:nvSpPr>
        <p:spPr>
          <a:xfrm>
            <a:off x="6858000" y="3182112"/>
            <a:ext cx="5029200" cy="658368"/>
          </a:xfrm>
          <a:prstGeom prst="rect">
            <a:avLst/>
          </a:prstGeom>
          <a:noFill/>
        </p:spPr>
        <p:txBody>
          <a:bodyPr wrap="square">
            <a:spAutoFit/>
          </a:bodyPr>
          <a:lstStyle/>
          <a:p>
            <a:pPr algn="l"/>
            <a:r>
              <a:rPr sz="1100" b="0" i="0">
                <a:solidFill>
                  <a:srgbClr val="9999AA"/>
                </a:solidFill>
              </a:rPr>
              <a:t>Filter by CRITICAL
Click a finding → show fix guidance tabs (Console / CLI / TF)</a:t>
            </a:r>
          </a:p>
        </p:txBody>
      </p:sp>
      <p:sp>
        <p:nvSpPr>
          <p:cNvPr id="22" name="Rectangle 21"/>
          <p:cNvSpPr/>
          <p:nvPr/>
        </p:nvSpPr>
        <p:spPr>
          <a:xfrm>
            <a:off x="274320" y="4005072"/>
            <a:ext cx="57607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4096511"/>
            <a:ext cx="457200" cy="457200"/>
          </a:xfrm>
          <a:prstGeom prst="rect">
            <a:avLst/>
          </a:prstGeom>
          <a:noFill/>
        </p:spPr>
        <p:txBody>
          <a:bodyPr wrap="square">
            <a:spAutoFit/>
          </a:bodyPr>
          <a:lstStyle/>
          <a:p>
            <a:pPr algn="l"/>
            <a:r>
              <a:rPr sz="2200" b="1" i="0">
                <a:solidFill>
                  <a:srgbClr val="10B981"/>
                </a:solidFill>
              </a:rPr>
              <a:t>5</a:t>
            </a:r>
          </a:p>
        </p:txBody>
      </p:sp>
      <p:sp>
        <p:nvSpPr>
          <p:cNvPr id="24" name="TextBox 23"/>
          <p:cNvSpPr txBox="1"/>
          <p:nvPr/>
        </p:nvSpPr>
        <p:spPr>
          <a:xfrm>
            <a:off x="868680" y="4096511"/>
            <a:ext cx="5029200" cy="411480"/>
          </a:xfrm>
          <a:prstGeom prst="rect">
            <a:avLst/>
          </a:prstGeom>
          <a:noFill/>
        </p:spPr>
        <p:txBody>
          <a:bodyPr wrap="square">
            <a:spAutoFit/>
          </a:bodyPr>
          <a:lstStyle/>
          <a:p>
            <a:pPr algn="l"/>
            <a:r>
              <a:rPr sz="1400" b="1" i="0">
                <a:solidFill>
                  <a:srgbClr val="FFFFFF"/>
                </a:solidFill>
              </a:rPr>
              <a:t>Drift View</a:t>
            </a:r>
          </a:p>
        </p:txBody>
      </p:sp>
      <p:sp>
        <p:nvSpPr>
          <p:cNvPr id="25" name="TextBox 24"/>
          <p:cNvSpPr txBox="1"/>
          <p:nvPr/>
        </p:nvSpPr>
        <p:spPr>
          <a:xfrm>
            <a:off x="868680" y="4553712"/>
            <a:ext cx="5029200" cy="658368"/>
          </a:xfrm>
          <a:prstGeom prst="rect">
            <a:avLst/>
          </a:prstGeom>
          <a:noFill/>
        </p:spPr>
        <p:txBody>
          <a:bodyPr wrap="square">
            <a:spAutoFit/>
          </a:bodyPr>
          <a:lstStyle/>
          <a:p>
            <a:pPr algn="l"/>
            <a:r>
              <a:rPr sz="1100" b="0" i="0">
                <a:solidFill>
                  <a:srgbClr val="9999AA"/>
                </a:solidFill>
              </a:rPr>
              <a:t>Show comparison to previous scan
New issues in red, fixed in green</a:t>
            </a:r>
          </a:p>
        </p:txBody>
      </p:sp>
      <p:sp>
        <p:nvSpPr>
          <p:cNvPr id="26" name="Rectangle 25"/>
          <p:cNvSpPr/>
          <p:nvPr/>
        </p:nvSpPr>
        <p:spPr>
          <a:xfrm>
            <a:off x="6263640" y="4005072"/>
            <a:ext cx="5760720" cy="128016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73368" y="4096511"/>
            <a:ext cx="457200" cy="457200"/>
          </a:xfrm>
          <a:prstGeom prst="rect">
            <a:avLst/>
          </a:prstGeom>
          <a:noFill/>
        </p:spPr>
        <p:txBody>
          <a:bodyPr wrap="square">
            <a:spAutoFit/>
          </a:bodyPr>
          <a:lstStyle/>
          <a:p>
            <a:pPr algn="l"/>
            <a:r>
              <a:rPr sz="2200" b="1" i="0">
                <a:solidFill>
                  <a:srgbClr val="3B82F6"/>
                </a:solidFill>
              </a:rPr>
              <a:t>6</a:t>
            </a:r>
          </a:p>
        </p:txBody>
      </p:sp>
      <p:sp>
        <p:nvSpPr>
          <p:cNvPr id="28" name="TextBox 27"/>
          <p:cNvSpPr txBox="1"/>
          <p:nvPr/>
        </p:nvSpPr>
        <p:spPr>
          <a:xfrm>
            <a:off x="6858000" y="4096511"/>
            <a:ext cx="5029200" cy="411480"/>
          </a:xfrm>
          <a:prstGeom prst="rect">
            <a:avLst/>
          </a:prstGeom>
          <a:noFill/>
        </p:spPr>
        <p:txBody>
          <a:bodyPr wrap="square">
            <a:spAutoFit/>
          </a:bodyPr>
          <a:lstStyle/>
          <a:p>
            <a:pPr algn="l"/>
            <a:r>
              <a:rPr sz="1400" b="1" i="0">
                <a:solidFill>
                  <a:srgbClr val="FFFFFF"/>
                </a:solidFill>
              </a:rPr>
              <a:t>AI Analysis</a:t>
            </a:r>
          </a:p>
        </p:txBody>
      </p:sp>
      <p:sp>
        <p:nvSpPr>
          <p:cNvPr id="29" name="TextBox 28"/>
          <p:cNvSpPr txBox="1"/>
          <p:nvPr/>
        </p:nvSpPr>
        <p:spPr>
          <a:xfrm>
            <a:off x="6858000" y="4553712"/>
            <a:ext cx="5029200" cy="658368"/>
          </a:xfrm>
          <a:prstGeom prst="rect">
            <a:avLst/>
          </a:prstGeom>
          <a:noFill/>
        </p:spPr>
        <p:txBody>
          <a:bodyPr wrap="square">
            <a:spAutoFit/>
          </a:bodyPr>
          <a:lstStyle/>
          <a:p>
            <a:pPr algn="l"/>
            <a:r>
              <a:rPr sz="1100" b="0" i="0">
                <a:solidFill>
                  <a:srgbClr val="9999AA"/>
                </a:solidFill>
              </a:rPr>
              <a:t>Click 'AI Analysis' button
Show executive summary generating in real-time</a:t>
            </a:r>
          </a:p>
        </p:txBody>
      </p:sp>
      <p:sp>
        <p:nvSpPr>
          <p:cNvPr id="30" name="Rectangle 29"/>
          <p:cNvSpPr/>
          <p:nvPr/>
        </p:nvSpPr>
        <p:spPr>
          <a:xfrm>
            <a:off x="274320" y="5376672"/>
            <a:ext cx="5760720" cy="1280160"/>
          </a:xfrm>
          <a:prstGeom prst="rect">
            <a:avLst/>
          </a:prstGeom>
          <a:solidFill>
            <a:srgbClr val="10101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5468112"/>
            <a:ext cx="457200" cy="457200"/>
          </a:xfrm>
          <a:prstGeom prst="rect">
            <a:avLst/>
          </a:prstGeom>
          <a:noFill/>
        </p:spPr>
        <p:txBody>
          <a:bodyPr wrap="square">
            <a:spAutoFit/>
          </a:bodyPr>
          <a:lstStyle/>
          <a:p>
            <a:pPr algn="l"/>
            <a:r>
              <a:rPr sz="2200" b="1" i="0">
                <a:solidFill>
                  <a:srgbClr val="8B5CF6"/>
                </a:solidFill>
              </a:rPr>
              <a:t>7</a:t>
            </a:r>
          </a:p>
        </p:txBody>
      </p:sp>
      <p:sp>
        <p:nvSpPr>
          <p:cNvPr id="32" name="TextBox 31"/>
          <p:cNvSpPr txBox="1"/>
          <p:nvPr/>
        </p:nvSpPr>
        <p:spPr>
          <a:xfrm>
            <a:off x="868680" y="5468112"/>
            <a:ext cx="5029200" cy="411480"/>
          </a:xfrm>
          <a:prstGeom prst="rect">
            <a:avLst/>
          </a:prstGeom>
          <a:noFill/>
        </p:spPr>
        <p:txBody>
          <a:bodyPr wrap="square">
            <a:spAutoFit/>
          </a:bodyPr>
          <a:lstStyle/>
          <a:p>
            <a:pPr algn="l"/>
            <a:r>
              <a:rPr sz="1400" b="1" i="0">
                <a:solidFill>
                  <a:srgbClr val="FFFFFF"/>
                </a:solidFill>
              </a:rPr>
              <a:t>Export</a:t>
            </a:r>
          </a:p>
        </p:txBody>
      </p:sp>
      <p:sp>
        <p:nvSpPr>
          <p:cNvPr id="33" name="TextBox 32"/>
          <p:cNvSpPr txBox="1"/>
          <p:nvPr/>
        </p:nvSpPr>
        <p:spPr>
          <a:xfrm>
            <a:off x="868680" y="5925312"/>
            <a:ext cx="5029200" cy="658368"/>
          </a:xfrm>
          <a:prstGeom prst="rect">
            <a:avLst/>
          </a:prstGeom>
          <a:noFill/>
        </p:spPr>
        <p:txBody>
          <a:bodyPr wrap="square">
            <a:spAutoFit/>
          </a:bodyPr>
          <a:lstStyle/>
          <a:p>
            <a:pPr algn="l"/>
            <a:r>
              <a:rPr sz="1100" b="0" i="0">
                <a:solidFill>
                  <a:srgbClr val="9999AA"/>
                </a:solidFill>
              </a:rPr>
              <a:t>Click Export → PDF
Open the PDF — show it's audit-ready</a:t>
            </a:r>
          </a:p>
        </p:txBody>
      </p:sp>
      <p:sp>
        <p:nvSpPr>
          <p:cNvPr id="34" name="Rectangle 33"/>
          <p:cNvSpPr/>
          <p:nvPr/>
        </p:nvSpPr>
        <p:spPr>
          <a:xfrm>
            <a:off x="6263640" y="5376672"/>
            <a:ext cx="5760720" cy="1280160"/>
          </a:xfrm>
          <a:prstGeom prst="rect">
            <a:avLst/>
          </a:prstGeom>
          <a:solidFill>
            <a:srgbClr val="10101A"/>
          </a:solidFill>
          <a:ln w="12700">
            <a:solidFill>
              <a:srgbClr val="9999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73368" y="5468112"/>
            <a:ext cx="457200" cy="457200"/>
          </a:xfrm>
          <a:prstGeom prst="rect">
            <a:avLst/>
          </a:prstGeom>
          <a:noFill/>
        </p:spPr>
        <p:txBody>
          <a:bodyPr wrap="square">
            <a:spAutoFit/>
          </a:bodyPr>
          <a:lstStyle/>
          <a:p>
            <a:pPr algn="l"/>
            <a:r>
              <a:rPr sz="2200" b="1" i="0">
                <a:solidFill>
                  <a:srgbClr val="9999AA"/>
                </a:solidFill>
              </a:rPr>
              <a:t>8</a:t>
            </a:r>
          </a:p>
        </p:txBody>
      </p:sp>
      <p:sp>
        <p:nvSpPr>
          <p:cNvPr id="36" name="TextBox 35"/>
          <p:cNvSpPr txBox="1"/>
          <p:nvPr/>
        </p:nvSpPr>
        <p:spPr>
          <a:xfrm>
            <a:off x="6858000" y="5468112"/>
            <a:ext cx="5029200" cy="411480"/>
          </a:xfrm>
          <a:prstGeom prst="rect">
            <a:avLst/>
          </a:prstGeom>
          <a:noFill/>
        </p:spPr>
        <p:txBody>
          <a:bodyPr wrap="square">
            <a:spAutoFit/>
          </a:bodyPr>
          <a:lstStyle/>
          <a:p>
            <a:pPr algn="l"/>
            <a:r>
              <a:rPr sz="1400" b="1" i="0">
                <a:solidFill>
                  <a:srgbClr val="FFFFFF"/>
                </a:solidFill>
              </a:rPr>
              <a:t>Settings</a:t>
            </a:r>
          </a:p>
        </p:txBody>
      </p:sp>
      <p:sp>
        <p:nvSpPr>
          <p:cNvPr id="37" name="TextBox 36"/>
          <p:cNvSpPr txBox="1"/>
          <p:nvPr/>
        </p:nvSpPr>
        <p:spPr>
          <a:xfrm>
            <a:off x="6858000" y="5925312"/>
            <a:ext cx="5029200" cy="658368"/>
          </a:xfrm>
          <a:prstGeom prst="rect">
            <a:avLst/>
          </a:prstGeom>
          <a:noFill/>
        </p:spPr>
        <p:txBody>
          <a:bodyPr wrap="square">
            <a:spAutoFit/>
          </a:bodyPr>
          <a:lstStyle/>
          <a:p>
            <a:pPr algn="l"/>
            <a:r>
              <a:rPr sz="1100" b="0" i="0">
                <a:solidFill>
                  <a:srgbClr val="9999AA"/>
                </a:solidFill>
              </a:rPr>
              <a:t>/settings → show scheduled scans, Jira config, API keys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40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10972800" cy="502920"/>
          </a:xfrm>
          <a:prstGeom prst="rect">
            <a:avLst/>
          </a:prstGeom>
          <a:noFill/>
        </p:spPr>
        <p:txBody>
          <a:bodyPr wrap="square">
            <a:spAutoFit/>
          </a:bodyPr>
          <a:lstStyle/>
          <a:p>
            <a:pPr algn="l"/>
            <a:r>
              <a:rPr sz="2800" b="1" i="0">
                <a:solidFill>
                  <a:srgbClr val="FFFFFF"/>
                </a:solidFill>
              </a:rPr>
              <a:t>Summary &amp; Next Steps</a:t>
            </a:r>
          </a:p>
        </p:txBody>
      </p:sp>
      <p:sp>
        <p:nvSpPr>
          <p:cNvPr id="5" name="TextBox 4"/>
          <p:cNvSpPr txBox="1"/>
          <p:nvPr/>
        </p:nvSpPr>
        <p:spPr>
          <a:xfrm>
            <a:off x="365760" y="685800"/>
            <a:ext cx="10972800" cy="365760"/>
          </a:xfrm>
          <a:prstGeom prst="rect">
            <a:avLst/>
          </a:prstGeom>
          <a:noFill/>
        </p:spPr>
        <p:txBody>
          <a:bodyPr wrap="square">
            <a:spAutoFit/>
          </a:bodyPr>
          <a:lstStyle/>
          <a:p>
            <a:pPr algn="l"/>
            <a:r>
              <a:rPr sz="1400" b="0" i="0">
                <a:solidFill>
                  <a:srgbClr val="9999AA"/>
                </a:solidFill>
              </a:rPr>
              <a:t>What we built, where we're going, how you can help</a:t>
            </a:r>
          </a:p>
        </p:txBody>
      </p:sp>
      <p:sp>
        <p:nvSpPr>
          <p:cNvPr id="6" name="Rectangle 5"/>
          <p:cNvSpPr/>
          <p:nvPr/>
        </p:nvSpPr>
        <p:spPr>
          <a:xfrm>
            <a:off x="274320" y="1234440"/>
            <a:ext cx="7223760" cy="329184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71600"/>
            <a:ext cx="6858000" cy="411480"/>
          </a:xfrm>
          <a:prstGeom prst="rect">
            <a:avLst/>
          </a:prstGeom>
          <a:noFill/>
        </p:spPr>
        <p:txBody>
          <a:bodyPr wrap="square">
            <a:spAutoFit/>
          </a:bodyPr>
          <a:lstStyle/>
          <a:p>
            <a:pPr algn="l"/>
            <a:r>
              <a:rPr sz="1500" b="1" i="0">
                <a:solidFill>
                  <a:srgbClr val="10B981"/>
                </a:solidFill>
              </a:rPr>
              <a:t>Key Takeaways</a:t>
            </a:r>
          </a:p>
        </p:txBody>
      </p:sp>
      <p:sp>
        <p:nvSpPr>
          <p:cNvPr id="8" name="TextBox 7"/>
          <p:cNvSpPr txBox="1"/>
          <p:nvPr/>
        </p:nvSpPr>
        <p:spPr>
          <a:xfrm>
            <a:off x="457200" y="1847088"/>
            <a:ext cx="6949440" cy="365760"/>
          </a:xfrm>
          <a:prstGeom prst="rect">
            <a:avLst/>
          </a:prstGeom>
          <a:noFill/>
        </p:spPr>
        <p:txBody>
          <a:bodyPr wrap="square">
            <a:spAutoFit/>
          </a:bodyPr>
          <a:lstStyle/>
          <a:p>
            <a:pPr algn="l"/>
            <a:r>
              <a:rPr sz="1300" b="0" i="0">
                <a:solidFill>
                  <a:srgbClr val="9999AA"/>
                </a:solidFill>
              </a:rPr>
              <a:t>✓  Fully deployed, production SaaS — not a prototype</a:t>
            </a:r>
          </a:p>
        </p:txBody>
      </p:sp>
      <p:sp>
        <p:nvSpPr>
          <p:cNvPr id="9" name="TextBox 8"/>
          <p:cNvSpPr txBox="1"/>
          <p:nvPr/>
        </p:nvSpPr>
        <p:spPr>
          <a:xfrm>
            <a:off x="457200" y="2231136"/>
            <a:ext cx="6949440" cy="365760"/>
          </a:xfrm>
          <a:prstGeom prst="rect">
            <a:avLst/>
          </a:prstGeom>
          <a:noFill/>
        </p:spPr>
        <p:txBody>
          <a:bodyPr wrap="square">
            <a:spAutoFit/>
          </a:bodyPr>
          <a:lstStyle/>
          <a:p>
            <a:pPr algn="l"/>
            <a:r>
              <a:rPr sz="1300" b="0" i="0">
                <a:solidFill>
                  <a:srgbClr val="9999AA"/>
                </a:solidFill>
              </a:rPr>
              <a:t>✓  10 CIS AWS checks in 2 minutes — replaces 2-day manual audits</a:t>
            </a:r>
          </a:p>
        </p:txBody>
      </p:sp>
      <p:sp>
        <p:nvSpPr>
          <p:cNvPr id="10" name="TextBox 9"/>
          <p:cNvSpPr txBox="1"/>
          <p:nvPr/>
        </p:nvSpPr>
        <p:spPr>
          <a:xfrm>
            <a:off x="457200" y="2615184"/>
            <a:ext cx="6949440" cy="365760"/>
          </a:xfrm>
          <a:prstGeom prst="rect">
            <a:avLst/>
          </a:prstGeom>
          <a:noFill/>
        </p:spPr>
        <p:txBody>
          <a:bodyPr wrap="square">
            <a:spAutoFit/>
          </a:bodyPr>
          <a:lstStyle/>
          <a:p>
            <a:pPr algn="l"/>
            <a:r>
              <a:rPr sz="1300" b="0" i="0">
                <a:solidFill>
                  <a:srgbClr val="9999AA"/>
                </a:solidFill>
              </a:rPr>
              <a:t>✓  AI-powered executive summaries via Claude Haiku</a:t>
            </a:r>
          </a:p>
        </p:txBody>
      </p:sp>
      <p:sp>
        <p:nvSpPr>
          <p:cNvPr id="11" name="TextBox 10"/>
          <p:cNvSpPr txBox="1"/>
          <p:nvPr/>
        </p:nvSpPr>
        <p:spPr>
          <a:xfrm>
            <a:off x="457200" y="2999232"/>
            <a:ext cx="6949440" cy="365760"/>
          </a:xfrm>
          <a:prstGeom prst="rect">
            <a:avLst/>
          </a:prstGeom>
          <a:noFill/>
        </p:spPr>
        <p:txBody>
          <a:bodyPr wrap="square">
            <a:spAutoFit/>
          </a:bodyPr>
          <a:lstStyle/>
          <a:p>
            <a:pPr algn="l"/>
            <a:r>
              <a:rPr sz="1300" b="0" i="0">
                <a:solidFill>
                  <a:srgbClr val="9999AA"/>
                </a:solidFill>
              </a:rPr>
              <a:t>✓  Fix guidance (CLI + Terraform) for every single finding</a:t>
            </a:r>
          </a:p>
        </p:txBody>
      </p:sp>
      <p:sp>
        <p:nvSpPr>
          <p:cNvPr id="12" name="TextBox 11"/>
          <p:cNvSpPr txBox="1"/>
          <p:nvPr/>
        </p:nvSpPr>
        <p:spPr>
          <a:xfrm>
            <a:off x="457200" y="3383280"/>
            <a:ext cx="6949440" cy="365760"/>
          </a:xfrm>
          <a:prstGeom prst="rect">
            <a:avLst/>
          </a:prstGeom>
          <a:noFill/>
        </p:spPr>
        <p:txBody>
          <a:bodyPr wrap="square">
            <a:spAutoFit/>
          </a:bodyPr>
          <a:lstStyle/>
          <a:p>
            <a:pPr algn="l"/>
            <a:r>
              <a:rPr sz="1300" b="0" i="0">
                <a:solidFill>
                  <a:srgbClr val="9999AA"/>
                </a:solidFill>
              </a:rPr>
              <a:t>✓  3 billing tiers — Starter ($99) → Pro ($299) → MSP ($999+)</a:t>
            </a:r>
          </a:p>
        </p:txBody>
      </p:sp>
      <p:sp>
        <p:nvSpPr>
          <p:cNvPr id="13" name="TextBox 12"/>
          <p:cNvSpPr txBox="1"/>
          <p:nvPr/>
        </p:nvSpPr>
        <p:spPr>
          <a:xfrm>
            <a:off x="457200" y="3767328"/>
            <a:ext cx="6949440" cy="365760"/>
          </a:xfrm>
          <a:prstGeom prst="rect">
            <a:avLst/>
          </a:prstGeom>
          <a:noFill/>
        </p:spPr>
        <p:txBody>
          <a:bodyPr wrap="square">
            <a:spAutoFit/>
          </a:bodyPr>
          <a:lstStyle/>
          <a:p>
            <a:pPr algn="l"/>
            <a:r>
              <a:rPr sz="1300" b="0" i="0">
                <a:solidFill>
                  <a:srgbClr val="9999AA"/>
                </a:solidFill>
              </a:rPr>
              <a:t>✓  Phase 2: Multi-cloud (Azure + GCP) in H2 2026</a:t>
            </a:r>
          </a:p>
        </p:txBody>
      </p:sp>
      <p:sp>
        <p:nvSpPr>
          <p:cNvPr id="14" name="TextBox 13"/>
          <p:cNvSpPr txBox="1"/>
          <p:nvPr/>
        </p:nvSpPr>
        <p:spPr>
          <a:xfrm>
            <a:off x="457200" y="4151376"/>
            <a:ext cx="6949440" cy="365760"/>
          </a:xfrm>
          <a:prstGeom prst="rect">
            <a:avLst/>
          </a:prstGeom>
          <a:noFill/>
        </p:spPr>
        <p:txBody>
          <a:bodyPr wrap="square">
            <a:spAutoFit/>
          </a:bodyPr>
          <a:lstStyle/>
          <a:p>
            <a:pPr algn="l"/>
            <a:r>
              <a:rPr sz="1300" b="0" i="0">
                <a:solidFill>
                  <a:srgbClr val="9999AA"/>
                </a:solidFill>
              </a:rPr>
              <a:t>✓  Phase 3: MCP AI remediation engine — detect → approve → fix</a:t>
            </a:r>
          </a:p>
        </p:txBody>
      </p:sp>
      <p:sp>
        <p:nvSpPr>
          <p:cNvPr id="15" name="Rectangle 14"/>
          <p:cNvSpPr/>
          <p:nvPr/>
        </p:nvSpPr>
        <p:spPr>
          <a:xfrm>
            <a:off x="7680960" y="1234440"/>
            <a:ext cx="4206240" cy="3291840"/>
          </a:xfrm>
          <a:prstGeom prst="rect">
            <a:avLst/>
          </a:prstGeom>
          <a:solidFill>
            <a:srgbClr val="10101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1371600"/>
            <a:ext cx="3840480" cy="411480"/>
          </a:xfrm>
          <a:prstGeom prst="rect">
            <a:avLst/>
          </a:prstGeom>
          <a:noFill/>
        </p:spPr>
        <p:txBody>
          <a:bodyPr wrap="square">
            <a:spAutoFit/>
          </a:bodyPr>
          <a:lstStyle/>
          <a:p>
            <a:pPr algn="l"/>
            <a:r>
              <a:rPr sz="1500" b="1" i="0">
                <a:solidFill>
                  <a:srgbClr val="3B82F6"/>
                </a:solidFill>
              </a:rPr>
              <a:t>Immediate Actions</a:t>
            </a:r>
          </a:p>
        </p:txBody>
      </p:sp>
      <p:sp>
        <p:nvSpPr>
          <p:cNvPr id="17" name="TextBox 16"/>
          <p:cNvSpPr txBox="1"/>
          <p:nvPr/>
        </p:nvSpPr>
        <p:spPr>
          <a:xfrm>
            <a:off x="7772400" y="1828800"/>
            <a:ext cx="320040" cy="411480"/>
          </a:xfrm>
          <a:prstGeom prst="rect">
            <a:avLst/>
          </a:prstGeom>
          <a:noFill/>
        </p:spPr>
        <p:txBody>
          <a:bodyPr wrap="square">
            <a:spAutoFit/>
          </a:bodyPr>
          <a:lstStyle/>
          <a:p>
            <a:pPr algn="l"/>
            <a:r>
              <a:rPr sz="1400" b="0" i="0">
                <a:solidFill>
                  <a:srgbClr val="FFFFFF"/>
                </a:solidFill>
              </a:rPr>
              <a:t>🔴</a:t>
            </a:r>
          </a:p>
        </p:txBody>
      </p:sp>
      <p:sp>
        <p:nvSpPr>
          <p:cNvPr id="18" name="TextBox 17"/>
          <p:cNvSpPr txBox="1"/>
          <p:nvPr/>
        </p:nvSpPr>
        <p:spPr>
          <a:xfrm>
            <a:off x="8092440" y="1828800"/>
            <a:ext cx="2011680" cy="320040"/>
          </a:xfrm>
          <a:prstGeom prst="rect">
            <a:avLst/>
          </a:prstGeom>
          <a:noFill/>
        </p:spPr>
        <p:txBody>
          <a:bodyPr wrap="square">
            <a:spAutoFit/>
          </a:bodyPr>
          <a:lstStyle/>
          <a:p>
            <a:pPr algn="l"/>
            <a:r>
              <a:rPr sz="1300" b="1" i="0">
                <a:solidFill>
                  <a:srgbClr val="FFFFFF"/>
                </a:solidFill>
              </a:rPr>
              <a:t>Upgrade DB</a:t>
            </a:r>
          </a:p>
        </p:txBody>
      </p:sp>
      <p:sp>
        <p:nvSpPr>
          <p:cNvPr id="19" name="TextBox 18"/>
          <p:cNvSpPr txBox="1"/>
          <p:nvPr/>
        </p:nvSpPr>
        <p:spPr>
          <a:xfrm>
            <a:off x="8092440" y="2103120"/>
            <a:ext cx="3566160" cy="256032"/>
          </a:xfrm>
          <a:prstGeom prst="rect">
            <a:avLst/>
          </a:prstGeom>
          <a:noFill/>
        </p:spPr>
        <p:txBody>
          <a:bodyPr wrap="square">
            <a:spAutoFit/>
          </a:bodyPr>
          <a:lstStyle/>
          <a:p>
            <a:pPr algn="l"/>
            <a:r>
              <a:rPr sz="1100" b="0" i="0">
                <a:solidFill>
                  <a:srgbClr val="9999AA"/>
                </a:solidFill>
              </a:rPr>
              <a:t>Render DB expires 2026-06-03</a:t>
            </a:r>
          </a:p>
        </p:txBody>
      </p:sp>
      <p:sp>
        <p:nvSpPr>
          <p:cNvPr id="20" name="TextBox 19"/>
          <p:cNvSpPr txBox="1"/>
          <p:nvPr/>
        </p:nvSpPr>
        <p:spPr>
          <a:xfrm>
            <a:off x="7772400" y="2350008"/>
            <a:ext cx="320040" cy="411480"/>
          </a:xfrm>
          <a:prstGeom prst="rect">
            <a:avLst/>
          </a:prstGeom>
          <a:noFill/>
        </p:spPr>
        <p:txBody>
          <a:bodyPr wrap="square">
            <a:spAutoFit/>
          </a:bodyPr>
          <a:lstStyle/>
          <a:p>
            <a:pPr algn="l"/>
            <a:r>
              <a:rPr sz="1400" b="0" i="0">
                <a:solidFill>
                  <a:srgbClr val="FFFFFF"/>
                </a:solidFill>
              </a:rPr>
              <a:t>🟡</a:t>
            </a:r>
          </a:p>
        </p:txBody>
      </p:sp>
      <p:sp>
        <p:nvSpPr>
          <p:cNvPr id="21" name="TextBox 20"/>
          <p:cNvSpPr txBox="1"/>
          <p:nvPr/>
        </p:nvSpPr>
        <p:spPr>
          <a:xfrm>
            <a:off x="8092440" y="2350008"/>
            <a:ext cx="2011680" cy="320040"/>
          </a:xfrm>
          <a:prstGeom prst="rect">
            <a:avLst/>
          </a:prstGeom>
          <a:noFill/>
        </p:spPr>
        <p:txBody>
          <a:bodyPr wrap="square">
            <a:spAutoFit/>
          </a:bodyPr>
          <a:lstStyle/>
          <a:p>
            <a:pPr algn="l"/>
            <a:r>
              <a:rPr sz="1300" b="1" i="0">
                <a:solidFill>
                  <a:srgbClr val="FFFFFF"/>
                </a:solidFill>
              </a:rPr>
              <a:t>Split backend</a:t>
            </a:r>
          </a:p>
        </p:txBody>
      </p:sp>
      <p:sp>
        <p:nvSpPr>
          <p:cNvPr id="22" name="TextBox 21"/>
          <p:cNvSpPr txBox="1"/>
          <p:nvPr/>
        </p:nvSpPr>
        <p:spPr>
          <a:xfrm>
            <a:off x="8092440" y="2624327"/>
            <a:ext cx="3566160" cy="256032"/>
          </a:xfrm>
          <a:prstGeom prst="rect">
            <a:avLst/>
          </a:prstGeom>
          <a:noFill/>
        </p:spPr>
        <p:txBody>
          <a:bodyPr wrap="square">
            <a:spAutoFit/>
          </a:bodyPr>
          <a:lstStyle/>
          <a:p>
            <a:pPr algn="l"/>
            <a:r>
              <a:rPr sz="1100" b="0" i="0">
                <a:solidFill>
                  <a:srgbClr val="9999AA"/>
                </a:solidFill>
              </a:rPr>
              <a:t>main.py &gt; 2000 LOC</a:t>
            </a:r>
          </a:p>
        </p:txBody>
      </p:sp>
      <p:sp>
        <p:nvSpPr>
          <p:cNvPr id="23" name="TextBox 22"/>
          <p:cNvSpPr txBox="1"/>
          <p:nvPr/>
        </p:nvSpPr>
        <p:spPr>
          <a:xfrm>
            <a:off x="7772400" y="2871215"/>
            <a:ext cx="320040" cy="411480"/>
          </a:xfrm>
          <a:prstGeom prst="rect">
            <a:avLst/>
          </a:prstGeom>
          <a:noFill/>
        </p:spPr>
        <p:txBody>
          <a:bodyPr wrap="square">
            <a:spAutoFit/>
          </a:bodyPr>
          <a:lstStyle/>
          <a:p>
            <a:pPr algn="l"/>
            <a:r>
              <a:rPr sz="1400" b="0" i="0">
                <a:solidFill>
                  <a:srgbClr val="FFFFFF"/>
                </a:solidFill>
              </a:rPr>
              <a:t>🟢</a:t>
            </a:r>
          </a:p>
        </p:txBody>
      </p:sp>
      <p:sp>
        <p:nvSpPr>
          <p:cNvPr id="24" name="TextBox 23"/>
          <p:cNvSpPr txBox="1"/>
          <p:nvPr/>
        </p:nvSpPr>
        <p:spPr>
          <a:xfrm>
            <a:off x="8092440" y="2871215"/>
            <a:ext cx="2011680" cy="320040"/>
          </a:xfrm>
          <a:prstGeom prst="rect">
            <a:avLst/>
          </a:prstGeom>
          <a:noFill/>
        </p:spPr>
        <p:txBody>
          <a:bodyPr wrap="square">
            <a:spAutoFit/>
          </a:bodyPr>
          <a:lstStyle/>
          <a:p>
            <a:pPr algn="l"/>
            <a:r>
              <a:rPr sz="1300" b="1" i="0">
                <a:solidFill>
                  <a:srgbClr val="FFFFFF"/>
                </a:solidFill>
              </a:rPr>
              <a:t>Demo prep</a:t>
            </a:r>
          </a:p>
        </p:txBody>
      </p:sp>
      <p:sp>
        <p:nvSpPr>
          <p:cNvPr id="25" name="TextBox 24"/>
          <p:cNvSpPr txBox="1"/>
          <p:nvPr/>
        </p:nvSpPr>
        <p:spPr>
          <a:xfrm>
            <a:off x="8092440" y="3145535"/>
            <a:ext cx="3566160" cy="256032"/>
          </a:xfrm>
          <a:prstGeom prst="rect">
            <a:avLst/>
          </a:prstGeom>
          <a:noFill/>
        </p:spPr>
        <p:txBody>
          <a:bodyPr wrap="square">
            <a:spAutoFit/>
          </a:bodyPr>
          <a:lstStyle/>
          <a:p>
            <a:pPr algn="l"/>
            <a:r>
              <a:rPr sz="1100" b="0" i="0">
                <a:solidFill>
                  <a:srgbClr val="9999AA"/>
                </a:solidFill>
              </a:rPr>
              <a:t>Seed demo account + findings</a:t>
            </a:r>
          </a:p>
        </p:txBody>
      </p:sp>
      <p:sp>
        <p:nvSpPr>
          <p:cNvPr id="26" name="TextBox 25"/>
          <p:cNvSpPr txBox="1"/>
          <p:nvPr/>
        </p:nvSpPr>
        <p:spPr>
          <a:xfrm>
            <a:off x="7772400" y="3392424"/>
            <a:ext cx="320040" cy="411480"/>
          </a:xfrm>
          <a:prstGeom prst="rect">
            <a:avLst/>
          </a:prstGeom>
          <a:noFill/>
        </p:spPr>
        <p:txBody>
          <a:bodyPr wrap="square">
            <a:spAutoFit/>
          </a:bodyPr>
          <a:lstStyle/>
          <a:p>
            <a:pPr algn="l"/>
            <a:r>
              <a:rPr sz="1400" b="0" i="0">
                <a:solidFill>
                  <a:srgbClr val="FFFFFF"/>
                </a:solidFill>
              </a:rPr>
              <a:t>🟢</a:t>
            </a:r>
          </a:p>
        </p:txBody>
      </p:sp>
      <p:sp>
        <p:nvSpPr>
          <p:cNvPr id="27" name="TextBox 26"/>
          <p:cNvSpPr txBox="1"/>
          <p:nvPr/>
        </p:nvSpPr>
        <p:spPr>
          <a:xfrm>
            <a:off x="8092440" y="3392424"/>
            <a:ext cx="2011680" cy="320040"/>
          </a:xfrm>
          <a:prstGeom prst="rect">
            <a:avLst/>
          </a:prstGeom>
          <a:noFill/>
        </p:spPr>
        <p:txBody>
          <a:bodyPr wrap="square">
            <a:spAutoFit/>
          </a:bodyPr>
          <a:lstStyle/>
          <a:p>
            <a:pPr algn="l"/>
            <a:r>
              <a:rPr sz="1300" b="1" i="0">
                <a:solidFill>
                  <a:srgbClr val="FFFFFF"/>
                </a:solidFill>
              </a:rPr>
              <a:t>Azure research</a:t>
            </a:r>
          </a:p>
        </p:txBody>
      </p:sp>
      <p:sp>
        <p:nvSpPr>
          <p:cNvPr id="28" name="TextBox 27"/>
          <p:cNvSpPr txBox="1"/>
          <p:nvPr/>
        </p:nvSpPr>
        <p:spPr>
          <a:xfrm>
            <a:off x="8092440" y="3666744"/>
            <a:ext cx="3566160" cy="256032"/>
          </a:xfrm>
          <a:prstGeom prst="rect">
            <a:avLst/>
          </a:prstGeom>
          <a:noFill/>
        </p:spPr>
        <p:txBody>
          <a:bodyPr wrap="square">
            <a:spAutoFit/>
          </a:bodyPr>
          <a:lstStyle/>
          <a:p>
            <a:pPr algn="l"/>
            <a:r>
              <a:rPr sz="1100" b="0" i="0">
                <a:solidFill>
                  <a:srgbClr val="9999AA"/>
                </a:solidFill>
              </a:rPr>
              <a:t>Start Phase 2 API mapping</a:t>
            </a:r>
          </a:p>
        </p:txBody>
      </p:sp>
      <p:sp>
        <p:nvSpPr>
          <p:cNvPr id="29" name="TextBox 28"/>
          <p:cNvSpPr txBox="1"/>
          <p:nvPr/>
        </p:nvSpPr>
        <p:spPr>
          <a:xfrm>
            <a:off x="7772400" y="3913631"/>
            <a:ext cx="320040" cy="411480"/>
          </a:xfrm>
          <a:prstGeom prst="rect">
            <a:avLst/>
          </a:prstGeom>
          <a:noFill/>
        </p:spPr>
        <p:txBody>
          <a:bodyPr wrap="square">
            <a:spAutoFit/>
          </a:bodyPr>
          <a:lstStyle/>
          <a:p>
            <a:pPr algn="l"/>
            <a:r>
              <a:rPr sz="1400" b="0" i="0">
                <a:solidFill>
                  <a:srgbClr val="FFFFFF"/>
                </a:solidFill>
              </a:rPr>
              <a:t>🟢</a:t>
            </a:r>
          </a:p>
        </p:txBody>
      </p:sp>
      <p:sp>
        <p:nvSpPr>
          <p:cNvPr id="30" name="TextBox 29"/>
          <p:cNvSpPr txBox="1"/>
          <p:nvPr/>
        </p:nvSpPr>
        <p:spPr>
          <a:xfrm>
            <a:off x="8092440" y="3913631"/>
            <a:ext cx="2011680" cy="320040"/>
          </a:xfrm>
          <a:prstGeom prst="rect">
            <a:avLst/>
          </a:prstGeom>
          <a:noFill/>
        </p:spPr>
        <p:txBody>
          <a:bodyPr wrap="square">
            <a:spAutoFit/>
          </a:bodyPr>
          <a:lstStyle/>
          <a:p>
            <a:pPr algn="l"/>
            <a:r>
              <a:rPr sz="1300" b="1" i="0">
                <a:solidFill>
                  <a:srgbClr val="FFFFFF"/>
                </a:solidFill>
              </a:rPr>
              <a:t>Pricing review</a:t>
            </a:r>
          </a:p>
        </p:txBody>
      </p:sp>
      <p:sp>
        <p:nvSpPr>
          <p:cNvPr id="31" name="TextBox 30"/>
          <p:cNvSpPr txBox="1"/>
          <p:nvPr/>
        </p:nvSpPr>
        <p:spPr>
          <a:xfrm>
            <a:off x="8092440" y="4187951"/>
            <a:ext cx="3566160" cy="256032"/>
          </a:xfrm>
          <a:prstGeom prst="rect">
            <a:avLst/>
          </a:prstGeom>
          <a:noFill/>
        </p:spPr>
        <p:txBody>
          <a:bodyPr wrap="square">
            <a:spAutoFit/>
          </a:bodyPr>
          <a:lstStyle/>
          <a:p>
            <a:pPr algn="l"/>
            <a:r>
              <a:rPr sz="1100" b="0" i="0">
                <a:solidFill>
                  <a:srgbClr val="9999AA"/>
                </a:solidFill>
              </a:rPr>
              <a:t>USD pricing page for global</a:t>
            </a:r>
          </a:p>
        </p:txBody>
      </p:sp>
      <p:sp>
        <p:nvSpPr>
          <p:cNvPr id="32" name="Rectangle 31"/>
          <p:cNvSpPr/>
          <p:nvPr/>
        </p:nvSpPr>
        <p:spPr>
          <a:xfrm>
            <a:off x="274320" y="4663440"/>
            <a:ext cx="11567160" cy="141732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7200" y="4754880"/>
            <a:ext cx="11155680" cy="1188720"/>
          </a:xfrm>
          <a:prstGeom prst="rect">
            <a:avLst/>
          </a:prstGeom>
          <a:noFill/>
        </p:spPr>
        <p:txBody>
          <a:bodyPr wrap="square">
            <a:spAutoFit/>
          </a:bodyPr>
          <a:lstStyle/>
          <a:p>
            <a:pPr algn="ctr"/>
            <a:r>
              <a:rPr sz="1500" b="0" i="1">
                <a:solidFill>
                  <a:srgbClr val="FFFFFF"/>
                </a:solidFill>
              </a:rPr>
              <a:t>"From 2-day manual audits to 2-minute automated compliance scans with AI-powered remediation guidance.
VigiliCloud is the security compliance tool SMBs have been waiting for."</a:t>
            </a:r>
          </a:p>
        </p:txBody>
      </p:sp>
      <p:sp>
        <p:nvSpPr>
          <p:cNvPr id="34" name="TextBox 33"/>
          <p:cNvSpPr txBox="1"/>
          <p:nvPr/>
        </p:nvSpPr>
        <p:spPr>
          <a:xfrm>
            <a:off x="274320" y="6236208"/>
            <a:ext cx="11567160" cy="347472"/>
          </a:xfrm>
          <a:prstGeom prst="rect">
            <a:avLst/>
          </a:prstGeom>
          <a:noFill/>
        </p:spPr>
        <p:txBody>
          <a:bodyPr wrap="square">
            <a:spAutoFit/>
          </a:bodyPr>
          <a:lstStyle/>
          <a:p>
            <a:pPr algn="ctr"/>
            <a:r>
              <a:rPr sz="1200" b="0" i="0">
                <a:solidFill>
                  <a:srgbClr val="9999AA"/>
                </a:solidFill>
              </a:rPr>
              <a:t>app.vigilicloud.com  ·  vigilicloud-api.onrender.com  ·  leelakrishna1739@gmail.com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84848"/>
            <a:ext cx="12188952"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10360152" cy="1280160"/>
          </a:xfrm>
          <a:prstGeom prst="rect">
            <a:avLst/>
          </a:prstGeom>
          <a:noFill/>
        </p:spPr>
        <p:txBody>
          <a:bodyPr wrap="square">
            <a:spAutoFit/>
          </a:bodyPr>
          <a:lstStyle/>
          <a:p>
            <a:pPr algn="ctr"/>
            <a:r>
              <a:rPr sz="7200" b="1" i="0">
                <a:solidFill>
                  <a:srgbClr val="FFFFFF"/>
                </a:solidFill>
              </a:rPr>
              <a:t>Questions?</a:t>
            </a:r>
          </a:p>
        </p:txBody>
      </p:sp>
      <p:sp>
        <p:nvSpPr>
          <p:cNvPr id="6" name="TextBox 5"/>
          <p:cNvSpPr txBox="1"/>
          <p:nvPr/>
        </p:nvSpPr>
        <p:spPr>
          <a:xfrm>
            <a:off x="914400" y="3200400"/>
            <a:ext cx="10360152" cy="640080"/>
          </a:xfrm>
          <a:prstGeom prst="rect">
            <a:avLst/>
          </a:prstGeom>
          <a:noFill/>
        </p:spPr>
        <p:txBody>
          <a:bodyPr wrap="square">
            <a:spAutoFit/>
          </a:bodyPr>
          <a:lstStyle/>
          <a:p>
            <a:pPr algn="ctr"/>
            <a:r>
              <a:rPr sz="2200" b="0" i="0">
                <a:solidFill>
                  <a:srgbClr val="9999AA"/>
                </a:solidFill>
              </a:rPr>
              <a:t>Thank you for your time.</a:t>
            </a:r>
          </a:p>
        </p:txBody>
      </p:sp>
      <p:sp>
        <p:nvSpPr>
          <p:cNvPr id="7" name="Rectangle 6"/>
          <p:cNvSpPr/>
          <p:nvPr/>
        </p:nvSpPr>
        <p:spPr>
          <a:xfrm>
            <a:off x="137160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4297680"/>
            <a:ext cx="2103120" cy="411480"/>
          </a:xfrm>
          <a:prstGeom prst="rect">
            <a:avLst/>
          </a:prstGeom>
          <a:noFill/>
        </p:spPr>
        <p:txBody>
          <a:bodyPr wrap="square">
            <a:spAutoFit/>
          </a:bodyPr>
          <a:lstStyle/>
          <a:p>
            <a:pPr algn="ctr"/>
            <a:r>
              <a:rPr sz="1300" b="1" i="0">
                <a:solidFill>
                  <a:srgbClr val="10B981"/>
                </a:solidFill>
              </a:rPr>
              <a:t>🌐 Product</a:t>
            </a:r>
          </a:p>
        </p:txBody>
      </p:sp>
      <p:sp>
        <p:nvSpPr>
          <p:cNvPr id="9" name="TextBox 8"/>
          <p:cNvSpPr txBox="1"/>
          <p:nvPr/>
        </p:nvSpPr>
        <p:spPr>
          <a:xfrm>
            <a:off x="1371600" y="4709160"/>
            <a:ext cx="2103120" cy="640080"/>
          </a:xfrm>
          <a:prstGeom prst="rect">
            <a:avLst/>
          </a:prstGeom>
          <a:noFill/>
        </p:spPr>
        <p:txBody>
          <a:bodyPr wrap="square">
            <a:spAutoFit/>
          </a:bodyPr>
          <a:lstStyle/>
          <a:p>
            <a:pPr algn="ctr"/>
            <a:r>
              <a:rPr sz="1100" b="0" i="0">
                <a:solidFill>
                  <a:srgbClr val="9999AA"/>
                </a:solidFill>
              </a:rPr>
              <a:t>app.vigilicloud.com</a:t>
            </a:r>
          </a:p>
        </p:txBody>
      </p:sp>
      <p:sp>
        <p:nvSpPr>
          <p:cNvPr id="10" name="Rectangle 9"/>
          <p:cNvSpPr/>
          <p:nvPr/>
        </p:nvSpPr>
        <p:spPr>
          <a:xfrm>
            <a:off x="3749039"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39" y="4297680"/>
            <a:ext cx="2103120" cy="411480"/>
          </a:xfrm>
          <a:prstGeom prst="rect">
            <a:avLst/>
          </a:prstGeom>
          <a:noFill/>
        </p:spPr>
        <p:txBody>
          <a:bodyPr wrap="square">
            <a:spAutoFit/>
          </a:bodyPr>
          <a:lstStyle/>
          <a:p>
            <a:pPr algn="ctr"/>
            <a:r>
              <a:rPr sz="1300" b="1" i="0">
                <a:solidFill>
                  <a:srgbClr val="10B981"/>
                </a:solidFill>
              </a:rPr>
              <a:t>⚙️ API</a:t>
            </a:r>
          </a:p>
        </p:txBody>
      </p:sp>
      <p:sp>
        <p:nvSpPr>
          <p:cNvPr id="12" name="TextBox 11"/>
          <p:cNvSpPr txBox="1"/>
          <p:nvPr/>
        </p:nvSpPr>
        <p:spPr>
          <a:xfrm>
            <a:off x="3749039" y="4709160"/>
            <a:ext cx="2103120" cy="640080"/>
          </a:xfrm>
          <a:prstGeom prst="rect">
            <a:avLst/>
          </a:prstGeom>
          <a:noFill/>
        </p:spPr>
        <p:txBody>
          <a:bodyPr wrap="square">
            <a:spAutoFit/>
          </a:bodyPr>
          <a:lstStyle/>
          <a:p>
            <a:pPr algn="ctr"/>
            <a:r>
              <a:rPr sz="1100" b="0" i="0">
                <a:solidFill>
                  <a:srgbClr val="9999AA"/>
                </a:solidFill>
              </a:rPr>
              <a:t>vigilicloud-api.onrender.com</a:t>
            </a:r>
          </a:p>
        </p:txBody>
      </p:sp>
      <p:sp>
        <p:nvSpPr>
          <p:cNvPr id="13" name="Rectangle 12"/>
          <p:cNvSpPr/>
          <p:nvPr/>
        </p:nvSpPr>
        <p:spPr>
          <a:xfrm>
            <a:off x="612648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4297680"/>
            <a:ext cx="2103120" cy="411480"/>
          </a:xfrm>
          <a:prstGeom prst="rect">
            <a:avLst/>
          </a:prstGeom>
          <a:noFill/>
        </p:spPr>
        <p:txBody>
          <a:bodyPr wrap="square">
            <a:spAutoFit/>
          </a:bodyPr>
          <a:lstStyle/>
          <a:p>
            <a:pPr algn="ctr"/>
            <a:r>
              <a:rPr sz="1300" b="1" i="0">
                <a:solidFill>
                  <a:srgbClr val="10B981"/>
                </a:solidFill>
              </a:rPr>
              <a:t>📧 Contact</a:t>
            </a:r>
          </a:p>
        </p:txBody>
      </p:sp>
      <p:sp>
        <p:nvSpPr>
          <p:cNvPr id="15" name="TextBox 14"/>
          <p:cNvSpPr txBox="1"/>
          <p:nvPr/>
        </p:nvSpPr>
        <p:spPr>
          <a:xfrm>
            <a:off x="6126480" y="4709160"/>
            <a:ext cx="2103120" cy="640080"/>
          </a:xfrm>
          <a:prstGeom prst="rect">
            <a:avLst/>
          </a:prstGeom>
          <a:noFill/>
        </p:spPr>
        <p:txBody>
          <a:bodyPr wrap="square">
            <a:spAutoFit/>
          </a:bodyPr>
          <a:lstStyle/>
          <a:p>
            <a:pPr algn="ctr"/>
            <a:r>
              <a:rPr sz="1100" b="0" i="0">
                <a:solidFill>
                  <a:srgbClr val="9999AA"/>
                </a:solidFill>
              </a:rPr>
              <a:t>leelakrishna1739@gmail.com</a:t>
            </a:r>
          </a:p>
        </p:txBody>
      </p:sp>
      <p:sp>
        <p:nvSpPr>
          <p:cNvPr id="16" name="Rectangle 15"/>
          <p:cNvSpPr/>
          <p:nvPr/>
        </p:nvSpPr>
        <p:spPr>
          <a:xfrm>
            <a:off x="8503920" y="4206240"/>
            <a:ext cx="2103120" cy="1280160"/>
          </a:xfrm>
          <a:prstGeom prst="rect">
            <a:avLst/>
          </a:prstGeom>
          <a:solidFill>
            <a:srgbClr val="10101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0" y="4297680"/>
            <a:ext cx="2103120" cy="411480"/>
          </a:xfrm>
          <a:prstGeom prst="rect">
            <a:avLst/>
          </a:prstGeom>
          <a:noFill/>
        </p:spPr>
        <p:txBody>
          <a:bodyPr wrap="square">
            <a:spAutoFit/>
          </a:bodyPr>
          <a:lstStyle/>
          <a:p>
            <a:pPr algn="ctr"/>
            <a:r>
              <a:rPr sz="1300" b="1" i="0">
                <a:solidFill>
                  <a:srgbClr val="10B981"/>
                </a:solidFill>
              </a:rPr>
              <a:t>🐙 Code</a:t>
            </a:r>
          </a:p>
        </p:txBody>
      </p:sp>
      <p:sp>
        <p:nvSpPr>
          <p:cNvPr id="18" name="TextBox 17"/>
          <p:cNvSpPr txBox="1"/>
          <p:nvPr/>
        </p:nvSpPr>
        <p:spPr>
          <a:xfrm>
            <a:off x="8503920" y="4709160"/>
            <a:ext cx="2103120" cy="640080"/>
          </a:xfrm>
          <a:prstGeom prst="rect">
            <a:avLst/>
          </a:prstGeom>
          <a:noFill/>
        </p:spPr>
        <p:txBody>
          <a:bodyPr wrap="square">
            <a:spAutoFit/>
          </a:bodyPr>
          <a:lstStyle/>
          <a:p>
            <a:pPr algn="ctr"/>
            <a:r>
              <a:rPr sz="1100" b="0" i="0">
                <a:solidFill>
                  <a:srgbClr val="9999AA"/>
                </a:solidFill>
              </a:rPr>
              <a:t>main branch · auto-deploy</a:t>
            </a:r>
          </a:p>
        </p:txBody>
      </p:sp>
      <p:sp>
        <p:nvSpPr>
          <p:cNvPr id="19" name="TextBox 18"/>
          <p:cNvSpPr txBox="1"/>
          <p:nvPr/>
        </p:nvSpPr>
        <p:spPr>
          <a:xfrm>
            <a:off x="914400" y="6172200"/>
            <a:ext cx="10360152" cy="365760"/>
          </a:xfrm>
          <a:prstGeom prst="rect">
            <a:avLst/>
          </a:prstGeom>
          <a:noFill/>
        </p:spPr>
        <p:txBody>
          <a:bodyPr wrap="square">
            <a:spAutoFit/>
          </a:bodyPr>
          <a:lstStyle/>
          <a:p>
            <a:pPr algn="ctr"/>
            <a:r>
              <a:rPr sz="1300" b="0" i="1">
                <a:solidFill>
                  <a:srgbClr val="9999AA"/>
                </a:solidFill>
              </a:rPr>
              <a:t>VigiliCloud — AWS Compliance, Made Simple.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6229</Words>
  <Application>Microsoft Office PowerPoint</Application>
  <PresentationFormat>Custom</PresentationFormat>
  <Paragraphs>667</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leela krishna</cp:lastModifiedBy>
  <cp:revision>2</cp:revision>
  <dcterms:created xsi:type="dcterms:W3CDTF">2013-01-27T09:14:16Z</dcterms:created>
  <dcterms:modified xsi:type="dcterms:W3CDTF">2026-06-16T18:58:17Z</dcterms:modified>
  <cp:category/>
</cp:coreProperties>
</file>