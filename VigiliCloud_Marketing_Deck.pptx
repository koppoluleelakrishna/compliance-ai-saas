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57200"/>
            <a:ext cx="9144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188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AWS Security Scanning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8686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E890"/>
                </a:solidFill>
              </a:rPr>
              <a:t>Growth &amp; Marketing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Market Opportunity  ·  Revenue Projections  ·  Roadmap  ·  Competitor Analysis  · 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2011680" cy="1371600"/>
          </a:xfrm>
          <a:prstGeom prst="rect">
            <a:avLst/>
          </a:prstGeom>
          <a:solidFill>
            <a:srgbClr val="1A3A7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</a:rPr>
              <a:t>$50B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Cloud Security
Market (2026)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5768" y="3108960"/>
            <a:ext cx="2011680" cy="1371600"/>
          </a:xfrm>
          <a:prstGeom prst="rect">
            <a:avLst/>
          </a:prstGeom>
          <a:solidFill>
            <a:srgbClr val="1A3A7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320040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</a:rPr>
              <a:t>$99/mo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Starting
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3108960"/>
            <a:ext cx="2011680" cy="1371600"/>
          </a:xfrm>
          <a:prstGeom prst="rect">
            <a:avLst/>
          </a:prstGeom>
          <a:solidFill>
            <a:srgbClr val="1A3A7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0055" y="320040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</a:rPr>
              <a:t>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5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Full AWS
Scan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1464" y="3108960"/>
            <a:ext cx="2011680" cy="1371600"/>
          </a:xfrm>
          <a:prstGeom prst="rect">
            <a:avLst/>
          </a:prstGeom>
          <a:solidFill>
            <a:srgbClr val="1A3A7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2903" y="320040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3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BFF"/>
                </a:solidFill>
              </a:rPr>
              <a:t>Stored
Credentials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Confidential  ·  Leela Krishna Koppolu  ·  leelakrishnakoppolu@gmail.com  ·  vigilicloud.com  · 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A massive and growing market — with a massive underserved segment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2926080"/>
          </a:xfrm>
          <a:prstGeom prst="rect">
            <a:avLst/>
          </a:prstGeom>
          <a:solidFill>
            <a:srgbClr val="EFF6FF"/>
          </a:solidFill>
          <a:ln w="2540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914400" cy="45720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276D"/>
                </a:solidFill>
              </a:rPr>
              <a:t>$50B+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Total cloud security market globally
(2026, growing 15% YoY)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703320" cy="292608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D4ED8"/>
                </a:solidFill>
              </a:rPr>
              <a:t>$8B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44368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SMB &amp; mid-market AWS security —
our addressable segment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417320"/>
            <a:ext cx="3703320" cy="292608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199" y="1600200"/>
            <a:ext cx="914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199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2148840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</a:rPr>
              <a:t>$50M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2944368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Realistic 5-year revenue target
with current GTM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11365992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Why Now — Perfect Market Timing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93792"/>
            <a:ext cx="1371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AWS adoption accelerating — 60% of SMBs moved to cloud post-2020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193792"/>
            <a:ext cx="1371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1023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SOC2 / ISO27001 now mandatory for most B2B SaaS deals — compliance pressure is at all-time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32704"/>
            <a:ext cx="1371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412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AI-powered tools (like Claude) make sophisticated analysis accessible to non-security teams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5632704"/>
            <a:ext cx="1371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5412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No SMB-focused AWS scanner exists at our price point — the market gap is wide 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Predictable SaaS revenue — subscription-based with clear upsell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2286000"/>
          </a:xfrm>
          <a:prstGeom prst="rect">
            <a:avLst/>
          </a:prstGeom>
          <a:solidFill>
            <a:srgbClr val="EFF6FF"/>
          </a:solidFill>
          <a:ln w="190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54864" cy="196596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Subscription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154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Monthly/annual SaaS subscriptions across 3 tiers. Primary revenue driver. Low churn due to compliance workflow lock-in.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10128"/>
            <a:ext cx="3154680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85% of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703320" cy="228600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72768"/>
            <a:ext cx="54864" cy="1965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6002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Upsell — Pro/MSP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11680"/>
            <a:ext cx="3154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Consultants and agencies naturally upgrade as they add client accounts. MSP plan has 10x ARPU vs Starter.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310128"/>
            <a:ext cx="315468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328416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30% upgrade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417320"/>
            <a:ext cx="3703320" cy="2286000"/>
          </a:xfrm>
          <a:prstGeom prst="rect">
            <a:avLst/>
          </a:prstGeom>
          <a:solidFill>
            <a:srgbClr val="FFFD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199" y="1572768"/>
            <a:ext cx="54864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6002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Annual Discount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011680"/>
            <a:ext cx="3154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20% discount for annual billing. Improves cash flow and reduces monthly churn. High-value customers prefer annual.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3310128"/>
            <a:ext cx="31546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328416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20%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91363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276D"/>
                </a:solidFill>
              </a:rPr>
              <a:t>Pricing Tiers &amp; Target ARPU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315968"/>
            <a:ext cx="1591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407407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Starter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315968"/>
            <a:ext cx="1408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4407407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$99/mo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4315968"/>
            <a:ext cx="14538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4407407"/>
            <a:ext cx="1344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₹8,299/mo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4315968"/>
            <a:ext cx="2551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9512" y="4407407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Consultants, 1–3 accounts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4315968"/>
            <a:ext cx="21854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4407407"/>
            <a:ext cx="2075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~40% of customers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315968"/>
            <a:ext cx="54864" cy="4754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846320"/>
            <a:ext cx="159105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4937759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Pro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4846320"/>
            <a:ext cx="140817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76272" y="4937759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$299/mo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846320"/>
            <a:ext cx="1453895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85032" y="4937759"/>
            <a:ext cx="1344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₹24,999/mo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4846320"/>
            <a:ext cx="255117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4937759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Teams, 3–10 accounts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4846320"/>
            <a:ext cx="2185416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91272" y="4937759"/>
            <a:ext cx="2075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~45% of customers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846320"/>
            <a:ext cx="54864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376672"/>
            <a:ext cx="1591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546811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MSP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5376672"/>
            <a:ext cx="1408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76272" y="546811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$999/mo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5376672"/>
            <a:ext cx="1453895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85032" y="5468112"/>
            <a:ext cx="1344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₹83,499/mo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66360" y="5376672"/>
            <a:ext cx="255117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9512" y="5468112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Agencies, 10+ accounts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376672"/>
            <a:ext cx="21854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91272" y="5468112"/>
            <a:ext cx="2075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~15% of customers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376672"/>
            <a:ext cx="54864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Revenue Projections — 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Month-by-month MRR forecast: conservative growth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89611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392" y="4556234"/>
            <a:ext cx="691896" cy="61485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139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8152" y="4453758"/>
            <a:ext cx="691896" cy="163961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815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4310292"/>
            <a:ext cx="691896" cy="307427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1672" y="4105340"/>
            <a:ext cx="691896" cy="5123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67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8432" y="3838903"/>
            <a:ext cx="691896" cy="7788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8432" y="3582871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843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5192" y="3490485"/>
            <a:ext cx="691896" cy="112723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3234453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1952" y="3142067"/>
            <a:ext cx="691896" cy="14756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1952" y="2886035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$10K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195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8712" y="2773154"/>
            <a:ext cx="691896" cy="184456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8712" y="2517122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$13K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871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5472" y="2404241"/>
            <a:ext cx="691896" cy="221347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2148209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$16K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2232" y="2055823"/>
            <a:ext cx="691896" cy="2561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2232" y="1799791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$18K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223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98992" y="1645919"/>
            <a:ext cx="691896" cy="2971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8992" y="138988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276D"/>
                </a:solidFill>
              </a:rPr>
              <a:t>$21K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992" y="4636007"/>
            <a:ext cx="691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4897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$0K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17720"/>
            <a:ext cx="8869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5752" y="38065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$5K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34547"/>
            <a:ext cx="8869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5752" y="312335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$10K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51375"/>
            <a:ext cx="8869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5752" y="244018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$15K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568202"/>
            <a:ext cx="8869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5752" y="175701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$20K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1885030"/>
            <a:ext cx="8869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9377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Monthly Recurring Revenue (MRR) — USD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1417320"/>
            <a:ext cx="2404872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1536192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76D"/>
                </a:solidFill>
              </a:rPr>
              <a:t>Year 1 Summary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1920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End-MRR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$21.7K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2304288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24871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End-ARR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6768" y="24871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$261K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2871216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305409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Customers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16768" y="3054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145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3438144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Avg ARPU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16768" y="36210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$150/mo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4005072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4187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Churn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6768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&lt;5%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4572000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47548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Trial→Paid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16768" y="4754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F276D"/>
                </a:solidFill>
              </a:rPr>
              <a:t>35%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92640" y="5138928"/>
            <a:ext cx="2130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528523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6D"/>
                </a:solidFill>
              </a:rPr>
              <a:t>3-Year Growth Outlook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669280"/>
            <a:ext cx="37033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669280"/>
            <a:ext cx="37033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760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Year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28800" y="5760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145 customers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54680" y="5760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4A3B8"/>
                </a:solidFill>
              </a:rPr>
              <a:t>$261K ARR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43400" y="5669280"/>
            <a:ext cx="37033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43400" y="5669280"/>
            <a:ext cx="370332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0" y="5760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Year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5760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500 customers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86600" y="5760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D4ED8"/>
                </a:solidFill>
              </a:rPr>
              <a:t>$1.2M ARR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19" y="5669280"/>
            <a:ext cx="37033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75319" y="5669280"/>
            <a:ext cx="37033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5760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Year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5760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1,500 customers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18519" y="5760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</a:rPr>
              <a:t>$5.4M ARR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Multi-channel approach focused on high-intent AWS professionals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703320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PRIMARY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830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LinkedIn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2199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Direct outreach to AWS consultants, CTOs, and DevOps leads.
Personalized connection messages referencing their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3337560"/>
            <a:ext cx="3383280" cy="256032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1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High intent, direct decision-makers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703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6304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PRIMARY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7830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Content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2199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LinkedIn posts, YouTube tutorials about AWS security.
'Top 5 AWS misconfigs' type content drives organic traffic.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3337560"/>
            <a:ext cx="338328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364991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Builds authority, drives inbound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41732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1417320"/>
            <a:ext cx="370332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46304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LAUNCH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17830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ProductHunt / HN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22199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Coordinated launches on ProductHunt and Hacker News.
Community validation and early adopter acquisition.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1" y="3337560"/>
            <a:ext cx="338328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3364991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1,000+ signups in launch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88620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886200"/>
            <a:ext cx="370332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3192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GROWTH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4251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SEO / Blog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469087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Rank for 'AWS security scanner', 'CIS benchmark check'.
Technical blog posts attract high-intent searchers.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5806440"/>
            <a:ext cx="338328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3387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Compounding, low CAC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8620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3886200"/>
            <a:ext cx="370332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93192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GROWTH 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4251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Consultant Referrals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469087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AWS consultants refer client accounts, expand naturally.
Referral incentive: 1 free month per paid referral.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7992" y="5806440"/>
            <a:ext cx="338328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83387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Built-in network effect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388620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19" y="3886200"/>
            <a:ext cx="370332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93192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SCALE CHANNEL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9911" y="4251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</a:rPr>
              <a:t>Cold Email Campaigns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1" y="469087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Targeted outreach to CTOs of funded startups needing SOC2.
Personalized, data-driven subject lines.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9911" y="5806440"/>
            <a:ext cx="33832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19" y="583387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High conversion on SOC2 angle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Target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4 distinct, high-value customer profiles with clear pain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14416" cy="237744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614416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81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AWS Consultants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554480"/>
            <a:ext cx="114300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8191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$299–$999/mo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116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Pain: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5–20 client accounts to manage.
Manual security reviews take 2 days 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5146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Value: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514600"/>
            <a:ext cx="4626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VigiliCloud cuts review to 2 minutes.
Deliver polished reports to every client.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340096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2095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hook: Scalability — more clients, same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1417320"/>
            <a:ext cx="5614416" cy="2377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1417320"/>
            <a:ext cx="5614416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581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Startup CTOs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97896" y="1554480"/>
            <a:ext cx="114300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97896" y="158191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$99–$299/mo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0116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Pain: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0116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Accumulated 2–3 years of AWS config.
Need SOC2 for their next enterprise deal.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5146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Value: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514600"/>
            <a:ext cx="4626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Find and fix issues before the auditor.
One-click compliance evidence export.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3108960"/>
            <a:ext cx="5340096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2095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hook: Compliance — close enterprise deals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77639"/>
            <a:ext cx="5614416" cy="237744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977639"/>
            <a:ext cx="5614416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1422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DevOps Teams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4114800"/>
            <a:ext cx="114300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4142231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$299/mo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45720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Pain: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7200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Internal AWS, no dedicated security team.
Security Hub is complex to configure.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074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Value: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074920"/>
            <a:ext cx="4626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Scheduled daily scans, AI summaries.
Fixes in minutes, not weeks.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69279"/>
            <a:ext cx="5340096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76986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hook: Efficiency — security without overhead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0216" y="3977639"/>
            <a:ext cx="5614416" cy="23774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0216" y="3977639"/>
            <a:ext cx="56144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1422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MSPs &amp; Agencies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97896" y="4114800"/>
            <a:ext cx="11430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97896" y="4142231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$999/mo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5720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Pain: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86016" y="457200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Manage cloud infra for 10+ clients.
Manual security doesn't scale.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5074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Value: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4888" y="5074920"/>
            <a:ext cx="4626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One platform, all clients.
White-label ready reports for resale.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5669279"/>
            <a:ext cx="5340096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576986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 hook: Scale — offer security as a service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Competitor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VigiliCloud occupies a unique, underserved position in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6D"/>
                </a:solidFill>
              </a:rPr>
              <a:t>Market Positioning Map (Price vs. Ease of Use)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55648"/>
            <a:ext cx="71323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8496" y="1755648"/>
            <a:ext cx="18288" cy="4754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123944"/>
            <a:ext cx="7132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959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Low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9959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High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18470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Easy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217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Complex / Expert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762" y="3230880"/>
            <a:ext cx="219456" cy="2194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4970" y="2956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A580C"/>
                </a:solidFill>
              </a:rPr>
              <a:t>Lacework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0992" y="3759199"/>
            <a:ext cx="219456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484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C2626"/>
                </a:solidFill>
              </a:rPr>
              <a:t>Wiz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9300" y="3547872"/>
            <a:ext cx="219456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7508" y="32735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C3AED"/>
                </a:solidFill>
              </a:rPr>
              <a:t>Orca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3682" y="5027168"/>
            <a:ext cx="219456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1890" y="47528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D97706"/>
                </a:solidFill>
              </a:rPr>
              <a:t>AWS Sec 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522" y="5661152"/>
            <a:ext cx="219456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729" y="53868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</a:rPr>
              <a:t>Prowler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344160"/>
            <a:ext cx="219456" cy="21945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" y="5069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Manual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2206752"/>
            <a:ext cx="365760" cy="365760"/>
          </a:xfrm>
          <a:prstGeom prst="rect">
            <a:avLst/>
          </a:prstGeom>
          <a:solidFill>
            <a:srgbClr val="059669"/>
          </a:solidFill>
          <a:ln w="190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" y="19324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</a:rPr>
              <a:t>VigiliCloud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1389888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6D"/>
                </a:solidFill>
              </a:rPr>
              <a:t>Head-to-Head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1783080"/>
            <a:ext cx="1060704" cy="475488"/>
          </a:xfrm>
          <a:prstGeom prst="rect">
            <a:avLst/>
          </a:prstGeom>
          <a:solidFill>
            <a:srgbClr val="0F276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1544" y="1874519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783080"/>
            <a:ext cx="877824" cy="475488"/>
          </a:xfrm>
          <a:prstGeom prst="rect">
            <a:avLst/>
          </a:prstGeom>
          <a:solidFill>
            <a:srgbClr val="0F276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4544" y="1874519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1783080"/>
            <a:ext cx="649224" cy="475488"/>
          </a:xfrm>
          <a:prstGeom prst="rect">
            <a:avLst/>
          </a:prstGeom>
          <a:solidFill>
            <a:srgbClr val="0F276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1874519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61320" y="1783080"/>
            <a:ext cx="512063" cy="475488"/>
          </a:xfrm>
          <a:prstGeom prst="rect">
            <a:avLst/>
          </a:prstGeom>
          <a:solidFill>
            <a:srgbClr val="0F276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16184" y="1874519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55680" y="1783080"/>
            <a:ext cx="786384" cy="475488"/>
          </a:xfrm>
          <a:prstGeom prst="rect">
            <a:avLst/>
          </a:prstGeom>
          <a:solidFill>
            <a:srgbClr val="0F276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10544" y="1874519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SMB?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2313432"/>
            <a:ext cx="10607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1544" y="2404872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76D"/>
                </a:solidFill>
              </a:rPr>
              <a:t>Wiz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2313432"/>
            <a:ext cx="8778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4544" y="2404872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$50K+/yr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2313432"/>
            <a:ext cx="6492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84664" y="2404872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Weeks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20" y="2313432"/>
            <a:ext cx="512063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16184" y="2404872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55680" y="2313432"/>
            <a:ext cx="7863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10544" y="2404872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2843784"/>
            <a:ext cx="106070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2935224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76D"/>
                </a:solidFill>
              </a:rPr>
              <a:t>Lacework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843784"/>
            <a:ext cx="87782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24544" y="2935224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$30K+/yr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2843784"/>
            <a:ext cx="64922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4664" y="2935224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Days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61320" y="2843784"/>
            <a:ext cx="512063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16184" y="2935224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Some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80" y="2843784"/>
            <a:ext cx="78638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10544" y="2935224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26679" y="3374135"/>
            <a:ext cx="10607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81544" y="3465575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76D"/>
                </a:solidFill>
              </a:rPr>
              <a:t>Orca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3374135"/>
            <a:ext cx="8778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24544" y="3465575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$20K+/yr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3374135"/>
            <a:ext cx="6492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84664" y="3465575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Days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61320" y="3374135"/>
            <a:ext cx="512063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16184" y="3465575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Some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55680" y="3374135"/>
            <a:ext cx="7863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10544" y="3465575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26679" y="3904487"/>
            <a:ext cx="106070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81544" y="3995927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76D"/>
                </a:solidFill>
              </a:rPr>
              <a:t>AWS Sec Hub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9680" y="3904487"/>
            <a:ext cx="87782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24544" y="3995927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Variable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29800" y="3904487"/>
            <a:ext cx="64922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84664" y="3995927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Hours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61320" y="3904487"/>
            <a:ext cx="512063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16184" y="3995927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155680" y="3904487"/>
            <a:ext cx="786384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10544" y="3995927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Partial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26679" y="4434840"/>
            <a:ext cx="106070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81544" y="4526279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76D"/>
                </a:solidFill>
              </a:rPr>
              <a:t>Prowler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69680" y="4434840"/>
            <a:ext cx="8778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24544" y="4526279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Free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29800" y="4434840"/>
            <a:ext cx="6492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84664" y="4526279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Dev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561320" y="4434840"/>
            <a:ext cx="512063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16184" y="4526279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80" y="4434840"/>
            <a:ext cx="78638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10544" y="4526279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Dev-only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26679" y="4965192"/>
            <a:ext cx="1060704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81544" y="5056631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VigiliCloud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69680" y="4965192"/>
            <a:ext cx="877824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24544" y="5056631"/>
            <a:ext cx="786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$99/mo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29800" y="4965192"/>
            <a:ext cx="649224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884664" y="5056631"/>
            <a:ext cx="557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5 min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61320" y="4965192"/>
            <a:ext cx="512063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16184" y="5056631"/>
            <a:ext cx="4206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155680" y="4965192"/>
            <a:ext cx="786384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10544" y="5056631"/>
            <a:ext cx="694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</a:rPr>
              <a:t>Yes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Clear path from SMB AWS scanner to multi-cloud security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29968"/>
            <a:ext cx="11365992" cy="54864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1639" y="1920240"/>
            <a:ext cx="219456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Q2 2026
(Now)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40280"/>
            <a:ext cx="27889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40280"/>
            <a:ext cx="27889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45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Multi-account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6440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64408"/>
            <a:ext cx="45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472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Scheduled daily scans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33087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33087"/>
            <a:ext cx="45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Razorpay billing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0176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01768"/>
            <a:ext cx="45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84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Email alerts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20240"/>
            <a:ext cx="219456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14173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Q3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240280"/>
            <a:ext cx="27889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240280"/>
            <a:ext cx="278892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239572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2395728"/>
            <a:ext cx="4572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Slack / Teams alerts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26440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264408"/>
            <a:ext cx="4572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4472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API access for devs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4133087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133087"/>
            <a:ext cx="4572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Custom scan policies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500176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9000" y="5001768"/>
            <a:ext cx="4572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5184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Bulk account import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1920240"/>
            <a:ext cx="219456" cy="2194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14173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Q4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240280"/>
            <a:ext cx="27889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2240280"/>
            <a:ext cx="278892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239572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95728"/>
            <a:ext cx="457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Azure &amp; GCP support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26440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3264408"/>
            <a:ext cx="457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4472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GitHub Actions CI/CD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133087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133087"/>
            <a:ext cx="457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HIPAA / PCI checks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00176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5001768"/>
            <a:ext cx="457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5184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White-label MSP mode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1920240"/>
            <a:ext cx="219456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14173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2027+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52560" y="2240280"/>
            <a:ext cx="27889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52560" y="2240280"/>
            <a:ext cx="27889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89720" y="239572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89720" y="2395728"/>
            <a:ext cx="457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 auto-remediation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326440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89720" y="3264408"/>
            <a:ext cx="457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34472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IaC scanning (Terraform)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4133087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89720" y="4133087"/>
            <a:ext cx="457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43159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SOC2 Type II evidence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5001768"/>
            <a:ext cx="25146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89720" y="5001768"/>
            <a:ext cx="457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518464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Enterprise SIEM export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</a:rPr>
              <a:t>Roadmap is directional — priorities adjusted based on customer feedback and market response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Traction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What's been built and what's already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Product — Live &amp; Operational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8366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0195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708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Full-stack SaaS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2140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Next.js UI + FastAPI backend on Render, live at app.vigilicloud.com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3230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505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39572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10 security checks 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67004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S3, IAM, EC2, RDS, VPC, KMS, EBS, MFA, CloudTrail, VPC Flow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992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94436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AI analysis integrated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218687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Claude AI generates plain-English executive summaries per scan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958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478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930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IAM role-based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6732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Read-only STS-based AWS access, zero credential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7822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96511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4164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Scan results &amp; exports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31596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CSV/JSON finding exports, severity filtering, per-resource findings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502920" cy="347472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</a:rPr>
              <a:t>SOON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Razorpay billing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86460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Payment system integrated, INR + USD pricing, subscription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175504"/>
            <a:ext cx="50292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1937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13892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Email alert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41324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CRITICAL finding notifications via Resend email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389888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Business Milestones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810512"/>
            <a:ext cx="5650992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810512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73952" y="1920240"/>
            <a:ext cx="804672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192938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1775" y="184708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Product launched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1775" y="2084831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app.vigilicloud.com is 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414016"/>
            <a:ext cx="5650992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414016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73952" y="2523744"/>
            <a:ext cx="804672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253288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1775" y="245059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Training deck created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5" y="26883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Client pitch + product training complete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017520"/>
            <a:ext cx="5650992" cy="50292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017520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73952" y="3127248"/>
            <a:ext cx="804672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3136391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IN PROG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51775" y="30540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Razorpay verified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1775" y="329183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Payment processing ready to activate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621024"/>
            <a:ext cx="5650992" cy="50292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3621024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73952" y="3730752"/>
            <a:ext cx="804672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373989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IN PROG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51775" y="36576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Domain email setup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51775" y="38953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vigilicloud.com transactional email pending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224528"/>
            <a:ext cx="5650992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4224528"/>
            <a:ext cx="54864" cy="5029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73952" y="4334256"/>
            <a:ext cx="804672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3952" y="434340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51775" y="426110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LinkedIn campaign start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51775" y="44988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Outreach to AWS consultants planned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4828032"/>
            <a:ext cx="5650992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4828032"/>
            <a:ext cx="54864" cy="5029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3952" y="4937760"/>
            <a:ext cx="804672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3952" y="494690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5" y="486460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ProductHunt launch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51775" y="5102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Coordinated launch scheduled for Q2 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5431536"/>
            <a:ext cx="5650992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0" y="5431536"/>
            <a:ext cx="54864" cy="5029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73952" y="5541264"/>
            <a:ext cx="804672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73952" y="5550407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51775" y="54681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First 10 paying clients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51775" y="570585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Target: end of Q2 2026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6035040"/>
            <a:ext cx="5650992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6035040"/>
            <a:ext cx="54864" cy="5029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73952" y="6144768"/>
            <a:ext cx="804672" cy="2743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73952" y="615391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51775" y="60716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$1K MRR milestone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51775" y="630935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Target: Month 5 of active GTM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Marketing Targets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Clear, measurable goals for the next 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Growth Funnel — 12-Month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10512"/>
            <a:ext cx="7315200" cy="5669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Website Visitors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190195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5,000/mo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751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via SEO +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15184"/>
            <a:ext cx="6035040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7066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Trial Signups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70662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500/mo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779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10% of visitors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39" y="3419856"/>
            <a:ext cx="47548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35112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Activated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51129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175/mo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35% of signups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224528"/>
            <a:ext cx="347472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43159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Paying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3159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52/mo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30% of activated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029200"/>
            <a:ext cx="2194560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5120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MRR (Month 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1206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$21,750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193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145 customers avg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389888"/>
            <a:ext cx="4187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Quarterly OKRs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1810512"/>
            <a:ext cx="41879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810512"/>
            <a:ext cx="4187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193852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Q2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2267712"/>
            <a:ext cx="12801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240280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Launch publicly on ProductHunt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569464"/>
            <a:ext cx="12801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2542032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First 10 paying customers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871216"/>
            <a:ext cx="12801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2843784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Reach $1K MRR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346704"/>
            <a:ext cx="41879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3346704"/>
            <a:ext cx="4187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4747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Q3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803904"/>
            <a:ext cx="128016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02168" y="3776472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50 paying customers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105656"/>
            <a:ext cx="128016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2168" y="4078224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Reach $7K MRR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4407408"/>
            <a:ext cx="128016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2168" y="4379976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Launch Slack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882896"/>
            <a:ext cx="418795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4882896"/>
            <a:ext cx="4187952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501091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Q4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5340096"/>
            <a:ext cx="128016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8" y="5312664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100 customers, $15K MRR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1000" y="5641848"/>
            <a:ext cx="128016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2168" y="5614416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Launch Azure support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5943600"/>
            <a:ext cx="128016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2168" y="5916168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First MSP partner signed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Industry Revenue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Where VigiliCloud fits in the cloud security revenue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81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</a:rPr>
              <a:t>Wiz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84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920240"/>
            <a:ext cx="1298448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4767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$500M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Cloud-native security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81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Lacework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84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1298448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4767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$150M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Behavioral security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41732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1581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Orca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1984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1920240"/>
            <a:ext cx="129844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194767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$100M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Cloud risk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4048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005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Snyk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4074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343400"/>
            <a:ext cx="1298448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43708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$300M ARR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Developer security platform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048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005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</a:rPr>
              <a:t>Prowler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4074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343400"/>
            <a:ext cx="1298448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3708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CLI-based AWS audit tool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840480"/>
            <a:ext cx="3703320" cy="219456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3840480"/>
            <a:ext cx="37033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9911" y="4005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VigiliCloud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44074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Founded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343400"/>
            <a:ext cx="1298448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4370832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1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SMB AWS security scanning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1" y="5212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YOUR OPPORTUNITY: The SMB gap that none of these players fill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Product Vision — Where We're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E890"/>
                </a:solidFill>
              </a:rPr>
              <a:t>From AWS scanner to the #1 cloud security platform for SMBs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475488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" y="1572768"/>
            <a:ext cx="241401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9105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5681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Phase 1
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0545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</a:rPr>
              <a:t>AWS Security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2103120" cy="27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3273552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182112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10 CIS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3895344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03904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AI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" y="4517136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425696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Compliance exports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5138927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04748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Fix guidance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1417320"/>
            <a:ext cx="2743200" cy="47548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1572768"/>
            <a:ext cx="2414016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59105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95681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Phase 2
Q3–Q4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50545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</a:rPr>
              <a:t>Multi-Cloud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75888" y="3063240"/>
            <a:ext cx="2103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80" y="3273552"/>
            <a:ext cx="201168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22776" y="3182112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Azure + GCP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3895344"/>
            <a:ext cx="201168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22776" y="3803904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Slack/Teams alerts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4517136"/>
            <a:ext cx="201168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2776" y="4425696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CI/CD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5138927"/>
            <a:ext cx="201168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2776" y="504748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API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1417320"/>
            <a:ext cx="2743200" cy="47548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64808" y="1572768"/>
            <a:ext cx="2414016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159105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195681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Phase 3
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250545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</a:rPr>
              <a:t>AI Remediation Engine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0256" y="3063240"/>
            <a:ext cx="210312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56248" y="3273552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3182112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Auto-fix suggestions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56248" y="3895344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7144" y="3803904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IaC scanning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56248" y="4517136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7144" y="4425696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HIPAA/PCI modules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6248" y="5138927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67144" y="504748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SOC2 evidence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44584" y="1417320"/>
            <a:ext cx="2743200" cy="475488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09176" y="1572768"/>
            <a:ext cx="2414016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9176" y="159105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9176" y="195681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Phase 4
2027+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9176" y="2505456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72A"/>
                </a:solidFill>
              </a:rPr>
              <a:t>Enterprise 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64624" y="3063240"/>
            <a:ext cx="210312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00615" y="327355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11511" y="3182112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White-label MSP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0615" y="3895344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1511" y="3803904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Custom frameworks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0615" y="4517136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11511" y="4425696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SIEM integration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0615" y="5138927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11511" y="504748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24/7 monitoring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91256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5624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9992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336792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475569"/>
                </a:solidFill>
              </a:rPr>
              <a:t>Each phase expands the moat — switching costs grow as customers integrate deeper compliance workflows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VigiliCloud is solving a real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in a massive market — with a product that's live and working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27632"/>
            <a:ext cx="4873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3429000" cy="2286000"/>
          </a:xfrm>
          <a:prstGeom prst="rect">
            <a:avLst/>
          </a:prstGeom>
          <a:solidFill>
            <a:srgbClr val="1A3A7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34290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Try It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app.vigilicloud.com
2-week trial, no credit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306324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For potential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429000" cy="2286000"/>
          </a:xfrm>
          <a:prstGeom prst="rect">
            <a:avLst/>
          </a:prstGeom>
          <a:solidFill>
            <a:srgbClr val="1A3A7A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74519"/>
            <a:ext cx="342900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Partner With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87168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MSP &amp; referral partnerships
leelakrishnakoppolu@gmail.com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749039"/>
            <a:ext cx="30632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67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For agencies &amp; consultants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874519"/>
            <a:ext cx="3429000" cy="2286000"/>
          </a:xfrm>
          <a:prstGeom prst="rect">
            <a:avLst/>
          </a:prstGeom>
          <a:solidFill>
            <a:srgbClr val="1A3A7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874519"/>
            <a:ext cx="3429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0116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Give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487168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Book a 20-min call
calendly.com/leelakrishnakoppolu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3749039"/>
            <a:ext cx="30632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767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For advisors &amp; investors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0848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$50B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Market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4572000"/>
            <a:ext cx="20848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78%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0749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Accounts with CRITICAL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4572000"/>
            <a:ext cx="20848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$99/mo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50749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Starting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4572000"/>
            <a:ext cx="20848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2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50749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Full AWS 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4572000"/>
            <a:ext cx="20848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507492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Stored Credentials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468112"/>
            <a:ext cx="11365992" cy="36576"/>
          </a:xfrm>
          <a:prstGeom prst="rect">
            <a:avLst/>
          </a:prstGeom>
          <a:solidFill>
            <a:srgbClr val="2A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596128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Leela Krishna Koppolu  ·  leelakrishnakoppolu@gmail.com  ·  app.vigilicloud.com  · 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16752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VigiliCloud — AWS Security for Every Business. Not Just Enterprise.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