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10" autoAdjust="0"/>
  </p:normalViewPr>
  <p:slideViewPr>
    <p:cSldViewPr snapToGrid="0" snapToObjects="1">
      <p:cViewPr varScale="1">
        <p:scale>
          <a:sx n="104" d="100"/>
          <a:sy n="104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95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 — OPENING (2 min)</a:t>
            </a:r>
          </a:p>
          <a:p>
            <a:endParaRPr/>
          </a:p>
          <a:p>
            <a:r>
              <a:t>VigiliCloud: AWS + GitHub compliance scanning with AI-powered analysis, 1-click auto-remediation, and continuous SOC2 Type II evidence collection.</a:t>
            </a:r>
          </a:p>
          <a:p>
            <a:endParaRPr/>
          </a:p>
          <a:p>
            <a:r>
              <a:t>Open with the pain: "Drata costs $1,250/month and requires a sales call. AWS Security Hub takes weeks to set up and gives you zero fix guidance. We replace both — in 5 minutes, at a fraction of the cost, with AI summaries and 1-click fixes built in."</a:t>
            </a:r>
          </a:p>
          <a:p>
            <a:endParaRPr/>
          </a:p>
          <a:p>
            <a:r>
              <a:t>Key numbers to lead with: 19 security checks, 4 compliance frameworks (SOC2, ISO 27001, PCI DSS, NIST), 2-minute scan, A-to-F risk grade — all live on a real AWS + GitHub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— THE PROBLEM (2 min)</a:t>
            </a:r>
          </a:p>
          <a:p>
            <a:endParaRPr/>
          </a:p>
          <a:p>
            <a:r>
              <a:t>The five brutal realities for any SMB doing AWS compliance:</a:t>
            </a:r>
          </a:p>
          <a:p>
            <a:endParaRPr/>
          </a:p>
          <a:p>
            <a:r>
              <a:t>1. TIME: Manual audit = 2-3 senior engineer days.</a:t>
            </a:r>
          </a:p>
          <a:p>
            <a:r>
              <a:t>2. COST: Drata starts at $1,250/month. Vanta $800/month. Wiz $15k+/year. All require a sales call.</a:t>
            </a:r>
          </a:p>
          <a:p>
            <a:r>
              <a:t>3. STALENESS: Point-in-time reports are outdated the moment they're sent. SOC2 Type II requires 6-12 months of continuous evidence — no PDF covers that.</a:t>
            </a:r>
          </a:p>
          <a:p>
            <a:r>
              <a:t>4. NO FIX GUIDANCE: Tools list problems but don't give you the CLI command or Terraform block to fix them.</a:t>
            </a:r>
          </a:p>
          <a:p>
            <a:r>
              <a:t>5. ENTERPRISE-ONLY: Good tools (Lacework, Orca, Wiz) are $50k+/year for security teams of 50+. A 10-person startup is completely underserved.</a:t>
            </a:r>
          </a:p>
          <a:p>
            <a:endParaRPr/>
          </a:p>
          <a:p>
            <a:r>
              <a:t>This is the gap VigiliCloud fills.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3 — WHAT IS VIGICLOUD (2 min)</a:t>
            </a:r>
          </a:p>
          <a:p>
            <a:endParaRPr/>
          </a:p>
          <a:p>
            <a:r>
              <a:t>VigiliCloud is the compliance tool that Drata/Vanta users wish existed — at 1/10th the price with 1-click fixes built in.</a:t>
            </a:r>
          </a:p>
          <a:p>
            <a:endParaRPr/>
          </a:p>
          <a:p>
            <a:r>
              <a:t>The key differentiators vs every competitor:</a:t>
            </a:r>
          </a:p>
          <a:p>
            <a:r>
              <a:t>1. Framework mapping: SOC2, ISO 27001, PCI DSS, NIST — every finding maps to specific controls. 22% SOC2 / 42% ISO 27001 — real compliance percentages, not a findings count.</a:t>
            </a:r>
          </a:p>
          <a:p>
            <a:r>
              <a:t>2. GitHub + AWS in one scan: Checks org 2FA, branch protection, PR review requirements — the exact controls auditors ask about for SOC2 CC6.</a:t>
            </a:r>
          </a:p>
          <a:p>
            <a:r>
              <a:t>3. Auto-remediation: S3 public access? EBS encryption? 1 button, live fix in your AWS account, with a confirm step.</a:t>
            </a:r>
          </a:p>
          <a:p>
            <a:r>
              <a:t>4. SOC2 Type II evidence: Every scan stores timestamped evidence snapshots. Run daily → build 365 days of evidence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— HOW IT WORKS (2 min)</a:t>
            </a:r>
          </a:p>
          <a:p>
            <a:endParaRPr/>
          </a:p>
          <a:p>
            <a:r>
              <a:t>Step 1: Connect. IAM Role ARN (CloudFormation 1-click) + optional GitHub personal access token with read:org + repo scope. Both stored encrypted (Fernet AES).</a:t>
            </a:r>
          </a:p>
          <a:p>
            <a:endParaRPr/>
          </a:p>
          <a:p>
            <a:r>
              <a:t>Step 2: Run Scan. UI button, REST API, or auto-scheduled (daily/weekly via APScheduler).</a:t>
            </a:r>
          </a:p>
          <a:p>
            <a:endParaRPr/>
          </a:p>
          <a:p>
            <a:r>
              <a:t>Step 3: 19+ checks. 10 AWS checks via boto3 + up to 5 GitHub checks via GitHub REST API. All checks run in a background subprocess — no HTTP timeouts, works on accounts with 200+ IAM roles.</a:t>
            </a:r>
          </a:p>
          <a:p>
            <a:endParaRPr/>
          </a:p>
          <a:p>
            <a:r>
              <a:t>Step 4: Framework coverage % per SOC2 / ISO / PCI / NIST. Risk grade A→F (0-100 score). 1-click auto-fix for S3, EBS, CloudTrail findings — with dry-run preview and confirm step.</a:t>
            </a:r>
          </a:p>
          <a:p>
            <a:endParaRPr/>
          </a:p>
          <a:p>
            <a:r>
              <a:t>Step 5: Claude AI writes executive summary. Every finding saves a timestamped evidence snapshot — run daily → SOC2 Type II evidence builds automatically.</a:t>
            </a:r>
          </a:p>
          <a:p>
            <a:endParaRPr/>
          </a:p>
          <a:p>
            <a:r>
              <a:t>Security: no stored credentials, 1-hour STS tokens, CORS hardened to specific origins, 31 automated tests all green.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— CHECKS (2 min)</a:t>
            </a:r>
          </a:p>
          <a:p>
            <a:endParaRPr/>
          </a:p>
          <a:p>
            <a:r>
              <a:t>19+ checks split across AWS (15) and GitHub (4+):</a:t>
            </a:r>
          </a:p>
          <a:p>
            <a:endParaRPr/>
          </a:p>
          <a:p>
            <a:r>
              <a:t>AWS checks cover the CIS AWS Foundations Benchmark v1.4 — the gold standard accepted by SOC2, ISO 27001, and PCI DSS auditors.</a:t>
            </a:r>
          </a:p>
          <a:p>
            <a:endParaRPr/>
          </a:p>
          <a:p>
            <a:r>
              <a:t>GitHub checks cover the controls auditors actually ask about during SOC2 CC6 (Logical Access):</a:t>
            </a:r>
          </a:p>
          <a:p>
            <a:r>
              <a:t>- Does your org require 2FA for all members? (SOC2 CC6.1, CC6.2)</a:t>
            </a:r>
          </a:p>
          <a:p>
            <a:r>
              <a:t>- Do your repos have branch protection? (SOC2 CC8.1)</a:t>
            </a:r>
          </a:p>
          <a:p>
            <a:r>
              <a:t>- Are PRs reviewed before merge? (SOC2 CC8.1)</a:t>
            </a:r>
          </a:p>
          <a:p>
            <a:r>
              <a:t>- Can any member create a public repo? (SOC2 CC6.1)</a:t>
            </a:r>
          </a:p>
          <a:p>
            <a:endParaRPr/>
          </a:p>
          <a:p>
            <a:r>
              <a:t>This is the exact list Drata checks from GitHub. We do it in the same scan, same dashboard, same evidence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— COMPLIANCE COVERAGE (2 min)</a:t>
            </a:r>
          </a:p>
          <a:p>
            <a:endParaRPr/>
          </a:p>
          <a:p>
            <a:r>
              <a:t>This is what makes VigiliCloud look like Drata, not like a free scanner.</a:t>
            </a:r>
          </a:p>
          <a:p>
            <a:endParaRPr/>
          </a:p>
          <a:p>
            <a:r>
              <a:t>This is real data from my own AWS account. 4 critical findings drive 7 failing SOC2 controls.</a:t>
            </a:r>
          </a:p>
          <a:p>
            <a:endParaRPr/>
          </a:p>
          <a:p>
            <a:r>
              <a:t>The insight: it's not 4 separate problems. It's 3 root causes:</a:t>
            </a:r>
          </a:p>
          <a:p>
            <a:r>
              <a:t>1. S3 Block Public Access is off → breaks CC6.1, CC6.6, CC6.7</a:t>
            </a:r>
          </a:p>
          <a:p>
            <a:r>
              <a:t>2. EBS default encryption is off → breaks CC9.1, SC-28, A.10.1.1, 3.4</a:t>
            </a:r>
          </a:p>
          <a:p>
            <a:r>
              <a:t>3. No GitHub 2FA requirement → breaks CC6.2, IA-2, A.9.4.2, 8.3</a:t>
            </a:r>
          </a:p>
          <a:p>
            <a:endParaRPr/>
          </a:p>
          <a:p>
            <a:r>
              <a:t>Fix those 3 things → re-scan → compliance jumps to 85%+ across all 4 frameworks. That's a meaningful statement for an auditor, not just "you have 4 findings."</a:t>
            </a:r>
          </a:p>
          <a:p>
            <a:endParaRPr/>
          </a:p>
          <a:p>
            <a:r>
              <a:t>This slide is what closes enterprise deals. The auditor doesn't care about findings — they care about control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— KEY FEATURES (3 min)</a:t>
            </a:r>
          </a:p>
          <a:p>
            <a:endParaRPr/>
          </a:p>
          <a:p>
            <a:r>
              <a:t>9 features — highlight these 4 as the ones that close deals:</a:t>
            </a:r>
          </a:p>
          <a:p>
            <a:endParaRPr/>
          </a:p>
          <a:p>
            <a:r>
              <a:t>AUTO-REMEDIATION: No other tool at our price point does this. S3 public access? Click "Auto-Fix." VigiliCloud calls put_public_access_block on your bucket in real time, marks the finding FIXED, and logs it to the audit trail. Dry-run preview before executing. This is what Wiz does at $15k/year — we do it at $99/month.</a:t>
            </a:r>
          </a:p>
          <a:p>
            <a:endParaRPr/>
          </a:p>
          <a:p>
            <a:r>
              <a:t>GITHUB COMPLIANCE: This is what auditors ask about on Day 1 of a SOC2 audit: "Does your org require 2FA? Do you review PRs before merging?" Previously you needed Drata for this. We now check it in the same scan as AWS.</a:t>
            </a:r>
          </a:p>
          <a:p>
            <a:endParaRPr/>
          </a:p>
          <a:p>
            <a:r>
              <a:t>EVIDENCE TIMELINE: Every scan stores timestamped evidence per control. Run daily → 365 days of evidence builds automatically. SOC2 Type II covers a 6-12 month period — we generate that evidence passively.</a:t>
            </a:r>
          </a:p>
          <a:p>
            <a:endParaRPr/>
          </a:p>
          <a:p>
            <a:r>
              <a:t>FRAMEWORK COVERAGE %: Competitors show you a findings list. We show you "SOC2: 22%. Fix these 3 things → 85%." That's what auditors and CTOs care about.</a:t>
            </a:r>
          </a:p>
          <a:p>
            <a:endParaRPr/>
          </a:p>
          <a:p>
            <a:r>
              <a:t>Other features worth mentioning: AI chat with individual findings, RBAC for team access control, shareable auditor portal links (no login required).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— AUTO-REMEDIATION (2 min)</a:t>
            </a:r>
          </a:p>
          <a:p>
            <a:endParaRPr/>
          </a:p>
          <a:p>
            <a:r>
              <a:t>This is the feature that moves us from 'scan and report' to 'scan and fix.'</a:t>
            </a:r>
          </a:p>
          <a:p>
            <a:endParaRPr/>
          </a:p>
          <a:p>
            <a:r>
              <a:t>Six supported fixes today. The most impactful:</a:t>
            </a:r>
          </a:p>
          <a:p>
            <a:r>
              <a:t>- S3 Block Public Access: The #1 misconfiguration causing data breaches. One click enables all 4 Block Public Access settings.</a:t>
            </a:r>
          </a:p>
          <a:p>
            <a:r>
              <a:t>- EBS default encryption: Ensures all future volumes are encrypted by default in your region.</a:t>
            </a:r>
          </a:p>
          <a:p>
            <a:r>
              <a:t>- CloudTrail logging: If CloudTrail exists but is stopped (a common misconfig), we restart it.</a:t>
            </a:r>
          </a:p>
          <a:p>
            <a:r>
              <a:t>- GitHub 2FA enforcement: High-risk because it removes org members who haven't set up 2FA — so we require extra confirmation.</a:t>
            </a:r>
          </a:p>
          <a:p>
            <a:endParaRPr/>
          </a:p>
          <a:p>
            <a:r>
              <a:t>Safety model: every remediation requires an explicit confirm=true. There's a dry-run preview first. Every action is logged in the audit trail with who triggered it and when. The same IAM role used for scanning is used for the fix — so it needs write permissions for the specific resource.</a:t>
            </a:r>
          </a:p>
          <a:p>
            <a:endParaRPr/>
          </a:p>
          <a:p>
            <a:r>
              <a:t>This is what Wiz's auto-remediation does. Wiz charges $15,000+/year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— TECH STACK (2 min)</a:t>
            </a:r>
          </a:p>
          <a:p>
            <a:endParaRPr/>
          </a:p>
          <a:p>
            <a:r>
              <a:t>14 FastAPI routers: auth, accounts, scans, billing, compliance, integrations, approvals, fix_guidance, audit, developer, admin, msp, org_notes, remediation.</a:t>
            </a:r>
          </a:p>
          <a:p>
            <a:endParaRPr/>
          </a:p>
          <a:p>
            <a:r>
              <a:t>Key security decisions:</a:t>
            </a:r>
          </a:p>
          <a:p>
            <a:r>
              <a:t>- CORS: specific allowed origins, not wildcard. allow_credentials=True is safe because origins are explicit.</a:t>
            </a:r>
          </a:p>
          <a:p>
            <a:r>
              <a:t>- Secrets: GitHub tokens, Jira API tokens stored encrypted with Fernet (AES 128 GCM). SECRETS_ENCRYPTION_KEY env var.</a:t>
            </a:r>
          </a:p>
          <a:p>
            <a:r>
              <a:t>- Rate limiting: per-IP, per-endpoint. Auth endpoints have stricter limits.</a:t>
            </a:r>
          </a:p>
          <a:p>
            <a:r>
              <a:t>- RBAC: admin/user/viewer enforced on every endpoint with require_admin() / require_non_viewer() guards.</a:t>
            </a:r>
          </a:p>
          <a:p>
            <a:endParaRPr/>
          </a:p>
          <a:p>
            <a:r>
              <a:t>Evidence snapshots table stores: scan_id, check_id, resource_id, status (PASS/FAIL), evidence JSON, collected_at timestamp. Indexed on check_id + collected_at for fast control history queries.</a:t>
            </a:r>
          </a:p>
          <a:p>
            <a:endParaRPr/>
          </a:p>
          <a:p>
            <a:r>
              <a:t>31 tests: function-scoped TestClient (no cookie leakage between tests), SQLite WAL mode (no lock contention), rate-limit bypass in test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 — COMPETITOR COMPARISON (2 min)</a:t>
            </a:r>
          </a:p>
          <a:p>
            <a:endParaRPr/>
          </a:p>
          <a:p>
            <a:r>
              <a:t>Where VigiliCloud wins clearly:</a:t>
            </a:r>
          </a:p>
          <a:p>
            <a:r>
              <a:t>- AI analysis: nobody at our price point has Claude generating exec summaries and per-finding chat.</a:t>
            </a:r>
          </a:p>
          <a:p>
            <a:r>
              <a:t>- IaC fix generation: Terraform + CDK snippets for every finding — no competitor does this.</a:t>
            </a:r>
          </a:p>
          <a:p>
            <a:r>
              <a:t>- Self-serve signup: Drata, Vanta, Secureframe all require a sales call to get started. We're instant.</a:t>
            </a:r>
          </a:p>
          <a:p>
            <a:r>
              <a:t>- Auto-remediation: We now match Wiz/Orca on this. Drata/Vanta/Secureframe only have partial auto-fix.</a:t>
            </a:r>
          </a:p>
          <a:p>
            <a:r>
              <a:t>- Pricing: $99/mo vs $800-1,250/mo for Drata/Vanta. 10x cheaper.</a:t>
            </a:r>
          </a:p>
          <a:p>
            <a:endParaRPr/>
          </a:p>
          <a:p>
            <a:r>
              <a:t>Where we're still catching up:</a:t>
            </a:r>
          </a:p>
          <a:p>
            <a:r>
              <a:t>- SaaS integrations (Okta, Google Workspace, HR tools) — Drata has 100+. We have GitHub + AWS.</a:t>
            </a:r>
          </a:p>
          <a:p>
            <a:r>
              <a:t>- Continuous evidence collection: our evidence_snapshots now match what they do, but we need more SaaS coverage.</a:t>
            </a:r>
          </a:p>
          <a:p>
            <a:endParaRPr/>
          </a:p>
          <a:p>
            <a:r>
              <a:t>The honest pitch: "If your compliance scope is AWS-only + GitHub, VigiliCloud covers 80% of what Drata does at 10% of the cost, plus AI features Drata doesn't have."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 — PRICING (2 min)</a:t>
            </a:r>
          </a:p>
          <a:p>
            <a:endParaRPr/>
          </a:p>
          <a:p>
            <a:r>
              <a:t>Flat-rate pricing. No per-finding, no per-resource surprises.</a:t>
            </a:r>
          </a:p>
          <a:p>
            <a:endParaRPr/>
          </a:p>
          <a:p>
            <a:r>
              <a:t>FREE: 1 account, all checks, fix guidance, risk score, framework coverage. No credit card.</a:t>
            </a:r>
          </a:p>
          <a:p>
            <a:endParaRPr/>
          </a:p>
          <a:p>
            <a:r>
              <a:t>STARTER $99/mo: 3 accounts + auto-remediation + exports. The SMB tier. A startup with dev/staging/prod accounts can fully comply for less than they spend on a single AWS bill line item.</a:t>
            </a:r>
          </a:p>
          <a:p>
            <a:endParaRPr/>
          </a:p>
          <a:p>
            <a:r>
              <a:t>PRO $299/mo: 10 accounts + AI analysis + scheduled daily scans + evidence timeline for SOC2 Type II. This is the compliance-team tier.</a:t>
            </a:r>
          </a:p>
          <a:p>
            <a:endParaRPr/>
          </a:p>
          <a:p>
            <a:r>
              <a:t>MSP $999+/mo: Unlimited accounts, multi-tenant, priority support. For agencies charging clients per-account.</a:t>
            </a:r>
          </a:p>
          <a:p>
            <a:endParaRPr/>
          </a:p>
          <a:p>
            <a:r>
              <a:t>Key comparison: Drata starts at $1,250/month for 1 environment and requires a sales call. We're at $99/month, self-serve, with a 2-week free trial. That's the opening.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 — ROADMAP (2 min)</a:t>
            </a:r>
          </a:p>
          <a:p>
            <a:endParaRPr/>
          </a:p>
          <a:p>
            <a:r>
              <a:t>PHASE 1 is done — 14 items shipped and running in production, including the new auto-remediation, GitHub compliance, evidence timeline, RBAC, and SOC2/ISO/PCI/NIST coverage mapping. 31 tests all green.</a:t>
            </a:r>
          </a:p>
          <a:p>
            <a:endParaRPr/>
          </a:p>
          <a:p>
            <a:r>
              <a:t>PHASE 2 focus: SaaS integrations. The single biggest gap vs Drata/Vanta is SaaS coverage — Google Workspace, Okta, Jira. Google Workspace alone covers 30%+ of SOC2 CC6 (SSO enforcement, 2FA for all users, Drive sharing settings). Adding this + Azure = we can credibly replace Drata for AWS+GCP shops.</a:t>
            </a:r>
          </a:p>
          <a:p>
            <a:endParaRPr/>
          </a:p>
          <a:p>
            <a:r>
              <a:t>PHASE 3 vision: MCP AI Execution Engine. Claude doesn't just analyze — it proposes specific fixes, a human approves each one, and VigiliCloud executes them via AWS SDK. Full audit trail. This is the "self-healing cloud" vision that no tool at any price point fully delivers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 — DEMO NOTES</a:t>
            </a:r>
          </a:p>
          <a:p>
            <a:endParaRPr/>
          </a:p>
          <a:p>
            <a:r>
              <a:t>Before presenting: sign in, have a completed scan with findings, have GitHub token configured in Settings.</a:t>
            </a:r>
          </a:p>
          <a:p>
            <a:endParaRPr/>
          </a:p>
          <a:p>
            <a:r>
              <a:t>Step 3 is the anchor: "Most tools say 'you have 4 findings.' We say 'you're 22% compliant with SOC2. Here's the exact list of failing controls. Fix these 3 things and you jump to 85%.'" Let that land.</a:t>
            </a:r>
          </a:p>
          <a:p>
            <a:endParaRPr/>
          </a:p>
          <a:p>
            <a:r>
              <a:t>Step 4 is the showstopper: click Auto-Fix on S3_PUBLIC_ACCESS_BLOCK_OFF, show the dry-run preview, click confirm, show the success message. "That just ran put_public_access_block on your AWS bucket. Live. In your account. Wiz does this for $15k/year."</a:t>
            </a:r>
          </a:p>
          <a:p>
            <a:endParaRPr/>
          </a:p>
          <a:p>
            <a:r>
              <a:t>Step 8: open the share link in incognito to show the auditor view — no login required, read-only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14 — CLOSING (2 min)</a:t>
            </a:r>
          </a:p>
          <a:p>
            <a:endParaRPr/>
          </a:p>
          <a:p>
            <a:r>
              <a:t>Three things to remember:</a:t>
            </a:r>
          </a:p>
          <a:p>
            <a:r>
              <a:t>1. This is a complete product. 19+ checks, 4 frameworks, auto-remediation, AI analysis, evidence collection — all deployed, all tested, all live.</a:t>
            </a:r>
          </a:p>
          <a:p>
            <a:r>
              <a:t>2. We now match Drata/Vanta on compliance framework coverage, and beat them on auto-remediation + AI features. At 10x lower price.</a:t>
            </a:r>
          </a:p>
          <a:p>
            <a:r>
              <a:t>3. The gap to close is SaaS integrations (Google Workspace, Okta) — that's a 2-3 week build that would let us fully replace Drata for AWS-only companies.</a:t>
            </a:r>
          </a:p>
          <a:p>
            <a:endParaRPr/>
          </a:p>
          <a:p>
            <a:r>
              <a:t>Immediate next: upgrade the Render DB (expires June 3), then start Google Workspace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PREP:</a:t>
            </a:r>
          </a:p>
          <a:p>
            <a:endParaRPr/>
          </a:p>
          <a:p>
            <a:r>
              <a:t>Q: How does auto-remediation work safely?</a:t>
            </a:r>
          </a:p>
          <a:p>
            <a:r>
              <a:t>A: Dry-run preview first — shows what will change. Requires explicit confirm=true. Uses the same scoped IAM role. Every action logged with timestamp and user. The user can re-scan immediately to verify the fix held.</a:t>
            </a:r>
          </a:p>
          <a:p>
            <a:endParaRPr/>
          </a:p>
          <a:p>
            <a:r>
              <a:t>Q: Does GitHub scanning require admin access?</a:t>
            </a:r>
          </a:p>
          <a:p>
            <a:r>
              <a:t>A: The token needs read:org + repo scope. For branch protection checks it needs admin:org. We never store the token in plaintext — it's Fernet-encrypted at rest.</a:t>
            </a:r>
          </a:p>
          <a:p>
            <a:endParaRPr/>
          </a:p>
          <a:p>
            <a:r>
              <a:t>Q: How does SOC2 Type II evidence work?</a:t>
            </a:r>
          </a:p>
          <a:p>
            <a:r>
              <a:t>A: Every scan stores a timestamped snapshot per finding (check_id + resource_id + status + evidence JSON). Run daily via APScheduler → 365 days of evidence accumulates passively. The /remediation/controls/{check_id}/history endpoint shows the full pass/fail timeline — that's what you export for an auditor.</a:t>
            </a:r>
          </a:p>
          <a:p>
            <a:endParaRPr/>
          </a:p>
          <a:p>
            <a:r>
              <a:t>Q: What's the Google Workspace gap?</a:t>
            </a:r>
          </a:p>
          <a:p>
            <a:r>
              <a:t>A: Org-level 2FA enforcement, SSO configuration, external Drive sharing settings — these cover SOC2 CC6 controls auditors check. A 2-3 week build using Google Admin SDK.</a:t>
            </a:r>
          </a:p>
          <a:p>
            <a:endParaRPr/>
          </a:p>
          <a:p>
            <a:r>
              <a:t>Q: Self-host?</a:t>
            </a:r>
          </a:p>
          <a:p>
            <a:r>
              <a:t>A: Docker-compose works locally. We could add self-hosted enterprise tier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731520"/>
            <a:ext cx="2377440" cy="502920"/>
          </a:xfrm>
          <a:prstGeom prst="rect">
            <a:avLst/>
          </a:prstGeom>
          <a:solidFill>
            <a:srgbClr val="05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VigiliCloud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AWS Compliance,
Made Simple.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999AA"/>
                </a:solidFill>
              </a:rPr>
              <a:t>Connect AWS + GitHub → scan in 2 minutes → AI fix guidance + 1-click auto-remediation.
SOC2 · ISO 27001 · PCI DSS · NIST — continuous evidence for real audits.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188720"/>
            <a:ext cx="3200400" cy="5029200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137160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0B981"/>
                </a:solidFill>
              </a:rPr>
              <a:t>19+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AA"/>
                </a:solidFill>
              </a:rPr>
              <a:t>Security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51460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B82F6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AA"/>
                </a:solidFill>
              </a:rPr>
              <a:t>Audit Frameworks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65760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59E0B"/>
                </a:solidFill>
              </a:rPr>
              <a:t>2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206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AA"/>
                </a:solidFill>
              </a:rPr>
              <a:t>Average Scan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80060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8B5CF6"/>
                </a:solidFill>
              </a:rPr>
              <a:t>A→F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5349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AA"/>
                </a:solidFill>
              </a:rPr>
              <a:t>Risk Score Grade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Presented by Koppolu Leela Krishna   |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AWS security compliance is broken for SMBs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3749039" cy="2103120"/>
          </a:xfrm>
          <a:prstGeom prst="rect">
            <a:avLst/>
          </a:prstGeom>
          <a:solidFill>
            <a:srgbClr val="1010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2–3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A manual AWS security audit takes a senior engineer 2–3 full days.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280160"/>
            <a:ext cx="3749039" cy="2103120"/>
          </a:xfrm>
          <a:prstGeom prst="rect">
            <a:avLst/>
          </a:prstGeom>
          <a:solidFill>
            <a:srgbClr val="10101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3898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74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Expensive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2860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Drata/Vanta start at $800–1,250/month + sales call. Wiz is $15k+/year.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19" y="1280160"/>
            <a:ext cx="3749039" cy="2103120"/>
          </a:xfrm>
          <a:prstGeom prst="rect">
            <a:avLst/>
          </a:prstGeom>
          <a:solidFill>
            <a:srgbClr val="10101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3898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874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Stale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Point-in-time PDF reports. No re-scan, no drift tracking, no SOC2 Type II evidence.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11879"/>
            <a:ext cx="3749039" cy="2103120"/>
          </a:xfrm>
          <a:prstGeom prst="rect">
            <a:avLst/>
          </a:prstGeom>
          <a:solidFill>
            <a:srgbClr val="1010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721607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No Fix Help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177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Most tools tell you WHAT is wrong but not HOW to fix it. Copy-paste Terraform? Nowhere.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3611879"/>
            <a:ext cx="3749039" cy="2103120"/>
          </a:xfrm>
          <a:prstGeom prst="rect">
            <a:avLst/>
          </a:prstGeom>
          <a:solidFill>
            <a:srgbClr val="10101A"/>
          </a:solidFill>
          <a:ln w="12700">
            <a:solidFill>
              <a:srgbClr val="99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3721607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206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999AA"/>
                </a:solidFill>
              </a:rPr>
              <a:t>Enterprise-Only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6177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AWS Security Hub, Lacework, Orca are priced and built for enterprises. SMBs are ignored.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VigiliCloud?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One-click compliance for teams that ship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VigiliCloud is a SaaS compliance platform that:</a:t>
            </a:r>
          </a:p>
          <a:p>
            <a:pPr algn="l"/>
            <a:endParaRPr sz="1800" b="1">
              <a:solidFill>
                <a:srgbClr val="FFFFFF"/>
              </a:solidFill>
            </a:endParaRPr>
          </a:p>
          <a:p>
            <a:pPr algn="l"/>
            <a:r>
              <a:rPr sz="1500" b="0">
                <a:solidFill>
                  <a:srgbClr val="9999AA"/>
                </a:solidFill>
              </a:rPr>
              <a:t>→  Connects AWS via read-only IAM role + GitHub via API token</a:t>
            </a:r>
          </a:p>
          <a:p>
            <a:pPr algn="l"/>
            <a:r>
              <a:rPr sz="1500" b="0">
                <a:solidFill>
                  <a:srgbClr val="9999AA"/>
                </a:solidFill>
              </a:rPr>
              <a:t>→  Runs 19+ checks across S3, IAM, EC2, RDS, CloudTrail, KMS, VPC, GitHub</a:t>
            </a:r>
          </a:p>
          <a:p>
            <a:pPr algn="l"/>
            <a:r>
              <a:rPr sz="1500" b="0">
                <a:solidFill>
                  <a:srgbClr val="9999AA"/>
                </a:solidFill>
              </a:rPr>
              <a:t>→  Maps every finding to SOC2 · ISO 27001 · PCI DSS · NIST controls</a:t>
            </a:r>
          </a:p>
          <a:p>
            <a:pPr algn="l"/>
            <a:r>
              <a:rPr sz="1500" b="0">
                <a:solidFill>
                  <a:srgbClr val="9999AA"/>
                </a:solidFill>
              </a:rPr>
              <a:t>→  Shows compliance coverage % per framework (not just a findings list)</a:t>
            </a:r>
          </a:p>
          <a:p>
            <a:pPr algn="l"/>
            <a:r>
              <a:rPr sz="1500" b="0">
                <a:solidFill>
                  <a:srgbClr val="9999AA"/>
                </a:solidFill>
              </a:rPr>
              <a:t>→  Auto-remediates supported findings with 1 click — in your AWS account</a:t>
            </a:r>
          </a:p>
          <a:p>
            <a:pPr algn="l"/>
            <a:r>
              <a:rPr sz="1500" b="0">
                <a:solidFill>
                  <a:srgbClr val="9999AA"/>
                </a:solidFill>
              </a:rPr>
              <a:t>→  Stores timestamped evidence for SOC2 Type II (6-12 month audit trail)</a:t>
            </a:r>
          </a:p>
          <a:p>
            <a:pPr algn="l"/>
            <a:r>
              <a:rPr sz="1500" b="0">
                <a:solidFill>
                  <a:srgbClr val="9999AA"/>
                </a:solidFill>
              </a:rPr>
              <a:t>→  AI executive summaries via Claude — shareable with auditors</a:t>
            </a:r>
          </a:p>
          <a:p>
            <a:pPr algn="l"/>
            <a:r>
              <a:rPr sz="1500" b="0">
                <a:solidFill>
                  <a:srgbClr val="9999AA"/>
                </a:solidFill>
              </a:rPr>
              <a:t>→  Scales from 1 account (free) to unlimited (MSP)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188720"/>
            <a:ext cx="5212080" cy="5212080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325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Who It's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7373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Startup CTOs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084831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Pass SOC2 Type II with automated
evidence collection — no consultant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83463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AWS Consultants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182111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Scan 5–20 client accounts
instead of 2-day manual audits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931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DevOps /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27939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Continuous compliance posture +
risk score grade (A→F) on every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029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MSPs &amp; Agencies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37667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Multi-tenant scanning; per-client
risk reports; auto-fix on behalf of clients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Scan completes in ~2 minutes — evidence stored automatically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194560" cy="4389120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0B981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AA"/>
                </a:solidFill>
              </a:rPr>
              <a:t>Paste IAM Role ARN
+ GitHub token
(read-only, STS)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280160"/>
            <a:ext cx="2194560" cy="4389120"/>
          </a:xfrm>
          <a:prstGeom prst="rect">
            <a:avLst/>
          </a:prstGeom>
          <a:solidFill>
            <a:srgbClr val="10101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1417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Run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69748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AA"/>
                </a:solidFill>
              </a:rPr>
              <a:t>Click 'Run Scan'
or use REST API
or scheduled daily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280160"/>
            <a:ext cx="2194560" cy="4389120"/>
          </a:xfrm>
          <a:prstGeom prst="rect">
            <a:avLst/>
          </a:prstGeom>
          <a:solidFill>
            <a:srgbClr val="10101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1417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19+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9748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AA"/>
                </a:solidFill>
              </a:rPr>
              <a:t>boto3 + GitHub API
S3, IAM, EC2, RDS,
CloudTrail, KMS, VPC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280160"/>
            <a:ext cx="2194560" cy="4389120"/>
          </a:xfrm>
          <a:prstGeom prst="rect">
            <a:avLst/>
          </a:prstGeom>
          <a:solidFill>
            <a:srgbClr val="1010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0" y="1417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B5CF6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Findings+Fixes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69748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AA"/>
                </a:solidFill>
              </a:rPr>
              <a:t>Framework coverage %
Risk grade A→F
1-click auto-fix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1280160"/>
            <a:ext cx="2194560" cy="4389120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0" y="1417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0B981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AI +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69748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AA"/>
                </a:solidFill>
              </a:rPr>
              <a:t>Claude AI summary
SOC2 Type II
evidence timeline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✓ No agents   ✓ Credentials never stored   ✓ 1-hr STS tokens   ✓ 31 automated tests   ✓ CORS-hardened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19+ Security Checks — AWS +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Mapped to SOC2 · ISO 27001 · PCI DSS · NIST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3200400" cy="347472"/>
          </a:xfrm>
          <a:prstGeom prst="rect">
            <a:avLst/>
          </a:prstGeom>
          <a:solidFill>
            <a:srgbClr val="05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Check 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170432"/>
            <a:ext cx="1371600" cy="347472"/>
          </a:xfrm>
          <a:prstGeom prst="rect">
            <a:avLst/>
          </a:prstGeom>
          <a:solidFill>
            <a:srgbClr val="05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79" y="1188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170432"/>
            <a:ext cx="1371600" cy="347472"/>
          </a:xfrm>
          <a:prstGeom prst="rect">
            <a:avLst/>
          </a:prstGeom>
          <a:solidFill>
            <a:srgbClr val="05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74920" y="1188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Severity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170432"/>
            <a:ext cx="4480560" cy="347472"/>
          </a:xfrm>
          <a:prstGeom prst="rect">
            <a:avLst/>
          </a:prstGeom>
          <a:solidFill>
            <a:srgbClr val="05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1188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What It Detects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554480"/>
            <a:ext cx="32004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160020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S3 Public 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1554480"/>
            <a:ext cx="13716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79" y="160020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554480"/>
            <a:ext cx="13716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4920" y="160020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554480"/>
            <a:ext cx="448056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59" y="160020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Public ACLs, block settings, bucket policies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979676"/>
            <a:ext cx="32004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2025395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IAM Root Access Keys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1979676"/>
            <a:ext cx="13716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11879" y="2025395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979676"/>
            <a:ext cx="13716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74920" y="2025395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1979676"/>
            <a:ext cx="448056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59" y="2025395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Active programmatic keys on root account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404872"/>
            <a:ext cx="32004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2450591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IAM Admin Permissions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2404872"/>
            <a:ext cx="13716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11879" y="2450591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IAM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2404872"/>
            <a:ext cx="13716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4920" y="2450591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2404872"/>
            <a:ext cx="448056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59" y="2450591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Roles with AdministratorAccess attached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830068"/>
            <a:ext cx="32004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" y="2875787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MFA Enforcement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2830068"/>
            <a:ext cx="13716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11879" y="2875787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IAM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2830068"/>
            <a:ext cx="13716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74920" y="2875787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830068"/>
            <a:ext cx="448056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37959" y="2875787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Root + all IAM users without MFA enabled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255264"/>
            <a:ext cx="32004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330098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GitHub: No 2FA Required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66160" y="3255264"/>
            <a:ext cx="13716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11879" y="330098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3255264"/>
            <a:ext cx="13716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74920" y="330098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3255264"/>
            <a:ext cx="448056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37959" y="330098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Org does not enforce 2FA for all members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680460"/>
            <a:ext cx="32004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0040" y="372618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Open Security Groups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66160" y="3680460"/>
            <a:ext cx="13716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11879" y="372618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EC2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3680460"/>
            <a:ext cx="13716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74920" y="372618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HIGH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3680460"/>
            <a:ext cx="448056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37959" y="372618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SSH/RDP/all-traffic open to 0.0.0.0/0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105656"/>
            <a:ext cx="32004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0040" y="415137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RDS Encryption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66160" y="4105656"/>
            <a:ext cx="13716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611879" y="415137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0" y="4105656"/>
            <a:ext cx="13716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74920" y="415137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HIGH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92240" y="4105656"/>
            <a:ext cx="448056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537959" y="4151376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Unencrypted or publicly accessible databases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530852"/>
            <a:ext cx="32004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20040" y="457657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GitHub: No Branch Prot.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60" y="4530852"/>
            <a:ext cx="13716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611879" y="45765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4530852"/>
            <a:ext cx="13716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074920" y="45765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HIGH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92240" y="4530852"/>
            <a:ext cx="448056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37959" y="4576572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Default branch missing protection rules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4956048"/>
            <a:ext cx="32004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20040" y="500176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EBS Encryption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66160" y="4956048"/>
            <a:ext cx="13716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611879" y="50017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EC2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0" y="4956048"/>
            <a:ext cx="13716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074920" y="50017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</a:rPr>
              <a:t>MEDIUM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92240" y="4956048"/>
            <a:ext cx="448056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537959" y="5001768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Volumes unencrypted; default encryption off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5381244"/>
            <a:ext cx="32004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20040" y="542696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CloudTrail Logging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566160" y="5381244"/>
            <a:ext cx="13716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611879" y="542696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CloudTrail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0" y="5381244"/>
            <a:ext cx="13716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074920" y="542696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</a:rPr>
              <a:t>MEDIUM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92240" y="5381244"/>
            <a:ext cx="448056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537959" y="542696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Multi-region logging + log file validation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" y="5806440"/>
            <a:ext cx="32004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20040" y="585216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VPC Flow Logs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566160" y="5806440"/>
            <a:ext cx="13716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611879" y="585216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VPC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0" y="5806440"/>
            <a:ext cx="137160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074920" y="585216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</a:rPr>
              <a:t>MEDIUM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92240" y="5806440"/>
            <a:ext cx="448056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537959" y="585216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Network traffic not captured for forensics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4320" y="6231636"/>
            <a:ext cx="32004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20040" y="627735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KMS Key Rotation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566160" y="6231636"/>
            <a:ext cx="13716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611879" y="627735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KMS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0" y="6231636"/>
            <a:ext cx="137160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074920" y="627735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</a:rPr>
              <a:t>MEDIUM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492240" y="6231636"/>
            <a:ext cx="4480560" cy="402336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537959" y="6277356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Customer-managed keys without auto-rotation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7432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■ CRITICAL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92024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■ HIGH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01752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</a:rPr>
              <a:t>■ MEDIUM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432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AA"/>
                </a:solidFill>
              </a:rPr>
              <a:t>Frameworks: CIS AWS Foundations v1.4 + GitHub CIS Benchmark · SOC2 / ISO 27001 / PCI DSS / NIST SP 800-53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Compliance Coverage by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Every finding maps to specific audit controls — not just a 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567160" cy="658368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Real scan result from a live AWS account: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6187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AA"/>
                </a:solidFill>
              </a:rPr>
              <a:t>4 CRITICAL findings · 1 MEDIUM · Risk Grade: D (52/100)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11567160" cy="1005840"/>
          </a:xfrm>
          <a:prstGeom prst="rect">
            <a:avLst/>
          </a:prstGeom>
          <a:solidFill>
            <a:srgbClr val="1010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SOC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2/9 controls passing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267712"/>
            <a:ext cx="777240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51760" y="2267712"/>
            <a:ext cx="1709928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0" y="226771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EF4444"/>
                </a:solidFill>
              </a:rPr>
              <a:t>22%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2491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CC6.1 CC6.6 CC6.7 CC6.3 CC7.1 CC8.1 CC9.1 — 7 failing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08960"/>
            <a:ext cx="11567160" cy="1005840"/>
          </a:xfrm>
          <a:prstGeom prst="rect">
            <a:avLst/>
          </a:prstGeom>
          <a:solidFill>
            <a:srgbClr val="10101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200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ISO 27001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5/12 controls passing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364992"/>
            <a:ext cx="777240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51760" y="3364992"/>
            <a:ext cx="326440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0" y="336499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59E0B"/>
                </a:solidFill>
              </a:rPr>
              <a:t>42%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2219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A.9, A.10, A.12, A.13, A.14 — encryption + access controls failing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206240"/>
            <a:ext cx="11567160" cy="1005840"/>
          </a:xfrm>
          <a:prstGeom prst="rect">
            <a:avLst/>
          </a:prstGeom>
          <a:solidFill>
            <a:srgbClr val="10101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2976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PCI DSS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54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6/12 controls passing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4462272"/>
            <a:ext cx="777240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651760" y="4462272"/>
            <a:ext cx="38862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600" y="446227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59E0B"/>
                </a:solidFill>
              </a:rPr>
              <a:t>50%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91947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1.3, 3.4, 6.3, 8.3, 10.1 — firewall + encryption + access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303520"/>
            <a:ext cx="11567160" cy="1005840"/>
          </a:xfrm>
          <a:prstGeom prst="rect">
            <a:avLst/>
          </a:prstGeom>
          <a:solidFill>
            <a:srgbClr val="10101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539495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NIST 800-53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521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5/12 controls passing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5559552"/>
            <a:ext cx="777240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651760" y="5559552"/>
            <a:ext cx="3264408" cy="3840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15600" y="555955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97316"/>
                </a:solidFill>
              </a:rPr>
              <a:t>42%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01675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AC-3, IA-2, SC-7, SC-28, AU-2, CM-3 — failing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473952"/>
            <a:ext cx="1156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Fix 3 root causes → jump to 85%+ across all frameworks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Complete compliance workflow — scan to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3785615" cy="1417320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29844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298448"/>
            <a:ext cx="3008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Auto-Remediation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73936"/>
            <a:ext cx="35112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1-click AWS fixes for S3, EBS, CloudTrail.
Dry-run preview → confirm → live fix → audit log.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7096" y="1207008"/>
            <a:ext cx="3785615" cy="1417320"/>
          </a:xfrm>
          <a:prstGeom prst="rect">
            <a:avLst/>
          </a:prstGeom>
          <a:solidFill>
            <a:srgbClr val="10101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34256" y="129844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5464" y="1298448"/>
            <a:ext cx="3008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Risk Score A→F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6" y="1773936"/>
            <a:ext cx="35112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0-100 score + letter grade on every scan.
Weighted by severity — shows trend over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1207008"/>
            <a:ext cx="3785615" cy="1417320"/>
          </a:xfrm>
          <a:prstGeom prst="rect">
            <a:avLst/>
          </a:prstGeom>
          <a:solidFill>
            <a:srgbClr val="1010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2" y="129844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298448"/>
            <a:ext cx="3008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Framework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1773936"/>
            <a:ext cx="35112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SOC2 / ISO / PCI / NIST coverage % bars.
Every check_id mapped to exact audit controls.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07208"/>
            <a:ext cx="3785615" cy="1417320"/>
          </a:xfrm>
          <a:prstGeom prst="rect">
            <a:avLst/>
          </a:prstGeom>
          <a:solidFill>
            <a:srgbClr val="10101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79" y="289864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898648"/>
            <a:ext cx="3008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GitHub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3374136"/>
            <a:ext cx="35112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Org 2FA · branch protection · PR reviews.
Same controls SOC2 auditors ask about.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7096" y="2807208"/>
            <a:ext cx="3785615" cy="1417320"/>
          </a:xfrm>
          <a:prstGeom prst="rect">
            <a:avLst/>
          </a:prstGeom>
          <a:solidFill>
            <a:srgbClr val="1010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34256" y="289864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5464" y="2898648"/>
            <a:ext cx="3008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Evidence Timeline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256" y="3374136"/>
            <a:ext cx="35112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Timestamped snapshot per finding per scan.
SOC2 Type II: 365 days of evidence auto-collected.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9872" y="2807208"/>
            <a:ext cx="3785615" cy="1417320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57032" y="289864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898648"/>
            <a:ext cx="3008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AI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2" y="3374136"/>
            <a:ext cx="35112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Claude writes exec summaries in plain English.
Chat with AI about any individual finding.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407408"/>
            <a:ext cx="3785615" cy="1417320"/>
          </a:xfrm>
          <a:prstGeom prst="rect">
            <a:avLst/>
          </a:prstGeom>
          <a:solidFill>
            <a:srgbClr val="10101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79" y="449884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498848"/>
            <a:ext cx="3008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RBAC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4974336"/>
            <a:ext cx="35112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Admin / User / Viewer roles enforced on every endpoint.
Invite team, assign roles, restrict access.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97096" y="4407408"/>
            <a:ext cx="3785615" cy="1417320"/>
          </a:xfrm>
          <a:prstGeom prst="rect">
            <a:avLst/>
          </a:prstGeom>
          <a:solidFill>
            <a:srgbClr val="10101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34256" y="449884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5464" y="4498848"/>
            <a:ext cx="3008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Share Auditor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6" y="4974336"/>
            <a:ext cx="35112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One-click share: 30-day public link for auditors.
No auditor login required to view evidence.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19872" y="4407408"/>
            <a:ext cx="3785615" cy="1417320"/>
          </a:xfrm>
          <a:prstGeom prst="rect">
            <a:avLst/>
          </a:prstGeom>
          <a:solidFill>
            <a:srgbClr val="1010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57032" y="449884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498848"/>
            <a:ext cx="30083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Drift Monitoring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7032" y="4974336"/>
            <a:ext cx="35112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NEW / UNCHANGED / REMEDIATED per scan.
See exactly what changed since last scan.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Auto-Remediation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1-click fixes applied directly to your AWS account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3200400" cy="347472"/>
          </a:xfrm>
          <a:prstGeom prst="rect">
            <a:avLst/>
          </a:prstGeom>
          <a:solidFill>
            <a:srgbClr val="05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Check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170432"/>
            <a:ext cx="2743200" cy="347472"/>
          </a:xfrm>
          <a:prstGeom prst="rect">
            <a:avLst/>
          </a:prstGeom>
          <a:solidFill>
            <a:srgbClr val="05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79" y="1188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70432"/>
            <a:ext cx="3200400" cy="347472"/>
          </a:xfrm>
          <a:prstGeom prst="rect">
            <a:avLst/>
          </a:prstGeom>
          <a:solidFill>
            <a:srgbClr val="05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188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What Happens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0" y="1170432"/>
            <a:ext cx="1371600" cy="347472"/>
          </a:xfrm>
          <a:prstGeom prst="rect">
            <a:avLst/>
          </a:prstGeom>
          <a:solidFill>
            <a:srgbClr val="05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38360" y="1188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554480"/>
            <a:ext cx="3200400" cy="48463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16276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S3_PUBLIC_ACCESS_BLOCK_OFF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1554480"/>
            <a:ext cx="2743200" cy="48463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79" y="16276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Enable S3 Block Public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554480"/>
            <a:ext cx="3200400" cy="48463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6276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Enables all 4 BPA settings on the bucket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1554480"/>
            <a:ext cx="1371600" cy="48463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38360" y="162763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066543"/>
            <a:ext cx="3200400" cy="48463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213969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S3_BUCKET_ACL_PUBLIC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2066543"/>
            <a:ext cx="2743200" cy="48463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11879" y="213969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Set S3 bucket ACL to private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066543"/>
            <a:ext cx="3200400" cy="48463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213969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Removes public grants from the bucket ACL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2066543"/>
            <a:ext cx="1371600" cy="48463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38360" y="21396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MEDIUM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578608"/>
            <a:ext cx="3200400" cy="48463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26517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EC2_EBS_DEFAULT_ENCRYPTION_OFF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2578608"/>
            <a:ext cx="2743200" cy="48463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11879" y="26517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Enable EBS default encryption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578608"/>
            <a:ext cx="3200400" cy="48463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26517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Enables EBS encryption by default in this region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92640" y="2578608"/>
            <a:ext cx="1371600" cy="48463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38360" y="26517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090672"/>
            <a:ext cx="3200400" cy="48463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" y="31638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CLOUDTRAIL_NOT_LOGGING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3090672"/>
            <a:ext cx="2743200" cy="48463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11879" y="316382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Start CloudTrail logging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090672"/>
            <a:ext cx="3200400" cy="48463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31638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Calls StartLogging on the identified trail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3090672"/>
            <a:ext cx="1371600" cy="48463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38360" y="316382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LOW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602736"/>
            <a:ext cx="3200400" cy="48463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36758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CLOUDTRAIL_LOG_VALIDATION_DISABLED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66160" y="3602736"/>
            <a:ext cx="2743200" cy="48463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11879" y="36758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Enable log file validation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602736"/>
            <a:ext cx="3200400" cy="48463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46520" y="36758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Enables log integrity validation on the trail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92640" y="3602736"/>
            <a:ext cx="1371600" cy="48463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738360" y="367588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LOW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114800"/>
            <a:ext cx="3200400" cy="48463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0040" y="41879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GITHUB_ORG_MFA_NOT_REQUIRED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66160" y="4114800"/>
            <a:ext cx="2743200" cy="48463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11879" y="41879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Enforce 2FA on GitHub org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4114800"/>
            <a:ext cx="3200400" cy="48463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46520" y="41879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Requires 2FA for all members (high impact — confirm!)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92640" y="4114800"/>
            <a:ext cx="1371600" cy="48463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738360" y="41879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HIGH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709160"/>
            <a:ext cx="11567160" cy="1920240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720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Click 'Auto-Fix'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5230368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AA"/>
                </a:solidFill>
              </a:rPr>
              <a:t>Dry-run preview shown:
action + risk level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14600" y="5394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61488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Confirm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61488" y="5230368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AA"/>
                </a:solidFill>
              </a:rPr>
              <a:t>User clicks 'Yes, apply fix'
(required — never silent)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18888" y="5394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65776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VigiliCloud calls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65776" y="5230368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AA"/>
                </a:solidFill>
              </a:rPr>
              <a:t>boto3 write API called
with scoped credentials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23176" y="5394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70064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Finding → FIXED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70064" y="5230368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AA"/>
                </a:solidFill>
              </a:rPr>
              <a:t>Audit log entry created
with timestamp + user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27464" y="5394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74352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Re-scan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74352" y="5230368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AA"/>
                </a:solidFill>
              </a:rPr>
              <a:t>Next scan verifies
the fix held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&amp;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Lean, modern, production-grade — 31 tests all green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521440" cy="749808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280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Next.js 16 · React 19 · TypeScript · Tailwind CSS 4 · dark theme + emerald accents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29968"/>
            <a:ext cx="11521440" cy="749808"/>
          </a:xfrm>
          <a:prstGeom prst="rect">
            <a:avLst/>
          </a:prstGeom>
          <a:solidFill>
            <a:srgbClr val="10101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Backend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10312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FastAPI (Python 3.12) · 14 Routers · Session Auth · RBAC · Rate Limiting · Fernet encryption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52928"/>
            <a:ext cx="11521440" cy="749808"/>
          </a:xfrm>
          <a:prstGeom prst="rect">
            <a:avLst/>
          </a:prstGeom>
          <a:solidFill>
            <a:srgbClr val="1010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Worker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9260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Python 3.12 · boto3 · 10 AWS checks · GitHub REST API · Evidence snapshot 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675887"/>
            <a:ext cx="11521440" cy="749808"/>
          </a:xfrm>
          <a:prstGeom prst="rect">
            <a:avLst/>
          </a:prstGeom>
          <a:solidFill>
            <a:srgbClr val="10101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74903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749039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PostgreSQL (Render) · SQLite fallback · evidence_snapshots table for SOC2 Type II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498848"/>
            <a:ext cx="11521440" cy="749808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5720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AI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57200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Anthropic Claude Haiku · /ai-analysis · per-finding chat (streaming SSE)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376672"/>
            <a:ext cx="5577840" cy="1280160"/>
          </a:xfrm>
          <a:prstGeom prst="rect">
            <a:avLst/>
          </a:prstGeom>
          <a:solidFill>
            <a:srgbClr val="10101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4406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Security Posture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77900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CORS: specific origins only (no wildcard)
Secrets: Fernet AES encrypted at rest
Auth: session cookies, 12-hr TTL, rate-limited
Tests: 31 automated tests, all passing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5376672"/>
            <a:ext cx="5897880" cy="1280160"/>
          </a:xfrm>
          <a:prstGeom prst="rect">
            <a:avLst/>
          </a:prstGeom>
          <a:solidFill>
            <a:srgbClr val="1010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5440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779008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Render.com · auto-deploy on push to main
Backend: vigilicloud-api.onrender.com
Frontend: vigilicloud-ui.onrender.com
DB: Postgres (upgrade from free tier June 2026)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Head-to-Head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VigiliCloud vs Drata, Vanta, Secureframe, Wiz, Orca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170432"/>
            <a:ext cx="269748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17520" y="1170432"/>
            <a:ext cx="2697480" cy="402336"/>
          </a:xfrm>
          <a:prstGeom prst="rect">
            <a:avLst/>
          </a:prstGeom>
          <a:solidFill>
            <a:srgbClr val="05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11887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VigiliCloud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170432"/>
            <a:ext cx="178308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99AA"/>
                </a:solidFill>
              </a:rPr>
              <a:t>Drata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170432"/>
            <a:ext cx="178308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11887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99AA"/>
                </a:solidFill>
              </a:rPr>
              <a:t>Vanta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1170432"/>
            <a:ext cx="178308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118872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99AA"/>
                </a:solidFill>
              </a:rPr>
              <a:t>Secureframe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1170432"/>
            <a:ext cx="132588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0" y="11887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99AA"/>
                </a:solidFill>
              </a:rPr>
              <a:t>Wiz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09960" y="1170432"/>
            <a:ext cx="1005840" cy="402336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09960" y="11887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99AA"/>
                </a:solidFill>
              </a:rPr>
              <a:t>Orca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1600200"/>
            <a:ext cx="26974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AWS posture checks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00200"/>
            <a:ext cx="26974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17520" y="164592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160020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16459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160020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16459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160020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41080" y="16459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1600200"/>
            <a:ext cx="13258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0" y="16459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109960" y="1600200"/>
            <a:ext cx="100584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09960" y="1645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" y="1965960"/>
            <a:ext cx="26974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" y="20116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SOC2 control mapping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1965960"/>
            <a:ext cx="26974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17520" y="2011679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196596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92040" y="2011679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196596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66560" y="2011679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41080" y="196596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41080" y="2011679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00" y="1965960"/>
            <a:ext cx="13258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058400" y="201167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~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109960" y="1965960"/>
            <a:ext cx="100584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109960" y="201167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~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" y="2331720"/>
            <a:ext cx="26974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040" y="23774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ISO 27001 / PCI / NIST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17520" y="2331720"/>
            <a:ext cx="26974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017520" y="2377439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92040" y="233172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92040" y="2377439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66560" y="233172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766560" y="2377439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41080" y="233172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41080" y="2377439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0" y="2331720"/>
            <a:ext cx="13258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058400" y="237743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109960" y="2331720"/>
            <a:ext cx="100584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109960" y="23774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" y="2697480"/>
            <a:ext cx="26974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20040" y="2743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GitHub / SaaS checks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17520" y="2697480"/>
            <a:ext cx="26974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017520" y="27432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92040" y="269748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892040" y="27432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66560" y="269748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766560" y="27432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41080" y="269748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641080" y="27432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58400" y="2697480"/>
            <a:ext cx="13258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058400" y="27432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109960" y="2697480"/>
            <a:ext cx="100584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1109960" y="2743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56032" y="3063240"/>
            <a:ext cx="26974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20040" y="3108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Auto-remediation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017520" y="3063240"/>
            <a:ext cx="26974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017520" y="31089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92040" y="306324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892040" y="31089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~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66560" y="306324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766560" y="31089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~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41080" y="306324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641080" y="31089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~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58400" y="3063240"/>
            <a:ext cx="13258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058400" y="31089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109960" y="3063240"/>
            <a:ext cx="100584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109960" y="3108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56032" y="3429000"/>
            <a:ext cx="26974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2004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Evidence auto-collection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17520" y="3429000"/>
            <a:ext cx="26974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017520" y="347472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892040" y="342900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892040" y="34747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766560" y="342900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766560" y="34747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641080" y="342900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641080" y="34747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058400" y="3429000"/>
            <a:ext cx="13258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058400" y="34747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1109960" y="3429000"/>
            <a:ext cx="100584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1109960" y="3474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56032" y="3794760"/>
            <a:ext cx="26974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20040" y="3840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Risk score (A–F)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017520" y="3794760"/>
            <a:ext cx="26974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017520" y="384048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892040" y="379476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892040" y="38404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~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766560" y="379476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766560" y="38404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641080" y="379476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641080" y="38404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058400" y="3794760"/>
            <a:ext cx="13258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0058400" y="3840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109960" y="3794760"/>
            <a:ext cx="100584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1109960" y="38404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56032" y="4160520"/>
            <a:ext cx="26974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320040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RBAC (admin/viewer)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017520" y="4160520"/>
            <a:ext cx="26974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017520" y="42062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892040" y="416052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892040" y="42062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766560" y="416052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766560" y="42062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641080" y="416052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641080" y="42062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058400" y="4160520"/>
            <a:ext cx="13258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0058400" y="42062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1109960" y="4160520"/>
            <a:ext cx="100584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1109960" y="4206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56032" y="4526280"/>
            <a:ext cx="26974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200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AI analysis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017520" y="4526280"/>
            <a:ext cx="26974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3017520" y="4572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892040" y="452628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4892040" y="4572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766560" y="452628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6766560" y="4572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641080" y="452628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8641080" y="4572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0058400" y="4526280"/>
            <a:ext cx="13258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058400" y="45720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~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1109960" y="4526280"/>
            <a:ext cx="100584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1109960" y="4572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56032" y="4892040"/>
            <a:ext cx="26974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320040" y="493775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IaC fix generation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017520" y="4892040"/>
            <a:ext cx="26974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3017520" y="4937759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892040" y="489204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4892040" y="4937759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766560" y="489204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766560" y="4937759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641080" y="489204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641080" y="4937759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058400" y="4892040"/>
            <a:ext cx="13258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10058400" y="493775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~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1109960" y="4892040"/>
            <a:ext cx="100584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1109960" y="493775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56032" y="5257800"/>
            <a:ext cx="26974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32004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Self-serve signup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017520" y="5257800"/>
            <a:ext cx="26974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3017520" y="530352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892040" y="525780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4892040" y="53035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766560" y="525780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766560" y="53035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641080" y="5257800"/>
            <a:ext cx="17830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8641080" y="53035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058400" y="5257800"/>
            <a:ext cx="132588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058400" y="53035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1109960" y="5257800"/>
            <a:ext cx="1005840" cy="347472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11109960" y="53035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56032" y="5623560"/>
            <a:ext cx="26974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320040" y="5669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Pricing / mo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017520" y="5623560"/>
            <a:ext cx="26974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3017520" y="566928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$99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892040" y="562356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4892040" y="56692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$1,250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766560" y="562356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6766560" y="56692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$800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641080" y="5623560"/>
            <a:ext cx="17830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8641080" y="56692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$600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0058400" y="5623560"/>
            <a:ext cx="132588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10058400" y="56692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$15k+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1109960" y="5623560"/>
            <a:ext cx="1005840" cy="347472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11109960" y="5669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$25k+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Pricing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Flat pricing — not per-finding; 2-week free trial on all plans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4680" y="1170432"/>
            <a:ext cx="2011680" cy="1280160"/>
          </a:xfrm>
          <a:prstGeom prst="rect">
            <a:avLst/>
          </a:prstGeom>
          <a:solidFill>
            <a:srgbClr val="10101A"/>
          </a:solidFill>
          <a:ln w="19050">
            <a:solidFill>
              <a:srgbClr val="99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54680" y="1188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9999AA"/>
                </a:solidFill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508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₹0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9019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AA"/>
                </a:solidFill>
              </a:rPr>
              <a:t>$0/mo  ·  1 acct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1170432"/>
            <a:ext cx="2011680" cy="1280160"/>
          </a:xfrm>
          <a:prstGeom prst="rect">
            <a:avLst/>
          </a:prstGeom>
          <a:solidFill>
            <a:srgbClr val="1010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57800" y="1188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508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₹8,299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9019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AA"/>
                </a:solidFill>
              </a:rPr>
              <a:t>~$99/mo  ·  3 accts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1170432"/>
            <a:ext cx="2011680" cy="1280160"/>
          </a:xfrm>
          <a:prstGeom prst="rect">
            <a:avLst/>
          </a:prstGeom>
          <a:solidFill>
            <a:srgbClr val="10101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60920" y="1188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508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₹24,999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9019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AA"/>
                </a:solidFill>
              </a:rPr>
              <a:t>~$299/mo  ·  10 accts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1170432"/>
            <a:ext cx="2011680" cy="1280160"/>
          </a:xfrm>
          <a:prstGeom prst="rect">
            <a:avLst/>
          </a:prstGeom>
          <a:solidFill>
            <a:srgbClr val="10101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4040" y="1188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B5CF6"/>
                </a:solidFill>
              </a:rPr>
              <a:t>MSP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508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₹83,499+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19019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AA"/>
                </a:solidFill>
              </a:rPr>
              <a:t>~$999+/mo  ·  Unlimited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118872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999AA"/>
                </a:solidFill>
              </a:rPr>
              <a:t>Feature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450592"/>
            <a:ext cx="283464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2487168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19+ Security Checks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2450592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54680" y="24871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2450592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57800" y="24871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2450592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60920" y="24871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64040" y="2450592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64040" y="24871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752344"/>
            <a:ext cx="283464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" y="2788920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Framework Coverage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54680" y="2752344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54680" y="278892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7800" y="2752344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57800" y="278892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60920" y="2752344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60920" y="278892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64040" y="2752344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64040" y="278892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3054096"/>
            <a:ext cx="283464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3090672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Fix Guidance (CLI/TF)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54680" y="3054096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154680" y="30906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57800" y="3054096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57800" y="30906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60920" y="3054096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60920" y="30906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64040" y="3054096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64040" y="30906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3355848"/>
            <a:ext cx="283464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0040" y="3392424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Risk Score (A–F)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54680" y="3355848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154680" y="33924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57800" y="3355848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57800" y="33924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60920" y="3355848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60920" y="33924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64040" y="3355848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464040" y="33924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" y="3657600"/>
            <a:ext cx="283464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20040" y="3694176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Auto-Remediation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54680" y="3657600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154680" y="369417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57800" y="3657600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57800" y="369417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60920" y="3657600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360920" y="369417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464040" y="3657600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64040" y="369417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959352"/>
            <a:ext cx="283464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20040" y="3995928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CSV / JSON / PDF Export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54680" y="3959352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154680" y="399592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257800" y="3959352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257800" y="399592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60920" y="3959352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360920" y="399592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464040" y="3959352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464040" y="399592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28600" y="4261104"/>
            <a:ext cx="283464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20040" y="4297680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AI Executive Summary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54680" y="4261104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154680" y="42976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57800" y="4261104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257800" y="42976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60920" y="4261104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360920" y="42976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464040" y="4261104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464040" y="42976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8600" y="4562856"/>
            <a:ext cx="283464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20040" y="4599432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Scheduled Daily Scans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154680" y="4562856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154680" y="459943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257800" y="4562856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257800" y="459943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60920" y="4562856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360920" y="459943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464040" y="4562856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464040" y="459943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28600" y="4864608"/>
            <a:ext cx="283464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20040" y="4901184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Drift Monitoring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154680" y="4864608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154680" y="490118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257800" y="4864608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257800" y="490118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360920" y="4864608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360920" y="490118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464040" y="4864608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464040" y="490118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166360"/>
            <a:ext cx="283464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20040" y="5202936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Evidence Timeline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154680" y="5166360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154680" y="52029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257800" y="5166360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5257800" y="52029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360920" y="5166360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360920" y="52029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464040" y="5166360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9464040" y="52029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28600" y="5468112"/>
            <a:ext cx="283464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20040" y="5504688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Approval Workflows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154680" y="5468112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154680" y="55046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257800" y="5468112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5257800" y="55046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360920" y="5468112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360920" y="55046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464040" y="5468112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9464040" y="55046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28600" y="5769864"/>
            <a:ext cx="283464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320040" y="5806440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Jira + GitHub Sync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154680" y="5769864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3154680" y="58064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257800" y="5769864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5257800" y="58064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360920" y="5769864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360920" y="58064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464040" y="5769864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9464040" y="58064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28600" y="6071616"/>
            <a:ext cx="283464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320040" y="6108192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Multi-Tenant (MSP)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154680" y="6071616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3154680" y="610819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257800" y="6071616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257800" y="610819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360920" y="6071616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360920" y="610819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464040" y="6071616"/>
            <a:ext cx="2011680" cy="292608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9464040" y="610819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373368"/>
            <a:ext cx="283464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20040" y="6409944"/>
            <a:ext cx="2697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Support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154680" y="6373368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3154680" y="640994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</a:rPr>
              <a:t>Email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257800" y="6373368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257800" y="640994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</a:rPr>
              <a:t>Email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360920" y="6373368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7360920" y="640994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</a:rPr>
              <a:t>Email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464040" y="6373368"/>
            <a:ext cx="2011680" cy="292608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9464040" y="640994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</a:rPr>
              <a:t>Priority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Phase 1 live and complete · Phase 2 in progress · Phase 3 is the big bet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749039" cy="5394960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743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</a:rPr>
              <a:t>Phase 1
(Live Now)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53312"/>
            <a:ext cx="685800" cy="38404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353312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874519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✓ 19+ checks: AWS +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203703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✓ SOC2 / ISO / PCI / NIST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532887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✓ Framework coverage % bars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86207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✓ Risk score A→F 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19125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✓ Auto-remediation (6 fixes)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520439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✓ Evidence timeline (SOC2 II)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84962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✓ Share report / auditor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7880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✓ RBAC: admin/user/viewer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50799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✓ AI summaries + per-finding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837175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✓ Approval workflows +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5166359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✓ Jira + GitHub + Slack + REST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49554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✓ MSP multi-tenant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82472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✓ 31 automated tests, all green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615391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✓ Razorpay billing (3 plans)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1234440"/>
            <a:ext cx="3749039" cy="5394960"/>
          </a:xfrm>
          <a:prstGeom prst="rect">
            <a:avLst/>
          </a:prstGeom>
          <a:solidFill>
            <a:srgbClr val="10101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43399" y="1325880"/>
            <a:ext cx="2743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3399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</a:rPr>
              <a:t>Phase 2
(2026 H2)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1353312"/>
            <a:ext cx="685800" cy="38404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78040" y="1353312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6 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1874519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→ Google Workspace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2203703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   (2FA, SSO, Drive sharing checks)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2532887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→ Okta + Jira SaaS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286207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→ Azure CIS Benchmark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19125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→ GCP security scanning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3520439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→ HIPAA + PCI custom frameworks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384962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→ White-label MSP branding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17880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→ Upgrade DB (Render → RDS)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50799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→ More auto-remediation fixes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837175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→ SIEM integrations (Splunk, DD)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1234440"/>
            <a:ext cx="3749039" cy="5394960"/>
          </a:xfrm>
          <a:prstGeom prst="rect">
            <a:avLst/>
          </a:prstGeom>
          <a:solidFill>
            <a:srgbClr val="1010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321040" y="1325880"/>
            <a:ext cx="274320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2104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F"/>
                </a:solidFill>
              </a:rPr>
              <a:t>Phase 3
(2027+)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155680" y="1353312"/>
            <a:ext cx="685800" cy="38404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155680" y="1353312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</a:rPr>
              <a:t>FUTURE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1874519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★ MCP AI Execution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2203703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   detect → propose → approve → fix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2532887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   Claude proposes, human approves,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286207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   AWS executes — fully audited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319125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66760" y="3520439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★ Multi-Cloud Unified Dashboard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384962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   AWS + Azure + GCP side-by-side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417880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66760" y="450799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★ 24/7 Real-Time Monitoring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4837175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   CloudTrail event stream alerting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5166359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   Sub-minute breach detection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Demo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What to show in 5–7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5760720" cy="1280160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353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533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Sign In +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Login as admin
See risk grade D·52/100 and compliance bars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61872"/>
            <a:ext cx="5760720" cy="1280160"/>
          </a:xfrm>
          <a:prstGeom prst="rect">
            <a:avLst/>
          </a:prstGeom>
          <a:solidFill>
            <a:srgbClr val="10101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353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3533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Run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810512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Connect account → Run Scan
Watch: 2-minute async scan with progress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33472"/>
            <a:ext cx="5760720" cy="1280160"/>
          </a:xfrm>
          <a:prstGeom prst="rect">
            <a:avLst/>
          </a:prstGeom>
          <a:solidFill>
            <a:srgbClr val="1010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2724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B5CF6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249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Compliance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182112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Show SOC2 22% / ISO 42% / PCI 50% / NIST 42%
Explain 3 root causes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633472"/>
            <a:ext cx="5760720" cy="1280160"/>
          </a:xfrm>
          <a:prstGeom prst="rect">
            <a:avLst/>
          </a:prstGeom>
          <a:solidFill>
            <a:srgbClr val="10101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2724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7249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Finding + Auto-Fix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182112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Click S3_PUBLIC_ACCESS_BLOCK_OFF
Show Auto-Fix button → dry-run → confirm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005072"/>
            <a:ext cx="5760720" cy="1280160"/>
          </a:xfrm>
          <a:prstGeom prst="rect">
            <a:avLst/>
          </a:prstGeom>
          <a:solidFill>
            <a:srgbClr val="1010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409651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F4444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09651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GitHub 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553712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Show GITHUB_ORG_MFA_NOT_REQUIRED finding
Map to SOC2 CC6.1/CC6.2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005072"/>
            <a:ext cx="5760720" cy="1280160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73368" y="409651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09651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Drift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553712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Compare to prev scan
New issues red · Fixed green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376672"/>
            <a:ext cx="5760720" cy="1280160"/>
          </a:xfrm>
          <a:prstGeom prst="rect">
            <a:avLst/>
          </a:prstGeom>
          <a:solidFill>
            <a:srgbClr val="10101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54681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4681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925312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Generate executive summary
Show per-finding AI chat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5376672"/>
            <a:ext cx="5760720" cy="1280160"/>
          </a:xfrm>
          <a:prstGeom prst="rect">
            <a:avLst/>
          </a:prstGeom>
          <a:solidFill>
            <a:srgbClr val="1010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73368" y="54681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B5CF6"/>
                </a:solidFill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4681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Share Auditor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925312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Click Share → copy 30-day link
Open in incognito — auditor 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What we built, where we're going, how you can help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223760" cy="3566160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✓  Live production SaaS — not a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1991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✓  19+ checks: AWS (CIS v1.4) + GitHub org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9463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✓  SOC2 / ISO 27001 / PCI DSS / NIST framework coverage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16936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✓  Auto-remediation: 1-click S3, EBS, CloudTrail, GitHub fixes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64408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✓  SOC2 Type II: continuous evidence snapshots per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79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✓  AI: executive summaries + per-finding chat (streaming)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59352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✓  RBAC, approval workflows, auditor share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06824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✓  31 automated tests · CORS-hardened · secrets encrypted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54296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✓  3 billing tiers: $99 → $299 → $999+ (INR pricing via Razorpay)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234440"/>
            <a:ext cx="4206240" cy="3566160"/>
          </a:xfrm>
          <a:prstGeom prst="rect">
            <a:avLst/>
          </a:prstGeom>
          <a:solidFill>
            <a:srgbClr val="10101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0" y="13716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Next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82880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1828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Upgrade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084832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Render DB expires 2026-06-03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304288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3042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Google Workspace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560320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Add to Phase 2 — closes SaaS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779776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7797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checks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035808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Start CIS Azure Benchmark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255264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2552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Demo prep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511296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Seed demo account + findings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73075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730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Pricing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986784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USD pricing page for global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2062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4206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Marketing site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462272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AA"/>
                </a:solidFill>
              </a:rPr>
              <a:t>vigilicloud.com landing page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892040"/>
            <a:ext cx="11567160" cy="1280160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9834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"From 2-day manual audits → 2-minute automated compliance scans.
Auto-remediation + AI summaries + continuous SOC2 evidence — at 1/10th the price of Drata.
VigiliCloud is the compliance tool AWS SMBs have been waiting for."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309360"/>
            <a:ext cx="1156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AA"/>
                </a:solidFill>
              </a:rPr>
              <a:t>app.vigilicloud.com  ·  vigilicloud-api.onrender.com  ·  leelakrishna1739@gmail.com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999AA"/>
                </a:solidFill>
              </a:rPr>
              <a:t>Thank you for your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206240"/>
            <a:ext cx="2103120" cy="1371600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709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AA"/>
                </a:solidFill>
              </a:rPr>
              <a:t>app.vigilicloud.com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4206240"/>
            <a:ext cx="2103120" cy="1371600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42976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709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AA"/>
                </a:solidFill>
              </a:rPr>
              <a:t>vigilicloud-api.onrender.com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206240"/>
            <a:ext cx="2103120" cy="1371600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Contact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709160"/>
            <a:ext cx="2103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9999AA"/>
                </a:solidFill>
              </a:rPr>
              <a:t>leelakrishna</a:t>
            </a:r>
            <a:r>
              <a:rPr lang="en-US" sz="1000" b="0" i="0" dirty="0">
                <a:solidFill>
                  <a:srgbClr val="9999AA"/>
                </a:solidFill>
              </a:rPr>
              <a:t>koppolu</a:t>
            </a:r>
            <a:r>
              <a:rPr sz="1000" b="0" i="0" dirty="0">
                <a:solidFill>
                  <a:srgbClr val="9999AA"/>
                </a:solidFill>
              </a:rPr>
              <a:t>@gmail.com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4206240"/>
            <a:ext cx="2103120" cy="1371600"/>
          </a:xfrm>
          <a:prstGeom prst="rect">
            <a:avLst/>
          </a:prstGeom>
          <a:solidFill>
            <a:srgbClr val="1010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42976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709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AA"/>
                </a:solidFill>
              </a:rPr>
              <a:t>github.com/KoppoluLeelaKrishna
compliance-ai-saas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999AA"/>
                </a:solidFill>
              </a:rPr>
              <a:t>VigiliCloud — AWS + GitHub Compliance, Made Simple.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5020</Words>
  <Application>Microsoft Office PowerPoint</Application>
  <PresentationFormat>Custom</PresentationFormat>
  <Paragraphs>701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leela krishna</cp:lastModifiedBy>
  <cp:revision>2</cp:revision>
  <dcterms:created xsi:type="dcterms:W3CDTF">2013-01-27T09:14:16Z</dcterms:created>
  <dcterms:modified xsi:type="dcterms:W3CDTF">2026-06-17T18:56:34Z</dcterms:modified>
  <cp:category/>
</cp:coreProperties>
</file>