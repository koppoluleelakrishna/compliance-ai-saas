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548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VigiliCloud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AWS Security Scanning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0292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</a:rPr>
              <a:t>Find misconfigurations. Get exact fix steps.
Prove compliance. In 2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1965960" cy="1188720"/>
          </a:xfrm>
          <a:prstGeom prst="rect">
            <a:avLst/>
          </a:prstGeom>
          <a:solidFill>
            <a:srgbClr val="1A3A7A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834640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</a:rPr>
              <a:t>2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649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Full AWS scan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743200"/>
            <a:ext cx="1965960" cy="1188720"/>
          </a:xfrm>
          <a:prstGeom prst="rect">
            <a:avLst/>
          </a:prstGeom>
          <a:solidFill>
            <a:srgbClr val="1A3A7A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2834640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</a:rPr>
              <a:t>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33649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Account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2743200"/>
            <a:ext cx="1965960" cy="1188720"/>
          </a:xfrm>
          <a:prstGeom prst="rect">
            <a:avLst/>
          </a:prstGeom>
          <a:solidFill>
            <a:srgbClr val="1A3A7A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2834640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33649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Stored credentials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Covers the CIS AWS Foundations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348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SOC2  ·  ISO 27001  ·  PCI DSS  ·  HIPAA aligned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264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Leela Krishna Koppolu  ·  leelakrishnakoppolu@gmail.com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app.vigilicloud.com  · 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743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What We 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69494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10 Critical Security Checks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1097280"/>
            <a:ext cx="4754880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20700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S3 Public 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1320" y="1188720"/>
            <a:ext cx="123444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11887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1645919"/>
            <a:ext cx="4754880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17556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Root Access Keys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61320" y="1737360"/>
            <a:ext cx="123444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17373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2194560"/>
            <a:ext cx="4754880" cy="47548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23042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IAM Permissions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2286000"/>
            <a:ext cx="123444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2286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2743200"/>
            <a:ext cx="4754880" cy="47548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285292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MFA Enforcement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1320" y="2834640"/>
            <a:ext cx="123444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61320" y="28346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3291839"/>
            <a:ext cx="4754880" cy="47548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4015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Security Groups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61320" y="3383279"/>
            <a:ext cx="123444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61320" y="33832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3840480"/>
            <a:ext cx="4754880" cy="47548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39502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RDS Encryption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61320" y="3931920"/>
            <a:ext cx="123444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61320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4389120"/>
            <a:ext cx="475488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44988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EBS Encryption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61320" y="4480559"/>
            <a:ext cx="123444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44805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760" y="4937760"/>
            <a:ext cx="475488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6640" y="50474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CloudTrail Logging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61320" y="5029200"/>
            <a:ext cx="123444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61320" y="5029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0" y="5486400"/>
            <a:ext cx="475488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559612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VPC Flow Logs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61320" y="5577840"/>
            <a:ext cx="123444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61320" y="55778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60" y="6035040"/>
            <a:ext cx="475488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61447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KMS Key Rotation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61320" y="6126479"/>
            <a:ext cx="123444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61320" y="6126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AWS misconfigurations are the #1 cause of cloud data breaches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743200" cy="237744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0020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C2626"/>
                </a:solidFill>
              </a:rP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77440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of cloud breaches involve
misconfigured resources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417320"/>
            <a:ext cx="2743200" cy="237744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A580C"/>
                </a:solidFill>
              </a:rPr>
              <a:t>$4.5M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average cost of a single
cloud data breach (IBM 2024)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216" y="1417320"/>
            <a:ext cx="2743200" cy="237744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0020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97706"/>
                </a:solidFill>
              </a:rP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77440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of companies don't know
their full AWS security posture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4584" y="1417320"/>
            <a:ext cx="2743200" cy="237744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160020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4ED8"/>
                </a:solidFill>
              </a:rPr>
              <a:t>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9176" y="2377440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average time to detect
a critical misconfiguration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Pain points your clients face every single day: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343400"/>
            <a:ext cx="11365992" cy="182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480560"/>
            <a:ext cx="36576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No visibility into who has admin access or what data is publicly exposed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956048"/>
            <a:ext cx="36576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56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Manual security audits take 2–3 days and still miss things automated scans catch in 2 minutes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431536"/>
            <a:ext cx="36576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43153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Engineers know something is wrong but don't know exactly how to fix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907024"/>
            <a:ext cx="36576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90702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SOC2 and ISO 27001 evidence takes weeks to collect — VigiliCloud does it in one click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VigiliCloud — Complete AWS Security Posture in 3 Simple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6576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58368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Connect Your
AWS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067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Create a read-only IAM role and paste the ARN into VigiliCloud. No agents, no installs, no DevOps expertise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49240"/>
            <a:ext cx="32004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37667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6576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600200"/>
            <a:ext cx="65836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7744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Run a Full
Security 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9067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Click 'Run Scan'. VigiliCloud checks all 10 security areas across your entire AWS account simultaneously.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5349240"/>
            <a:ext cx="320040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537667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~2 minutes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417320"/>
            <a:ext cx="36576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19" y="1600200"/>
            <a:ext cx="658368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16002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37744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Fix Issues &amp;
Export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09067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Every finding includes the exact AWS Console path, CLI command to fix it, and one-click compliance export.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19" y="5349240"/>
            <a:ext cx="320040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537667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Audit-ready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989320"/>
            <a:ext cx="1136599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14476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Free 2-week trial  ·  No credit card required  ·  Works with any AWS account  ·  Cancel anytime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What We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10 Critical Security Checks — Aligned with CIS AWS Foundations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24028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4028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01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S3 Public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219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Buckets exposed to internet,
public ACLs &amp; 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417320"/>
            <a:ext cx="224028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417320"/>
            <a:ext cx="224028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45389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801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Root Access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2219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Active root account API keys —
the single biggest AWS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17320"/>
            <a:ext cx="2240280" cy="228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17320"/>
            <a:ext cx="224028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45389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801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IAM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2219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Over-permissioned roles &amp;
unnecessary admin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417320"/>
            <a:ext cx="2240280" cy="228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1417320"/>
            <a:ext cx="224028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45389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1801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MFA 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22219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IAM users &amp; root account
without multi-factor 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417320"/>
            <a:ext cx="2240280" cy="228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1417320"/>
            <a:ext cx="224028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45389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1801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Security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22219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EC2 ports open to 0.0.0.0/0 —
unrestricted internet exposure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86200"/>
            <a:ext cx="2240280" cy="228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886200"/>
            <a:ext cx="224028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92277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42702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RDS Encryption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6908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Databases without encryption
or publicly accessible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86200"/>
            <a:ext cx="2240280" cy="22860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51760" y="3886200"/>
            <a:ext cx="22402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392277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42702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EBS Encryption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1488" y="46908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EC2 volumes unencrypted,
missing default encryption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886200"/>
            <a:ext cx="2240280" cy="22860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886200"/>
            <a:ext cx="22402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392277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42702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CloudTrail Logging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46908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Inactive trails, missing multi-
region &amp; log file 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3886200"/>
            <a:ext cx="2240280" cy="22860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06640" y="3886200"/>
            <a:ext cx="22402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392277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8" y="42702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VPC Flow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16368" y="46908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Network traffic invisible —
no forensic audit trail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3886200"/>
            <a:ext cx="2240280" cy="22860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84080" y="3886200"/>
            <a:ext cx="22402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392277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93808" y="42702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KMS Key Rotation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93808" y="46908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Customer-managed keys
without automatic rotation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Security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What VigiliCloud finds in a typical AWS account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76D"/>
                </a:solidFill>
              </a:rPr>
              <a:t>Finding Severity Breakdown (avg per account)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74519"/>
            <a:ext cx="117043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8488" y="1874519"/>
            <a:ext cx="1883664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38728" y="1874519"/>
            <a:ext cx="1499616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74920" y="1874519"/>
            <a:ext cx="786384" cy="5669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06040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94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CRITICAL 22%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606040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5694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HIGH 35%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60604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5694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MEDIUM 28%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2606040"/>
            <a:ext cx="164592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59" y="25694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LOW 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371600"/>
            <a:ext cx="2651760" cy="2286000"/>
          </a:xfrm>
          <a:prstGeom prst="rect">
            <a:avLst/>
          </a:prstGeom>
          <a:solidFill>
            <a:srgbClr val="FFF7ED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C2626"/>
                </a:solidFill>
              </a:rPr>
              <a:t>78%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33172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</a:rPr>
              <a:t>of AWS accounts have
at least 1 CRITICAL
finding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1371600"/>
            <a:ext cx="2651760" cy="22860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A580C"/>
                </a:solidFill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33172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</a:rPr>
              <a:t>average security
findings per account
scan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749039"/>
            <a:ext cx="2651760" cy="22860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D4ED8"/>
                </a:solidFill>
              </a:rPr>
              <a:t>S3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709159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</a:rPr>
              <a:t>most common finding:
S3 public access
misconfiguration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3749039"/>
            <a:ext cx="2651760" cy="228600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59669"/>
                </a:solidFill>
              </a:rPr>
              <a:t>~1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709159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</a:rPr>
              <a:t>average time to fix
all findings with
step-by-step guidance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71800"/>
            <a:ext cx="56692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06324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76D"/>
                </a:solidFill>
              </a:rPr>
              <a:t>Key Insight: 78% of AWS accounts scanned have at least one CRITICAL vulnerability that could lead to data exposure or account compromise.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3093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Source: aggregated VigiliCloud scan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Everything your team needs — without the enterprise complexity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23317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600200"/>
            <a:ext cx="4572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618488"/>
            <a:ext cx="1005840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6367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AI-Powered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9456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AI Security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624328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Claude AI summarises every scan result in plain English. Prioritised findings your CTO can read in 60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749039" cy="23317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600200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618488"/>
            <a:ext cx="100584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6367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19456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Instant Email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24328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Get notified the moment a CRITICAL finding is detected. Real-time awareness across all your connected accounts.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3749039" cy="233172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94192" y="160020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35640" y="1618488"/>
            <a:ext cx="100584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35640" y="16367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One-Click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19456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Compliance Exports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624328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Download CSV or JSON evidence packages for SOC2, ISO 27001, PCI DSS audits with a single click.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31920"/>
            <a:ext cx="3749039" cy="23317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4114800"/>
            <a:ext cx="45720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4133087"/>
            <a:ext cx="100584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41513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Continuous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709159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2-Minute Full Scans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138928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Complete account scan in under 2 minutes. Schedule daily automatic scans for continuous security monitoring.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931920"/>
            <a:ext cx="3749039" cy="23317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62272" y="4114800"/>
            <a:ext cx="4572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133087"/>
            <a:ext cx="100584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41513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Zero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2" y="4709159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Read-Only Safe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5138928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We never store your credentials. Temporary access assumed via IAM role — same method AWS recommends for auditing.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931920"/>
            <a:ext cx="3749039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94192" y="4114800"/>
            <a:ext cx="45720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35640" y="4133087"/>
            <a:ext cx="1005840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5640" y="415137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Actionable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4709159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Exact Fix Guidance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5138928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Every finding: the affected resource ID, the exact AWS Console navigation path, and the CLI command to fix it.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Competitive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How VigiliCloud stacks up against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2185416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417320"/>
            <a:ext cx="2130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276D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888"/>
            <a:ext cx="1572768" cy="475488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1417320"/>
            <a:ext cx="15179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VigiliCloud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2" y="1389888"/>
            <a:ext cx="1572768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7096" y="1417320"/>
            <a:ext cx="15179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276D"/>
                </a:solidFill>
              </a:rPr>
              <a:t>AWS Security 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9864" y="1389888"/>
            <a:ext cx="1572768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8" y="1417320"/>
            <a:ext cx="15179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276D"/>
                </a:solidFill>
              </a:rPr>
              <a:t>Prowler (OSS)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7496" y="1389888"/>
            <a:ext cx="1572768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417320"/>
            <a:ext cx="15179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276D"/>
                </a:solidFill>
              </a:rPr>
              <a:t>Lacework / Orca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5128" y="1389888"/>
            <a:ext cx="1481328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417320"/>
            <a:ext cx="14264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276D"/>
                </a:solidFill>
              </a:rPr>
              <a:t>Manual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20240"/>
            <a:ext cx="218541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011680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76D"/>
                </a:solidFill>
              </a:rPr>
              <a:t>Setup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1920240"/>
            <a:ext cx="1572768" cy="493776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2" y="20116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</a:rPr>
              <a:t>5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2232" y="1920240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5384" y="20116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Hours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9864" y="1920240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43016" y="20116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CLI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7496" y="1920240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648" y="20116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Days + POC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25128" y="1920240"/>
            <a:ext cx="148132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201168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2–3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50592"/>
            <a:ext cx="2185416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542032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76D"/>
                </a:solidFill>
              </a:rPr>
              <a:t>Monthly price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2450592"/>
            <a:ext cx="1572768" cy="493776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87752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</a:rPr>
              <a:t>$99–$999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42232" y="2450592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4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$30–$1,000+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9864" y="2450592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43016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Free (DIY)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97496" y="2450592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0648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$5K–$50K+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25128" y="2450592"/>
            <a:ext cx="148132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254203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Your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980944"/>
            <a:ext cx="218541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3072384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76D"/>
                </a:solidFill>
              </a:rPr>
              <a:t>Guided fix steps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2980944"/>
            <a:ext cx="1572768" cy="493776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87752" y="30723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</a:rPr>
              <a:t>✔ Full steps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2980944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15384" y="30723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None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9864" y="2980944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43016" y="30723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None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97496" y="2980944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70648" y="30723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706"/>
                </a:solidFill>
              </a:rPr>
              <a:t>△ Partial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25128" y="2980944"/>
            <a:ext cx="148132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98280" y="307238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Manual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511296"/>
            <a:ext cx="2185416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3602736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76D"/>
                </a:solidFill>
              </a:rPr>
              <a:t>AI analysis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3511296"/>
            <a:ext cx="1572768" cy="493776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87752" y="360273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</a:rPr>
              <a:t>✔ Claude 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42232" y="3511296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15384" y="360273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None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9864" y="3511296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43016" y="360273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None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97496" y="3511296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0648" y="360273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706"/>
                </a:solidFill>
              </a:rPr>
              <a:t>△ Some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25128" y="3511296"/>
            <a:ext cx="148132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98280" y="360273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None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041648"/>
            <a:ext cx="218541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7472" y="4133087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76D"/>
                </a:solidFill>
              </a:rPr>
              <a:t>No expertise needed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14600" y="4041648"/>
            <a:ext cx="1572768" cy="493776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87752" y="4133087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</a:rPr>
              <a:t>✔ Anyone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42232" y="4041648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15384" y="4133087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AWS expert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69864" y="4041648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43016" y="4133087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Dev only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97496" y="4041648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70648" y="4133087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Security eng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25128" y="4041648"/>
            <a:ext cx="148132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98280" y="413308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Expert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572000"/>
            <a:ext cx="2185416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7472" y="4663440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76D"/>
                </a:solidFill>
              </a:rPr>
              <a:t>Compliance export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14600" y="4572000"/>
            <a:ext cx="1572768" cy="493776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87752" y="46634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</a:rPr>
              <a:t>✔ CSV/JSON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42232" y="4572000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15384" y="46634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706"/>
                </a:solidFill>
              </a:rPr>
              <a:t>△ Partial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69864" y="4572000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43016" y="46634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706"/>
                </a:solidFill>
              </a:rPr>
              <a:t>△ Limited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97496" y="4572000"/>
            <a:ext cx="157276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0648" y="46634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59669"/>
                </a:solidFill>
              </a:rPr>
              <a:t>✔ Enterprise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25128" y="4572000"/>
            <a:ext cx="1481328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98280" y="466344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59669"/>
                </a:solidFill>
              </a:rPr>
              <a:t>✔ Manual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102352"/>
            <a:ext cx="218541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93792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276D"/>
                </a:solidFill>
              </a:rPr>
              <a:t>SMB-friendly pricing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14600" y="5102352"/>
            <a:ext cx="1572768" cy="493776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87752" y="519379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</a:rPr>
              <a:t>✔ 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42232" y="5102352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15384" y="519379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706"/>
                </a:solidFill>
              </a:rPr>
              <a:t>△ Can add up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69864" y="5102352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43016" y="519379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59669"/>
                </a:solidFill>
              </a:rPr>
              <a:t>✔ Free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97496" y="5102352"/>
            <a:ext cx="157276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70648" y="519379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C2626"/>
                </a:solidFill>
              </a:rPr>
              <a:t>✘ Enterprise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25128" y="5102352"/>
            <a:ext cx="1481328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98280" y="519379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59669"/>
                </a:solidFill>
              </a:rPr>
              <a:t>✔ Yes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5705856"/>
            <a:ext cx="1164031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585216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76D"/>
                </a:solidFill>
              </a:rPr>
              <a:t>VigiliCloud is the only tool combining self-service simplicity + AI guidance + compliance exports at SMB-friendly pricing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Why VigiliCloud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The smarter choice for AWS security at every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614416" cy="219456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18488"/>
            <a:ext cx="8229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18488"/>
            <a:ext cx="4242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Up &amp; Running in 5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75688"/>
            <a:ext cx="4242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While competitors require days of setup, agents, and training — VigiliCloud connects in 5 minutes. One IAM role. No maintenance. No AWS expertise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216" y="1417320"/>
            <a:ext cx="5614416" cy="219456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3096" y="1618488"/>
            <a:ext cx="822960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1618488"/>
            <a:ext cx="4242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Alerts That Tell You 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936" y="2075688"/>
            <a:ext cx="4242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Most tools send alerts. We send solutions. Every finding includes the exact resource ID, the AWS Console path, and the CLI command — so your team can fix it immediately.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94760"/>
            <a:ext cx="5614416" cy="21945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995928"/>
            <a:ext cx="82296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9592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995928"/>
            <a:ext cx="4242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Enterprise Results at SMB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453128"/>
            <a:ext cx="4242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Lacework charges $50,000+/year. VigiliCloud Pro starts at $299/month. Same CIS Benchmark coverage, AI-powered analysis, and compliance exports — for 150x less.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3794760"/>
            <a:ext cx="5614416" cy="21945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83096" y="3995928"/>
            <a:ext cx="82296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99592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995928"/>
            <a:ext cx="4242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1,500x Return on 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4453128"/>
            <a:ext cx="4242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One prevented S3 data breach saves $4.5M (IBM 2024). VigiliCloud Pro costs $299/month = $3,588/year. That's 1,255x ROI on a single incident prevented.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053328"/>
            <a:ext cx="11365992" cy="54864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199632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F276D"/>
                </a:solidFill>
              </a:rPr>
              <a:t>78% of AWS accounts have critical vulnerabilities. Be in the 22% who know — and fix them.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Simple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2-week free trial on all plans · No credit card required · Cancel anytime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61188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276D"/>
                </a:solidFill>
              </a:rPr>
              <a:t>$99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94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₹8,299/mo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008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Solo consultants
&amp; freelancers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93008"/>
            <a:ext cx="33375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" y="3749039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675887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Up to 3 AWS accounts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224527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151375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All 10 security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4700016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626864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Fix guidance for every finding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5175504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510235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CSV &amp; JSON exports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5650992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557784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Email alerts on CRITICAL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1688" y="1389888"/>
            <a:ext cx="3611880" cy="516636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10327" y="1188720"/>
            <a:ext cx="2514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7" y="1207008"/>
            <a:ext cx="2514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15544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19385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276D"/>
                </a:solidFill>
              </a:rPr>
              <a:t>$299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2194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/month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268833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₹24,999/mo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299008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Teams &amp; growing
businesses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8848" y="3493008"/>
            <a:ext cx="33375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62855" y="3749039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37175" y="3675887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Up to 10 AWS accounts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62855" y="4224527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7175" y="4151375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Everything in Starter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62855" y="4700016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7175" y="4626864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Claude AI executive summary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62855" y="5175504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37175" y="510235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Scheduled daily auto-scans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855" y="5650992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37175" y="557784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Priority email support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0456" y="1389888"/>
            <a:ext cx="361188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03336" y="15544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MSP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6" y="19385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276D"/>
                </a:solidFill>
              </a:rPr>
              <a:t>$999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06456" y="2194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/month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3336" y="268833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₹83,499/mo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6" y="299008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Agencies &amp; managed
service providers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57616" y="3493008"/>
            <a:ext cx="33375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21624" y="3749039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95944" y="3675887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Unlimited AWS accounts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21624" y="4224527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95944" y="4151375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Everything in Pro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1624" y="4700016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95944" y="4626864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Multi-customer dashboard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21624" y="5175504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95944" y="510235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High-volume scanning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21624" y="5650992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95944" y="557784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White-label ready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660196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All plans: Read-only AWS access  ·  HTTPS encrypted  ·  No data stored  ·  Billed in INR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What Our Users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Real results from real AWS account scans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4864" cy="4389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★ ★ ★ ★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"VigiliCloud found 6 CRITICAL misconfigurations in our production account we had no idea about. Fixed everything in one afternoon — before our SOC2 audit."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54880"/>
            <a:ext cx="47548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47731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Rahul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5047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CTO, SaaS Startup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53035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Bangalore, India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17320"/>
            <a:ext cx="54864" cy="4389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5727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★ ★ ★ ★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"As an AWS consultant I manage 12 client accounts. VigiliCloud cut my security review time from 2 full days down to under 10 minutes. Absolute game changer."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754880"/>
            <a:ext cx="475488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7548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47731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Priya 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5047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AWS Consultant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53035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Hyderabad, India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141732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9" y="1417320"/>
            <a:ext cx="54864" cy="4389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15727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★ ★ ★ ★ 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201168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"We needed compliance evidence to close an enterprise deal. VigiliCloud gave us the SOC2 exports in one click — the deal closed the next day."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19" y="4754880"/>
            <a:ext cx="475488" cy="47548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47548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47731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James 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5047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VP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53035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Austin, Texas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989320"/>
            <a:ext cx="11365992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Trusted by AWS Consultants  ·  DevOps Teams  ·  Startups  ·  MSPs  ·  Security Engineers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Your AWS account has security gaps.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The question isn't if — it's how many, and how critical.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874519"/>
            <a:ext cx="450799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176272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2084831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FDBFF"/>
                </a:solidFill>
              </a:rPr>
              <a:t>82% of cloud breaches start with a misconfiguration you could have caught in 2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724912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63347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FDBFF"/>
                </a:solidFill>
              </a:rPr>
              <a:t>Root access keys, open S3 buckets, missing MFA — they're in most AWS accounts right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73551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3182111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FDBFF"/>
                </a:solidFill>
              </a:rPr>
              <a:t>Enterprise deals now require security evidence — VigiliCloud generates it instantly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822191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37307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FDBFF"/>
                </a:solidFill>
              </a:rPr>
              <a:t>Your competitors are already scanning. The 2-week trial is free. There's no reason to wait.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389120"/>
            <a:ext cx="8897112" cy="1600200"/>
          </a:xfrm>
          <a:prstGeom prst="rect">
            <a:avLst/>
          </a:prstGeom>
          <a:solidFill>
            <a:srgbClr val="1A3A7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4389120"/>
            <a:ext cx="889711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498848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Start FREE — No Credit Card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10912"/>
            <a:ext cx="8531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app.vigilicloud.com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468112"/>
            <a:ext cx="8531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Connect your AWS account in 5 minutes  ·  2-week free trial  ·  Cancel anytime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961888"/>
            <a:ext cx="8531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Questions? leelakrishnakoppolu@gmail.com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