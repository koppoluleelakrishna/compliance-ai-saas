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658368" cy="658368"/>
          </a:xfrm>
          <a:prstGeom prst="rect">
            <a:avLst/>
          </a:prstGeom>
          <a:solidFill>
            <a:srgbClr val="062A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170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4D399"/>
                </a:solidFill>
              </a:rPr>
              <a:t>AWS Compliance AI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3035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3A3A3"/>
                </a:solidFill>
              </a:rPr>
              <a:t>Where We Are Today  +  Where We're Going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34747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10 checks live
Full SaaS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514600"/>
            <a:ext cx="34747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514600"/>
            <a:ext cx="34747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6517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9067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AI fix plans
Evidence packs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514600"/>
            <a:ext cx="34747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514600"/>
            <a:ext cx="34747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6517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12+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09067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MCP governance
Enterprise-ready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411480"/>
            <a:ext cx="2926080" cy="5303520"/>
          </a:xfrm>
          <a:prstGeom prst="rect">
            <a:avLst/>
          </a:prstGeom>
          <a:solidFill>
            <a:srgbClr val="161616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94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LIVE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960120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0515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S3 Public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35640" y="1033272"/>
            <a:ext cx="100584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10424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421892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5133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Root Access Keys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35640" y="1495044"/>
            <a:ext cx="100584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5640" y="15041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883664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975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IAM Permissions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35640" y="1956816"/>
            <a:ext cx="100584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196596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345436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4368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MFA Enforcement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35640" y="2418588"/>
            <a:ext cx="100584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35640" y="242773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2807208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2898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Security Groups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35640" y="2880360"/>
            <a:ext cx="100584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35640" y="288950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3268980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33604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RDS Encryption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35640" y="3342132"/>
            <a:ext cx="100584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35640" y="33512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730752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8221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EBS Encryption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35640" y="3803904"/>
            <a:ext cx="1005840" cy="2560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35640" y="381304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4192524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42839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CloudTrail Logging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35640" y="4265676"/>
            <a:ext cx="1005840" cy="2560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35640" y="42748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4654296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7457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VPC Flow Logs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35640" y="4727448"/>
            <a:ext cx="1005840" cy="2560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35640" y="47365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5116068"/>
            <a:ext cx="2834640" cy="420624"/>
          </a:xfrm>
          <a:prstGeom prst="rect">
            <a:avLst/>
          </a:prstGeom>
          <a:solidFill>
            <a:srgbClr val="101010"/>
          </a:solidFill>
          <a:ln w="508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52075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KMS Key Rotation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35640" y="5189220"/>
            <a:ext cx="1005840" cy="25603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35640" y="51983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</a:rPr>
              <a:t>Leela Krishna Koppolu  |  vigilicloud.com  | 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73278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7327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VigiliCloud Is — and Where It's Going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3749039" cy="4572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3749039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2316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Connect AWS via a read-only role and collect full configuration inventory.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2461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Run high-signal checks (public exposure, IAM risk, logging, encryption).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0690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Generate AI remediation plans with IaC/CLI snippets and rollback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89204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Export audit-ready evidence packs (SOC2/ISO) and questionnaire drafts.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74519"/>
            <a:ext cx="3749039" cy="4572000"/>
          </a:xfrm>
          <a:prstGeom prst="rect">
            <a:avLst/>
          </a:prstGeom>
          <a:solidFill>
            <a:srgbClr val="1616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74519"/>
            <a:ext cx="3749039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WHO BUYS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MSPs / agencies managing many AWS accounts — bundle + resell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461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Startups preparing for SOC2 or enterprise deals — need evidence + fixes.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0690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SaaS companies answering customer security questionnaires.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89204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DevOps teams who know something is wrong but don't know where to start.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874519"/>
            <a:ext cx="3749039" cy="457200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1874519"/>
            <a:ext cx="3749039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WHY IT WINS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42316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Clear pain + clear ROI: reduce risk, speed audits, unblock sales deals.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2461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Narrow MVP is live and shippable today — no months of setup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0690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Clean bridge to MCP governance using the same approval + audit primitives.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489204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  Only tool combining simplicity + AI guidance + exports at SMB pricing.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21158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2115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AWS misconfigurations are the #1 cause of cloud data breaches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743200" cy="2286000"/>
          </a:xfrm>
          <a:prstGeom prst="rect">
            <a:avLst/>
          </a:prstGeom>
          <a:solidFill>
            <a:srgbClr val="16161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</a:rP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2468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of breaches involve
misconfigured cloud
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737360"/>
            <a:ext cx="2743200" cy="2286000"/>
          </a:xfrm>
          <a:prstGeom prst="rect">
            <a:avLst/>
          </a:prstGeom>
          <a:solidFill>
            <a:srgbClr val="161616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92024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</a:rPr>
              <a:t>$4.5M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697480"/>
            <a:ext cx="2468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average cost of a
cloud data breach
(IBM 2024)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737360"/>
            <a:ext cx="2743200" cy="2286000"/>
          </a:xfrm>
          <a:prstGeom prst="rect">
            <a:avLst/>
          </a:prstGeom>
          <a:solidFill>
            <a:srgbClr val="161616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92024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AB308"/>
                </a:solidFill>
              </a:rP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697480"/>
            <a:ext cx="2468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of companies don't
know their full AWS
security posture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8864" y="1737360"/>
            <a:ext cx="2743200" cy="228600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192024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2697480"/>
            <a:ext cx="2468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3A3A3"/>
                </a:solidFill>
              </a:rPr>
              <a:t>average time to detect
a critical
misconfiguration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Root causes that keep this problem alive: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08576"/>
            <a:ext cx="114300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36592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91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No single view into who has admin access, what data is exposed, or what's drifted from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38928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1149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Manual security audits take 2-3 days and still miss misconfigurations automated scanning catches instantly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41264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138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Engineers know something is wrong but have no clear fix path — every finding needs research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43600"/>
            <a:ext cx="457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161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SOC2 and ISO 27001 evidence takes weeks to compile manually; one misconfiguration kills a deal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993391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9933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OUR SOLUTION —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Live product: AWS security posture in 3 simple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703320" cy="4160520"/>
          </a:xfrm>
          <a:prstGeom prst="rect">
            <a:avLst/>
          </a:prstGeom>
          <a:solidFill>
            <a:srgbClr val="1616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033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84831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8483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60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Connect AWS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28416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Create a read-only IAM role, paste the ARN. No agents. No installs. No AWS expertise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349240"/>
            <a:ext cx="32461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37667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606"/>
                </a:solidFill>
              </a:rPr>
              <a:t>5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920240"/>
            <a:ext cx="3703320" cy="4160520"/>
          </a:xfrm>
          <a:prstGeom prst="rect">
            <a:avLst/>
          </a:prstGeom>
          <a:solidFill>
            <a:srgbClr val="16161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920240"/>
            <a:ext cx="37033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7992" y="2084831"/>
            <a:ext cx="64008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606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8163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a Full Security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328416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VigiliCloud checks all 10 security areas across your entire AWS account simultaneously.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5349240"/>
            <a:ext cx="324612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537667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606"/>
                </a:solidFill>
              </a:rPr>
              <a:t>~2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3024" y="1920240"/>
            <a:ext cx="3703320" cy="4160520"/>
          </a:xfrm>
          <a:prstGeom prst="rect">
            <a:avLst/>
          </a:prstGeom>
          <a:solidFill>
            <a:srgbClr val="161616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4" y="1920240"/>
            <a:ext cx="37033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21624" y="2084831"/>
            <a:ext cx="640080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208483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0606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81635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Fix Issues &amp; Export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328416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Every finding ships with exact AWS Console path, CLI command, and one-click compliance export.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21624" y="5349240"/>
            <a:ext cx="324612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4" y="537667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606"/>
                </a:solidFill>
              </a:rPr>
              <a:t>Audit-ready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89320"/>
            <a:ext cx="11430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25252"/>
                </a:solidFill>
              </a:rPr>
              <a:t>Free 2-week trial  |  No credit card  |  Works with any AWS account  |  Read-only access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819656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819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WHAT WE SCAN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10 Critical Security Checks — CIS AWS Foundations Benchmark aligned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73736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737360"/>
            <a:ext cx="2212848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78308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212140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S3 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56032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Open buckets, public ACLs
&amp; exposed bucket 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73736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737360"/>
            <a:ext cx="2212848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78308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2140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Root Access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6032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Active root account keys —
most dangerous misconfiguration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4336" y="173736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74336" y="1737360"/>
            <a:ext cx="2212848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178308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12140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IAM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56032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Over-permissioned roles
&amp; unnecessary admin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73736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737360"/>
            <a:ext cx="2212848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78308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212140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MFA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56032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Missing MFA on IAM users
and root account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56064" y="173736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56064" y="1737360"/>
            <a:ext cx="2212848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6064" y="178308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12140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Security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256032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EC2 ports open to internet
(0.0.0.0/0)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" y="416052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" y="4160520"/>
            <a:ext cx="2212848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420624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45445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RDS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498348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Unencrypted databases
&amp; publicly accessible RDS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3472" y="416052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33472" y="4160520"/>
            <a:ext cx="2212848" cy="2743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3472" y="420624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5445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EBS Encryption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98348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Unencrypted volumes
&amp; missing default encryption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74336" y="416052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74336" y="4160520"/>
            <a:ext cx="2212848" cy="2743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74336" y="420624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4064" y="45445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CloudTrail Logging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4064" y="498348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Inactive trails, missing
multi-region &amp; log 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416052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0" y="4160520"/>
            <a:ext cx="2212848" cy="2743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420624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45445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VPC Flow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4927" y="498348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Network traffic not logged
— forensic blind spot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56064" y="4160520"/>
            <a:ext cx="2212848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56064" y="4160520"/>
            <a:ext cx="2212848" cy="2743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56064" y="4206240"/>
            <a:ext cx="2212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0606"/>
                </a:solidFill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5792" y="454456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KMS Key Rotation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2" y="4983480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</a:rPr>
              <a:t>Customer-managed keys
not auto-rotating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2253996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22539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KEY FEATURES — LIVE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Everything your team needs — nothing you don't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749039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79" y="1993392"/>
            <a:ext cx="1051560" cy="246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11680"/>
            <a:ext cx="1051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AI-Powered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93392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93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606"/>
                </a:solidFill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7860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Security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999232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Claude AI summarises every scan, prioritises what to fix first, and explains risks in plain English your CTO can read in 60 seconds.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749039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993392"/>
            <a:ext cx="1051560" cy="2468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011680"/>
            <a:ext cx="1051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Real-Time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1993392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993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606"/>
                </a:solidFill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57860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Email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999232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Get instantly notified when a CRITICAL finding is detected. Real-time awareness across all connected AWS accounts.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3749039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9920" y="1993392"/>
            <a:ext cx="1051560" cy="2468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2011680"/>
            <a:ext cx="1051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One-Click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1993392"/>
            <a:ext cx="457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993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606"/>
                </a:solidFill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57860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Compliance Exports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999232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Export findings as CSV or JSON for SOC2, ISO 27001, PCI DSS audits with a single click. Evidence-ready in under 2 minutes.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3749039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79" y="4416552"/>
            <a:ext cx="1051560" cy="2468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4434840"/>
            <a:ext cx="1051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Continuous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4416552"/>
            <a:ext cx="4572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416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606"/>
                </a:solidFill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00176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2-Minute Full Scans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422392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Complete account scan in under 2 minutes. Schedule daily auto-scans for continuous monitoring without manual effort.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251960"/>
            <a:ext cx="3749039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4416552"/>
            <a:ext cx="1051560" cy="24688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434840"/>
            <a:ext cx="1051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Zero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2272" y="4416552"/>
            <a:ext cx="457200" cy="457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2" y="4416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606"/>
                </a:solidFill>
              </a:rP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2272" y="500176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Read-Only Safe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5422392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We never store your credentials. Temporary access via IAM role — same method AWS recommends. Zero risk to your account.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251960"/>
            <a:ext cx="3749039" cy="2267712"/>
          </a:xfrm>
          <a:prstGeom prst="rect">
            <a:avLst/>
          </a:prstGeom>
          <a:solidFill>
            <a:srgbClr val="16161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89920" y="4416552"/>
            <a:ext cx="1051560" cy="2468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0" y="4434840"/>
            <a:ext cx="1051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Actionable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94192" y="4416552"/>
            <a:ext cx="45720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4416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0606"/>
                </a:solidFill>
              </a:rPr>
              <a:t>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500176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Exact Fix Guidance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5422392"/>
            <a:ext cx="34015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Every finding includes the affected resource ID, AWS Console navigation path, and the CLI command to fix it. Close the loop instantly.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208026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2080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VigiliCloud stacks up — simplicity + AI + exports at SMB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20574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764792"/>
            <a:ext cx="19933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377439" y="1737360"/>
            <a:ext cx="158191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3" y="1764792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60606"/>
                </a:solidFill>
              </a:rPr>
              <a:t>VigiliCloud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5072" y="1737360"/>
            <a:ext cx="1581912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9935" y="1764792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>AWS Security 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2704" y="1737360"/>
            <a:ext cx="1581912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1764792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>Prowler (OSS)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0336" y="1737360"/>
            <a:ext cx="1581912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764792"/>
            <a:ext cx="151790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>Lacework / Orca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737360"/>
            <a:ext cx="1463039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1764792"/>
            <a:ext cx="13990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A3A3"/>
                </a:solidFill>
              </a:rPr>
              <a:t>Manual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86000"/>
            <a:ext cx="205740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2377440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Setup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39" y="2286000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1447" y="2377440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5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2286000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377440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Hours +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32704" y="2286000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2377440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CLI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2286000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2377440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Days + POC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2286000"/>
            <a:ext cx="1463039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1976" y="2377440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2–3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02636"/>
            <a:ext cx="2057400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2894076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Monthly price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39" y="2802636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7" y="2894076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$99–$999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5072" y="2802636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894076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$30–$1,000+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2704" y="2802636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2894076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Free (DIY)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2802636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4344" y="2894076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$5K–$50K+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87968" y="2802636"/>
            <a:ext cx="1463039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2894076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Your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319272"/>
            <a:ext cx="205740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" y="3410712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Guided fix steps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39" y="3319272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41447" y="3410712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Full steps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05072" y="3319272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3410712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None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32704" y="3319272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6712" y="3410712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None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0336" y="3319272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24344" y="3410712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87968" y="3319272"/>
            <a:ext cx="1463039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51976" y="3410712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835908"/>
            <a:ext cx="2057400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" y="3927348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AI analysis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39" y="3835908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41447" y="392734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Claude 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05072" y="3835908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392734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None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32704" y="3835908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96712" y="392734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None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60336" y="3835908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24344" y="392734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Some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887968" y="3835908"/>
            <a:ext cx="1463039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51976" y="3927348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None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352544"/>
            <a:ext cx="205740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" y="4443983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No expertise needed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77439" y="4352544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41447" y="4443983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Anyone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05072" y="4352544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4443983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AWS expert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32704" y="4352544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96712" y="4443983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Dev only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60336" y="4352544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24344" y="4443983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Security eng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87968" y="4352544"/>
            <a:ext cx="1463039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51976" y="4443983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Expert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869179"/>
            <a:ext cx="2057400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8328" y="4960619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Compliance export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77439" y="4869179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41447" y="4960619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CSV / JSON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05072" y="4869179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4960619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Partial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32704" y="4869179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96712" y="4960619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Limited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60336" y="4869179"/>
            <a:ext cx="1581912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24344" y="4960619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Enterprise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887968" y="4869179"/>
            <a:ext cx="1463039" cy="475488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51976" y="4960619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3A3A3"/>
                </a:solidFill>
              </a:rPr>
              <a:t>Manual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5385816"/>
            <a:ext cx="2057400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8328" y="5477255"/>
            <a:ext cx="19751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SMB-friendly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377439" y="5385816"/>
            <a:ext cx="1581912" cy="475488"/>
          </a:xfrm>
          <a:prstGeom prst="rect">
            <a:avLst/>
          </a:prstGeom>
          <a:solidFill>
            <a:srgbClr val="0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41447" y="5477255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Yes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05072" y="5385816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69080" y="5477255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Complex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32704" y="5385816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96712" y="5477255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AB308"/>
                </a:solidFill>
              </a:rPr>
              <a:t>Dev tool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60336" y="5385816"/>
            <a:ext cx="1581912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24344" y="5477255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F4444"/>
                </a:solidFill>
              </a:rPr>
              <a:t>Enterprise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87968" y="5385816"/>
            <a:ext cx="1463039" cy="47548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51976" y="5477255"/>
            <a:ext cx="13807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4D399"/>
                </a:solidFill>
              </a:rPr>
              <a:t>Yes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4320" y="638251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4D399"/>
                </a:solidFill>
              </a:rPr>
              <a:t>VigiliCloud is the only tool combining self-service simplicity + AI guidance + compliance exports at SMB-friendly pricing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559052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5590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PRICING —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Simple, transparent pricing with a 2-week free trial on all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3611880" cy="4709160"/>
          </a:xfrm>
          <a:prstGeom prst="rect">
            <a:avLst/>
          </a:prstGeom>
          <a:solidFill>
            <a:srgbClr val="161616"/>
          </a:solidFill>
          <a:ln w="9525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5252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$99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A3A3"/>
                </a:solidFill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5252"/>
                </a:solidFill>
              </a:rPr>
              <a:t>₹8,299/mo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Solo consultants
&amp; freelancers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58768"/>
            <a:ext cx="3337560" cy="2743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4114800"/>
            <a:ext cx="182880" cy="18288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0233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Up to 3 AWS accounts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572000"/>
            <a:ext cx="182880" cy="18288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4805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All 10 security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5029200"/>
            <a:ext cx="182880" cy="18288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9377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Fix guidance for every finding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486400"/>
            <a:ext cx="182880" cy="18288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3949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CSV &amp; JSON exports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5943600"/>
            <a:ext cx="182880" cy="18288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521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Email alerts on 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828800"/>
            <a:ext cx="3611880" cy="4709160"/>
          </a:xfrm>
          <a:prstGeom prst="rect">
            <a:avLst/>
          </a:prstGeom>
          <a:solidFill>
            <a:srgbClr val="062A1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600200"/>
            <a:ext cx="21488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627632"/>
            <a:ext cx="2148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MOST POPULAR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199339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39572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$299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A3A3"/>
                </a:solidFill>
              </a:rPr>
              <a:t>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0906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5252"/>
                </a:solidFill>
              </a:rPr>
              <a:t>₹24,999/mo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3832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Teams managing
multiple environments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3858768"/>
            <a:ext cx="3337560" cy="2743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98848" y="411480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40233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Up to 10 AWS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8848" y="457200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73168" y="44805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Everything in Starter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98848" y="502920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49377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Claude AI executive summary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848" y="548640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3168" y="53949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Scheduled daily auto-scans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8848" y="594360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58521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Priority email support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1828800"/>
            <a:ext cx="3611880" cy="4709160"/>
          </a:xfrm>
          <a:prstGeom prst="rect">
            <a:avLst/>
          </a:prstGeom>
          <a:solidFill>
            <a:srgbClr val="161616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59" y="199339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MSP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59" y="239572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$999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19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A3A3"/>
                </a:solidFill>
              </a:rPr>
              <a:t>/mo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30906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25252"/>
                </a:solidFill>
              </a:rPr>
              <a:t>₹83,499/mo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59" y="33832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Agencies &amp;
managed service providers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858768"/>
            <a:ext cx="3337560" cy="2743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85048" y="4114800"/>
            <a:ext cx="18288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9367" y="40233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Unlimited AWS accounts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85048" y="4572000"/>
            <a:ext cx="18288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7" y="44805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Everything in Pro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85048" y="5029200"/>
            <a:ext cx="18288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49377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Multi-customer workflows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5048" y="5486400"/>
            <a:ext cx="18288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9367" y="53949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High-volume scanning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85048" y="5943600"/>
            <a:ext cx="182880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59367" y="5852160"/>
            <a:ext cx="2944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White-label ready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56539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5252"/>
                </a:solidFill>
              </a:rPr>
              <a:t>All plans: Read-only AWS access  |  HTTPS encrypted  |  No data stored  |  Cancel anytime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559052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5590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PRODUCT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What's live, what's next, and the full expansion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2834640" cy="4434840"/>
          </a:xfrm>
          <a:prstGeom prst="rect">
            <a:avLst/>
          </a:prstGeom>
          <a:solidFill>
            <a:srgbClr val="16161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834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938528"/>
            <a:ext cx="182880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568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LIVE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28600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SCAN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843784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AWS inventory collection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3483863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34198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10 high-signal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4123944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40599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Severity +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4764024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Drift history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2696" y="1874519"/>
            <a:ext cx="2834640" cy="443484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82696" y="1874519"/>
            <a:ext cx="28346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47288" y="1938528"/>
            <a:ext cx="1828800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19568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NEXT 3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228600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AI FIX PLANNER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8" y="2843784"/>
            <a:ext cx="164592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IaC / CLI snippets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47288" y="3483863"/>
            <a:ext cx="164592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4198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Rollback steps 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47288" y="4123944"/>
            <a:ext cx="164592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0599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Blast-radius 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47288" y="4764024"/>
            <a:ext cx="164592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Plain-English explanations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1874519"/>
            <a:ext cx="2834640" cy="4434840"/>
          </a:xfrm>
          <a:prstGeom prst="rect">
            <a:avLst/>
          </a:prstGeom>
          <a:solidFill>
            <a:srgbClr val="161616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1874519"/>
            <a:ext cx="283464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9944" y="1938528"/>
            <a:ext cx="1828800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19568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NEXT 6 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228600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EVIDENCE 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9944" y="2843784"/>
            <a:ext cx="164592" cy="1645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5976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SOC2 / ISO control maps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9944" y="3483863"/>
            <a:ext cx="164592" cy="1645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5976" y="34198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Change history exports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9944" y="4123944"/>
            <a:ext cx="164592" cy="1645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5976" y="40599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Security questionnaire drafts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9944" y="4764024"/>
            <a:ext cx="164592" cy="1645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5976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One-click PDF / CSV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08008" y="1874519"/>
            <a:ext cx="2834640" cy="4434840"/>
          </a:xfrm>
          <a:prstGeom prst="rect">
            <a:avLst/>
          </a:prstGeom>
          <a:solidFill>
            <a:srgbClr val="161616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08008" y="1874519"/>
            <a:ext cx="2834640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1938528"/>
            <a:ext cx="1828800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19568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0606"/>
                </a:solidFill>
              </a:rPr>
              <a:t>6–12 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2286000"/>
            <a:ext cx="2505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AUTOMATION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843784"/>
            <a:ext cx="164592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28632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Jira / GitHub PR drafts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600" y="3483863"/>
            <a:ext cx="164592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28632" y="34198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Guided remediation flows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4123944"/>
            <a:ext cx="164592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28632" y="40599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Drift monitoring alerts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4764024"/>
            <a:ext cx="164592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28632" y="4700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Approval gate workflows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solidFill>
            <a:srgbClr val="16161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Phase 2 (12–24 months): MSP multi-tenant reporting  |  Approval gates  |  MCP governance connector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64592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12-MONTH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AWS first → automation layer → MCP governance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2834640" cy="4160520"/>
          </a:xfrm>
          <a:prstGeom prst="rect">
            <a:avLst/>
          </a:prstGeom>
          <a:solidFill>
            <a:srgbClr val="16161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874519"/>
            <a:ext cx="28346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938528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Months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4942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798064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30 target accounts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401568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3328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15 discovery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005072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3931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Top 15 security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4608576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Dashboard + exports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5212080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Paid pilots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874519"/>
            <a:ext cx="2834640" cy="416052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82696" y="1874519"/>
            <a:ext cx="28346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1938528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Months 4–6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224942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AI &amp;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8" y="2798064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AI fix plan generator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47288" y="3401568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2" y="3328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IaC/CLI snippets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47288" y="4005072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3931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Evidence pack templates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47288" y="4608576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5032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SOC2/ISO control mapping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47288" y="5212080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2 paying pilots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1874519"/>
            <a:ext cx="2834640" cy="4160520"/>
          </a:xfrm>
          <a:prstGeom prst="rect">
            <a:avLst/>
          </a:prstGeom>
          <a:solidFill>
            <a:srgbClr val="161616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45352" y="1874519"/>
            <a:ext cx="283464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1938528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</a:rPr>
              <a:t>Months 7–9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224942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2798064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47688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Jira / GitHub PR drafts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3401568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7688" y="3328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Approval gate workflows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9944" y="4005072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7688" y="3931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Drift 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9944" y="4608576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47688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MSP multi-tenant 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5212080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47688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5+ paying accounts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08008" y="1874519"/>
            <a:ext cx="2834640" cy="4160520"/>
          </a:xfrm>
          <a:prstGeom prst="rect">
            <a:avLst/>
          </a:prstGeom>
          <a:solidFill>
            <a:srgbClr val="161616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08008" y="1874519"/>
            <a:ext cx="2834640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1938528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</a:rPr>
              <a:t>Months 10–12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224942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SCALE &amp; LAUNCH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600" y="2798064"/>
            <a:ext cx="146304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10344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MSP bundles + billing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3401568"/>
            <a:ext cx="146304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10344" y="3328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Pricing tier polish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4005072"/>
            <a:ext cx="146304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10344" y="39319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Partner with 2 MSPs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72600" y="4608576"/>
            <a:ext cx="146304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0344" y="4535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Public beta launch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72600" y="5212080"/>
            <a:ext cx="146304" cy="1463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10344" y="5138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Content + SEO strategy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63240" y="6144768"/>
            <a:ext cx="219456" cy="21945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90672" y="613562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&gt;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25896" y="6144768"/>
            <a:ext cx="219456" cy="21945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53328" y="613562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&gt;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6144768"/>
            <a:ext cx="219456" cy="21945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15984" y="613562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&gt;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6080760"/>
            <a:ext cx="11521440" cy="658368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14476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Decision Gate: Close 3 paying pilots by Month 6 → proves the business. Then scale features and move toward MCP governance layer.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29844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Designed for today — built to extend into MCP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11430000" cy="749808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4864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AWS CONNECTOR (Read-Only)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94767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Collect inventory snapshot via assumed IAM role — no credentials stored.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0" y="2075688"/>
            <a:ext cx="77724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209397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11430000" cy="749808"/>
          </a:xfrm>
          <a:prstGeom prst="rect">
            <a:avLst/>
          </a:prstGeom>
          <a:solidFill>
            <a:srgbClr val="161616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4864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RULE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1635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10–20 checks + severity scoring + drift history tracking per account.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0" y="2944368"/>
            <a:ext cx="77724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2962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79"/>
            <a:ext cx="11430000" cy="749808"/>
          </a:xfrm>
          <a:prstGeom prst="rect">
            <a:avLst/>
          </a:prstGeom>
          <a:solidFill>
            <a:srgbClr val="16161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11879"/>
            <a:ext cx="54864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8503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AI FIX 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685031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IaC/CLI snippets + rollback steps + blast-radius impact + plain-English.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0" y="3813048"/>
            <a:ext cx="777240" cy="2377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3831335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NEXT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59"/>
            <a:ext cx="11430000" cy="749808"/>
          </a:xfrm>
          <a:prstGeom prst="rect">
            <a:avLst/>
          </a:prstGeom>
          <a:solidFill>
            <a:srgbClr val="16161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480559"/>
            <a:ext cx="54864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537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APPROVAL + AUDIT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55371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Who approved, what changed, immutable logs — safety-first for actions.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0" y="4681727"/>
            <a:ext cx="777240" cy="2377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0" y="470001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PHASE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11430000" cy="749808"/>
          </a:xfrm>
          <a:prstGeom prst="rect">
            <a:avLst/>
          </a:prstGeom>
          <a:solidFill>
            <a:srgbClr val="161616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54864" cy="7498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4223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UI + EXPORTS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4223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Dashboard, email alerts, CSV/JSON evidence packs, questionnaire drafts.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0" y="5550407"/>
            <a:ext cx="77724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556869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60606"/>
                </a:solidFill>
              </a:rPr>
              <a:t>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236208"/>
            <a:ext cx="11430000" cy="530352"/>
          </a:xfrm>
          <a:prstGeom prst="rect">
            <a:avLst/>
          </a:prstGeom>
          <a:solidFill>
            <a:srgbClr val="062A1E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291072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</a:rPr>
              <a:t>Future-proofing: design remediation actions as reusable 'tools' with approvals + audit. The same engine will govern MCP tool calls across enterprise systems in Phase 2.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47218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472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PHASE 2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Bridge to MCP Governance — 12 to 24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01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Why the transition is natural: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562356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56235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Compliance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Actions = remediation steps (mostly AWS).
Approvals on fix changes.
Audit trail of what changed.
Exports for SOC2/ISO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377440"/>
            <a:ext cx="562356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77440"/>
            <a:ext cx="562356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48716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</a:rPr>
              <a:t>MCP TOMORROW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07792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Actions = tools across enterprise apps.
Approvals for every tool invocation.
Audit trail for all agent actions.
Exports for enterprise governance.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98848"/>
            <a:ext cx="562356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498848"/>
            <a:ext cx="562356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085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8BDF8"/>
                </a:solidFill>
              </a:rPr>
              <a:t>WHAT YOU REUSE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Approval engine primitives.
Audit logging + exports.
Actions-as-tools design pattern.
Least-privilege access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498848"/>
            <a:ext cx="5623560" cy="1965960"/>
          </a:xfrm>
          <a:prstGeom prst="rect">
            <a:avLst/>
          </a:prstGeom>
          <a:solidFill>
            <a:srgbClr val="161616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498848"/>
            <a:ext cx="5623560" cy="502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60857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</a:rPr>
              <a:t>WHAT YOU ADD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029200"/>
            <a:ext cx="5257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MCP connector packs (Jira, Slack, GitHub).
Tool allowlists + enterprise policies.
RBAC + approvals at scale.
Connector marketplace.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solidFill>
            <a:srgbClr val="161616"/>
          </a:solidFill>
          <a:ln w="76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3A3A3"/>
                </a:solidFill>
              </a:rPr>
              <a:t>Rule of thumb: build the approval + audit layer first. Connectors and marketplace come later. Same architecture, different scope.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216712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2167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GO-TO-MARKET +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Fastest channels, pilot strategy, and 3-year financial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Fastest Channels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40864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04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MSPs / Agencies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Bundle + resell to their existing AWS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99232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SOC2 Startups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369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Need evidence + fix path before an enterprise deal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45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21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Founder Outbound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953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Direct LinkedIn + content targeting DevOps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Pilot Offer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45152"/>
            <a:ext cx="5486400" cy="1508760"/>
          </a:xfrm>
          <a:prstGeom prst="rect">
            <a:avLst/>
          </a:prstGeom>
          <a:solidFill>
            <a:srgbClr val="16161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365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4D399"/>
                </a:solidFill>
              </a:rPr>
              <a:t>"2 AWS accounts + top risks + AI fix plan + evidence pack in 30 days."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Charge $2k–$10k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Convert to $199–$999/mo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</a:rPr>
              <a:t>Expand accounts + features as trust grows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87451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3-Year Revenue Snapshot (Illustrative)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331720"/>
            <a:ext cx="557784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2331720"/>
            <a:ext cx="55778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Year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889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5–10 paying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0603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</a:rPr>
              <a:t>$6K–$60K ARR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703320"/>
            <a:ext cx="557784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3703320"/>
            <a:ext cx="557784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794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Year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60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30–60 accounts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97763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8BDF8"/>
                </a:solidFill>
              </a:rPr>
              <a:t>$36K–$360K ARR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5074920"/>
            <a:ext cx="5577840" cy="118872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5074920"/>
            <a:ext cx="557784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166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Year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532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100+ accounts + MSP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3492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A78BFA"/>
                </a:solidFill>
              </a:rPr>
              <a:t>$120K–$1.2M ARR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647395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25252"/>
                </a:solidFill>
              </a:rPr>
              <a:t>Assumptions: COGS ~20%. This is illustrative — edit to match reality.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8895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190652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530352"/>
            <a:ext cx="19065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0606"/>
                </a:solidFill>
              </a:rPr>
              <a:t>RISKS +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could slow us down — and how we stay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3A3A3"/>
                </a:solidFill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874519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3A3A3"/>
                </a:solidFill>
              </a:rPr>
              <a:t>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11430000" cy="2743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39496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029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328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Crowded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331720"/>
            <a:ext cx="571500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331720"/>
            <a:ext cx="5029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441448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Start narrow (public exposure + IAM) and be best-in-class at those checks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539496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5029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538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False positives reduce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337560"/>
            <a:ext cx="571500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337560"/>
            <a:ext cx="50292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447288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Prioritise precision + explainability over recall. Ship with confidence scores.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539496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50292" cy="8229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5445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High security expectations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526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343400"/>
            <a:ext cx="571500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4343400"/>
            <a:ext cx="50292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4453128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Read-only by default. Immutable audit trail. Clear rollback guidance for all 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539496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5029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5504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Long sales cycles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532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5252"/>
                </a:solidFill>
              </a:rP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349240"/>
            <a:ext cx="5715000" cy="822960"/>
          </a:xfrm>
          <a:prstGeom prst="rect">
            <a:avLst/>
          </a:prstGeom>
          <a:solidFill>
            <a:srgbClr val="161616"/>
          </a:solidFill>
          <a:ln w="889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5349240"/>
            <a:ext cx="5029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5458968"/>
            <a:ext cx="5349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</a:rPr>
              <a:t>Sell paid pilots before scaling build. Close 3 pilots = business proven.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382512"/>
            <a:ext cx="11430000" cy="384048"/>
          </a:xfrm>
          <a:prstGeom prst="rect">
            <a:avLst/>
          </a:prstGeom>
          <a:solidFill>
            <a:srgbClr val="062A1E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</a:rPr>
              <a:t>Non-Negotiables for Trust:  Read-only by default  |  Least privilege for any actions  |  Immutable audit trail  |  Clear rollback guidance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Your AWS account has security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0908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</a:rPr>
              <a:t>The question isn't if — it's how many, and how critical.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737360"/>
            <a:ext cx="432511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703320" cy="3337560"/>
          </a:xfrm>
          <a:prstGeom prst="rect">
            <a:avLst/>
          </a:prstGeom>
          <a:solidFill>
            <a:srgbClr val="16161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0332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0–30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87168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4323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30 target accounts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0266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15 discovery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75888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62102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Top 15 checks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70248"/>
            <a:ext cx="146304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21538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Pilot offer + landing 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920240"/>
            <a:ext cx="3703320" cy="333756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920240"/>
            <a:ext cx="3703320" cy="502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9933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31–60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487168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24323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AWS onboarding + scanner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081528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0266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Dashboard + exports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675888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362102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AI fix plan generator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70248"/>
            <a:ext cx="146304" cy="1463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584" y="421538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2 paying pilots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920240"/>
            <a:ext cx="3703320" cy="3337560"/>
          </a:xfrm>
          <a:prstGeom prst="rect">
            <a:avLst/>
          </a:prstGeom>
          <a:solidFill>
            <a:srgbClr val="161616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920240"/>
            <a:ext cx="37033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61–90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487168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24323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Alerts + evidence templates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081528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30266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Refine pricing tiers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675888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362102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Partner with 2 MSPs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270248"/>
            <a:ext cx="146304" cy="1463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58784" y="421538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</a:rPr>
              <a:t>Public beta launch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5486400"/>
            <a:ext cx="8897112" cy="1261872"/>
          </a:xfrm>
          <a:prstGeom prst="rect">
            <a:avLst/>
          </a:prstGeom>
          <a:solidFill>
            <a:srgbClr val="062A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5920" y="5486400"/>
            <a:ext cx="8897112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55778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Start FREE — 2-Week Trial, No Credit Card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080760"/>
            <a:ext cx="8531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</a:rPr>
              <a:t>app.vigilicloud.com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6492240"/>
            <a:ext cx="8531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5252"/>
                </a:solidFill>
              </a:rPr>
              <a:t>leelakrishna1739@gmail.com  |  Setup in 5 minutes  |  Cancel anytime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25252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